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80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599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" name="Shape 1"/>
          <p:cNvSpPr/>
          <p:nvPr/>
        </p:nvSpPr>
        <p:spPr>
          <a:xfrm>
            <a:off x="8572500" y="3238805"/>
            <a:ext cx="3619195" cy="3619195"/>
          </a:xfrm>
          <a:prstGeom prst="roundRect">
            <a:avLst>
              <a:gd name="adj" fmla="val 12633"/>
            </a:avLst>
          </a:prstGeom>
          <a:solidFill>
            <a:srgbClr val="FFFFFF">
              <a:alpha val="5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629900" y="1143000"/>
            <a:ext cx="800100" cy="914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l="-469" r="-469"/>
          <a:stretch/>
        </p:blipFill>
        <p:spPr>
          <a:xfrm>
            <a:off x="9972446" y="2286000"/>
            <a:ext cx="504749" cy="571500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 l="-743" r="-743"/>
          <a:stretch/>
        </p:blipFill>
        <p:spPr>
          <a:xfrm>
            <a:off x="10934395" y="3238805"/>
            <a:ext cx="304495" cy="3429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 t="-530" b="-530"/>
          <a:stretch/>
        </p:blipFill>
        <p:spPr>
          <a:xfrm>
            <a:off x="9658807" y="2857500"/>
            <a:ext cx="247802" cy="286207"/>
          </a:xfrm>
          <a:prstGeom prst="rect">
            <a:avLst/>
          </a:prstGeom>
        </p:spPr>
      </p:pic>
      <p:sp>
        <p:nvSpPr>
          <p:cNvPr id="9" name="Text 3"/>
          <p:cNvSpPr txBox="1"/>
          <p:nvPr/>
        </p:nvSpPr>
        <p:spPr>
          <a:xfrm>
            <a:off x="609905" y="1266444"/>
            <a:ext cx="3810305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</a:t>
            </a:r>
            <a:endParaRPr lang="en-US" sz="3600" dirty="0"/>
          </a:p>
        </p:txBody>
      </p:sp>
      <p:sp>
        <p:nvSpPr>
          <p:cNvPr id="10" name="Text 4"/>
          <p:cNvSpPr txBox="1"/>
          <p:nvPr/>
        </p:nvSpPr>
        <p:spPr>
          <a:xfrm>
            <a:off x="609905" y="1837944"/>
            <a:ext cx="516270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Relational Databases</a:t>
            </a:r>
            <a:endParaRPr lang="en-US" sz="3600" dirty="0"/>
          </a:p>
        </p:txBody>
      </p:sp>
      <p:sp>
        <p:nvSpPr>
          <p:cNvPr id="11" name="Text 5"/>
          <p:cNvSpPr txBox="1"/>
          <p:nvPr/>
        </p:nvSpPr>
        <p:spPr>
          <a:xfrm>
            <a:off x="609905" y="2409444"/>
            <a:ext cx="31912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Snowflake</a:t>
            </a:r>
            <a:endParaRPr lang="en-US" sz="3600" dirty="0"/>
          </a:p>
        </p:txBody>
      </p:sp>
      <p:sp>
        <p:nvSpPr>
          <p:cNvPr id="12" name="Text 6"/>
          <p:cNvSpPr txBox="1"/>
          <p:nvPr/>
        </p:nvSpPr>
        <p:spPr>
          <a:xfrm>
            <a:off x="609905" y="3600907"/>
            <a:ext cx="14767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will learn:</a:t>
            </a:r>
            <a:endParaRPr lang="en-US" sz="15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43" b="-43"/>
          <a:stretch/>
        </p:blipFill>
        <p:spPr>
          <a:xfrm>
            <a:off x="685800" y="4067251"/>
            <a:ext cx="133502" cy="15270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914400" y="4058107"/>
            <a:ext cx="4153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relational databases are and why ACID matters</a:t>
            </a:r>
            <a:endParaRPr lang="en-US" sz="12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8"/>
          <a:srcRect t="-180" b="-180"/>
          <a:stretch/>
        </p:blipFill>
        <p:spPr>
          <a:xfrm>
            <a:off x="685800" y="4410151"/>
            <a:ext cx="190195" cy="15270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972007" y="4401007"/>
            <a:ext cx="4553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Snowflake's cloud-native architecture and how to access it</a:t>
            </a:r>
            <a:endParaRPr lang="en-US" sz="12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rcRect t="-180" b="-180"/>
          <a:stretch/>
        </p:blipFill>
        <p:spPr>
          <a:xfrm>
            <a:off x="685800" y="4753051"/>
            <a:ext cx="190195" cy="152705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972007" y="4743907"/>
            <a:ext cx="37536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essentials: SELECT and WHERE statements</a:t>
            </a:r>
            <a:endParaRPr lang="en-US" sz="12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10"/>
          <a:srcRect t="-180" b="-180"/>
          <a:stretch/>
        </p:blipFill>
        <p:spPr>
          <a:xfrm>
            <a:off x="685800" y="5095951"/>
            <a:ext cx="190195" cy="152705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972007" y="5086807"/>
            <a:ext cx="3581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Hands-on practice extracting simple datasets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609905" y="6067044"/>
            <a:ext cx="21479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FDBF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2025 | Data Training Workshop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50438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Are Relational Databases?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5034686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Definition: Organize data into tables (rows, columns) with relationships via keys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819656"/>
            <a:ext cx="13578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concepts: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8795" y="2190902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152498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Tables, rows, columns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371954"/>
            <a:ext cx="5082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stored in tables (entities) with rows (records) and columns (attributes)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8795" y="2781605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2743200"/>
            <a:ext cx="2438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keys and foreign keys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2962656"/>
            <a:ext cx="50346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Primary keys uniquely identify records; foreign keys establish relationships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l="-33" r="-33"/>
          <a:stretch/>
        </p:blipFill>
        <p:spPr>
          <a:xfrm>
            <a:off x="418795" y="3372307"/>
            <a:ext cx="171907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5002" y="3333902"/>
            <a:ext cx="11622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Relationships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705002" y="3552444"/>
            <a:ext cx="47960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One-to-many, many-to-many, one-to-one connections between tables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l="-33" r="-33"/>
          <a:stretch/>
        </p:blipFill>
        <p:spPr>
          <a:xfrm>
            <a:off x="418795" y="3962095"/>
            <a:ext cx="171907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05002" y="3924605"/>
            <a:ext cx="1219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705002" y="4143146"/>
            <a:ext cx="33960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Reduces data redundancy and improves integrity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381305" y="4581144"/>
            <a:ext cx="13962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ACID benefits: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81305" y="4895698"/>
            <a:ext cx="26673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495605" y="5029200"/>
            <a:ext cx="8769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Atomicity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495605" y="5238598"/>
            <a:ext cx="16294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All-or-nothing transactions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3124505" y="4895698"/>
            <a:ext cx="26673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3238805" y="5029200"/>
            <a:ext cx="1067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Consistency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3238805" y="5238598"/>
            <a:ext cx="14767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integrity preserved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381305" y="5658307"/>
            <a:ext cx="26673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27" name="Text 21"/>
          <p:cNvSpPr txBox="1"/>
          <p:nvPr/>
        </p:nvSpPr>
        <p:spPr>
          <a:xfrm>
            <a:off x="495605" y="5790895"/>
            <a:ext cx="790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Isolation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495605" y="6001207"/>
            <a:ext cx="231526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Concurrent transactions don't interfere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3124505" y="5658307"/>
            <a:ext cx="26673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3238805" y="5790895"/>
            <a:ext cx="8860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Durability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3238805" y="6001207"/>
            <a:ext cx="167701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Committed changes persist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-32" b="-32"/>
          <a:stretch/>
        </p:blipFill>
        <p:spPr>
          <a:xfrm>
            <a:off x="6096305" y="1028700"/>
            <a:ext cx="5162702" cy="43049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53198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41394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 to Snowflake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5491886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Snowflake? A cloud-native data platform that provides a fully managed service for data storage, processing, and analytics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2085746"/>
            <a:ext cx="12719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features: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180" b="-180"/>
          <a:stretch/>
        </p:blipFill>
        <p:spPr>
          <a:xfrm>
            <a:off x="418795" y="2457907"/>
            <a:ext cx="19019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24205" y="2419502"/>
            <a:ext cx="16578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Multi-cloud support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4205" y="2638044"/>
            <a:ext cx="42629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Available on AWS, Microsoft Azure, and Google Cloud Platform</a:t>
            </a:r>
            <a:endParaRPr lang="en-US" sz="10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8795" y="3047695"/>
            <a:ext cx="152705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85800" y="3010205"/>
            <a:ext cx="2124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Elastic virtual warehouses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85800" y="3228746"/>
            <a:ext cx="46442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Pay-as-you-go compute resources that scale up/down automatically</a:t>
            </a:r>
            <a:endParaRPr lang="en-US" sz="10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 t="-43" b="-43"/>
          <a:stretch/>
        </p:blipFill>
        <p:spPr>
          <a:xfrm>
            <a:off x="418795" y="3638398"/>
            <a:ext cx="133502" cy="152705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66598" y="3600907"/>
            <a:ext cx="2848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Separation of storage and compute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666598" y="3819449"/>
            <a:ext cx="3910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 scaling allows for better resource utilization</a:t>
            </a:r>
            <a:endParaRPr lang="en-US" sz="10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 t="-100" b="-100"/>
          <a:stretch/>
        </p:blipFill>
        <p:spPr>
          <a:xfrm>
            <a:off x="418795" y="4229100"/>
            <a:ext cx="114300" cy="15270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47395" y="4190695"/>
            <a:ext cx="15243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type support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647395" y="4410151"/>
            <a:ext cx="41870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Structured, semi-structured, and unstructured data handling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381305" y="4848149"/>
            <a:ext cx="9098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Benefits: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81305" y="5162702"/>
            <a:ext cx="54105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21" name="Shape 15"/>
          <p:cNvSpPr/>
          <p:nvPr/>
        </p:nvSpPr>
        <p:spPr>
          <a:xfrm>
            <a:off x="381305" y="5162702"/>
            <a:ext cx="38405" cy="6099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533095" y="5296205"/>
            <a:ext cx="23628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infrastructure to manage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33095" y="5505602"/>
            <a:ext cx="2991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data analytics, not hardware provisioning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81305" y="5924398"/>
            <a:ext cx="54105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25" name="Shape 19"/>
          <p:cNvSpPr/>
          <p:nvPr/>
        </p:nvSpPr>
        <p:spPr>
          <a:xfrm>
            <a:off x="381305" y="5924398"/>
            <a:ext cx="38405" cy="6099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33095" y="6057900"/>
            <a:ext cx="10579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to start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533095" y="6267298"/>
            <a:ext cx="31821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an account and start analyzing data in minutes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381305" y="6687007"/>
            <a:ext cx="5410505" cy="609905"/>
          </a:xfrm>
          <a:prstGeom prst="roundRect">
            <a:avLst>
              <a:gd name="adj" fmla="val 18741"/>
            </a:avLst>
          </a:prstGeom>
          <a:solidFill>
            <a:srgbClr val="EBF4FF"/>
          </a:solidFill>
          <a:ln/>
        </p:spPr>
      </p:sp>
      <p:sp>
        <p:nvSpPr>
          <p:cNvPr id="29" name="Shape 23"/>
          <p:cNvSpPr/>
          <p:nvPr/>
        </p:nvSpPr>
        <p:spPr>
          <a:xfrm>
            <a:off x="381305" y="6687007"/>
            <a:ext cx="38405" cy="60990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533095" y="6819595"/>
            <a:ext cx="2086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Predictable performance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533095" y="7029907"/>
            <a:ext cx="385785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Isolated compute resources ensure consistent query performance</a:t>
            </a:r>
            <a:endParaRPr lang="en-US" sz="900" dirty="0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rcRect t="48" b="49"/>
          <a:stretch/>
        </p:blipFill>
        <p:spPr>
          <a:xfrm>
            <a:off x="7962595" y="1028700"/>
            <a:ext cx="1981505" cy="46634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096305" y="1781251"/>
            <a:ext cx="5715000" cy="2667305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7927848" y="2000707"/>
            <a:ext cx="21717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Cloud-Native Architecture</a:t>
            </a:r>
            <a:endParaRPr lang="en-US" sz="1200" dirty="0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 l="-27" r="-27"/>
          <a:stretch/>
        </p:blipFill>
        <p:spPr>
          <a:xfrm>
            <a:off x="8738921" y="2361895"/>
            <a:ext cx="428854" cy="342900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6827825" y="2943454"/>
            <a:ext cx="4257446" cy="418795"/>
          </a:xfrm>
          <a:prstGeom prst="roundRect">
            <a:avLst>
              <a:gd name="adj" fmla="val 29774"/>
            </a:avLst>
          </a:prstGeom>
          <a:solidFill>
            <a:srgbClr val="EBF4FF"/>
          </a:solidFill>
          <a:ln/>
        </p:spPr>
      </p:sp>
      <p:sp>
        <p:nvSpPr>
          <p:cNvPr id="37" name="Text 29"/>
          <p:cNvSpPr txBox="1"/>
          <p:nvPr/>
        </p:nvSpPr>
        <p:spPr>
          <a:xfrm>
            <a:off x="7699248" y="3057754"/>
            <a:ext cx="2628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Travel &amp; Zero-Copy Cloning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827825" y="3457346"/>
            <a:ext cx="4257446" cy="418795"/>
          </a:xfrm>
          <a:prstGeom prst="roundRect">
            <a:avLst>
              <a:gd name="adj" fmla="val 29774"/>
            </a:avLst>
          </a:prstGeom>
          <a:solidFill>
            <a:srgbClr val="EBF4FF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8161020" y="3571646"/>
            <a:ext cx="1705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Secure Data Sharing</a:t>
            </a:r>
            <a:endParaRPr lang="en-US" sz="1200" dirty="0"/>
          </a:p>
        </p:txBody>
      </p:sp>
      <p:sp>
        <p:nvSpPr>
          <p:cNvPr id="40" name="Shape 32"/>
          <p:cNvSpPr/>
          <p:nvPr/>
        </p:nvSpPr>
        <p:spPr>
          <a:xfrm>
            <a:off x="6827825" y="3972154"/>
            <a:ext cx="4257446" cy="418795"/>
          </a:xfrm>
          <a:prstGeom prst="roundRect">
            <a:avLst>
              <a:gd name="adj" fmla="val 29774"/>
            </a:avLst>
          </a:prstGeom>
          <a:solidFill>
            <a:srgbClr val="EBF4FF"/>
          </a:solidFill>
          <a:ln/>
        </p:spPr>
      </p:sp>
      <p:sp>
        <p:nvSpPr>
          <p:cNvPr id="41" name="Text 33"/>
          <p:cNvSpPr txBox="1"/>
          <p:nvPr/>
        </p:nvSpPr>
        <p:spPr>
          <a:xfrm>
            <a:off x="7450531" y="4086454"/>
            <a:ext cx="31245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Micro-partitioning &amp; Columnar Storage</a:t>
            </a:r>
            <a:endParaRPr lang="en-US" sz="1200" dirty="0"/>
          </a:p>
        </p:txBody>
      </p:sp>
      <p:sp>
        <p:nvSpPr>
          <p:cNvPr id="42" name="Shape 34"/>
          <p:cNvSpPr/>
          <p:nvPr/>
        </p:nvSpPr>
        <p:spPr>
          <a:xfrm>
            <a:off x="6827825" y="4486046"/>
            <a:ext cx="4257446" cy="418795"/>
          </a:xfrm>
          <a:prstGeom prst="roundRect">
            <a:avLst>
              <a:gd name="adj" fmla="val 29774"/>
            </a:avLst>
          </a:prstGeom>
          <a:solidFill>
            <a:srgbClr val="EBF4FF"/>
          </a:solidFill>
          <a:ln/>
        </p:spPr>
      </p:sp>
      <p:sp>
        <p:nvSpPr>
          <p:cNvPr id="43" name="Text 35"/>
          <p:cNvSpPr txBox="1"/>
          <p:nvPr/>
        </p:nvSpPr>
        <p:spPr>
          <a:xfrm>
            <a:off x="7759598" y="4600346"/>
            <a:ext cx="25054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 Query Optimization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048195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52532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Architecture Overview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4853635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layers: Snowflake's unique architecture separates functionality for performance and scalability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5" y="1790395"/>
            <a:ext cx="5410505" cy="1067105"/>
          </a:xfrm>
          <a:prstGeom prst="roundRect">
            <a:avLst>
              <a:gd name="adj" fmla="val 6121"/>
            </a:avLst>
          </a:prstGeom>
          <a:solidFill>
            <a:srgbClr val="EB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95605" y="1923898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Storage Layer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533095" y="2266798"/>
            <a:ext cx="133502" cy="15270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80898" y="2219249"/>
            <a:ext cx="30815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Columnar data organized in micro-partitions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80898" y="2400300"/>
            <a:ext cx="4867351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Compressed data stored in cloud object storage with metadata for efficient pruning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81305" y="2971800"/>
            <a:ext cx="5410505" cy="1218895"/>
          </a:xfrm>
          <a:prstGeom prst="roundRect">
            <a:avLst>
              <a:gd name="adj" fmla="val 4689"/>
            </a:avLst>
          </a:prstGeom>
          <a:solidFill>
            <a:srgbClr val="EBF4F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95605" y="3105302"/>
            <a:ext cx="3010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Layer (Virtual Warehouses)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33095" y="3448202"/>
            <a:ext cx="152705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800100" y="3400654"/>
            <a:ext cx="26051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MPP clusters for SQL query execution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800100" y="3581705"/>
            <a:ext cx="4763110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Independently scalable, isolated compute resources that can be suspended when not in use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81305" y="4304995"/>
            <a:ext cx="5410505" cy="1067105"/>
          </a:xfrm>
          <a:prstGeom prst="roundRect">
            <a:avLst>
              <a:gd name="adj" fmla="val 6121"/>
            </a:avLst>
          </a:prstGeom>
          <a:solidFill>
            <a:srgbClr val="EBF4FF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495605" y="4438498"/>
            <a:ext cx="17437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Services Layer</a:t>
            </a:r>
            <a:endParaRPr lang="en-US" sz="12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533095" y="4781398"/>
            <a:ext cx="190195" cy="15270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8505" y="4733849"/>
            <a:ext cx="33101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authentication, metadata, coordination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838505" y="4914900"/>
            <a:ext cx="48490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Manages query parsing, optimization, governance, and security across the platform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381305" y="5553151"/>
            <a:ext cx="24057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Hybrid design advantage: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18795" y="5924398"/>
            <a:ext cx="152705" cy="152705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85800" y="5886907"/>
            <a:ext cx="3410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Shared-disk + shared-nothing architecture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685800" y="6105449"/>
            <a:ext cx="4967935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data management simplicity of shared-disk with performance and scale-out benefits of shared-nothing approach</a:t>
            </a:r>
            <a:endParaRPr lang="en-US" sz="1000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rcRect t="-12" b="-12"/>
          <a:stretch/>
        </p:blipFill>
        <p:spPr>
          <a:xfrm>
            <a:off x="6096305" y="1028700"/>
            <a:ext cx="5162702" cy="47813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422452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Setup in Snowflake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20436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Getting started steps: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5" y="141000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1429207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429207"/>
            <a:ext cx="12957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account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1695" y="1647749"/>
            <a:ext cx="3615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Choose cloud provider (AWS, Azure, GCP) and region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1695" y="1837944"/>
            <a:ext cx="43772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Snowflake edition (Standard, Enterprise, Business Critical)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1305" y="213329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9087" y="21524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1695" y="2152498"/>
            <a:ext cx="33814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 in via Snowsight (web UI) or CLI/driver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1695" y="2371954"/>
            <a:ext cx="305318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Access using account URL: https://[account].[region].snowflakecomputing.com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1305" y="2857500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9087" y="2876702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61695" y="2876702"/>
            <a:ext cx="41916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roles/users; set default warehouse/db/schema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761695" y="3095244"/>
            <a:ext cx="35295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organizational structure and access controls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81305" y="339059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1772" y="3409798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761695" y="3409798"/>
            <a:ext cx="30678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compute and database objects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61695" y="3629254"/>
            <a:ext cx="35387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 warehouses, databases, schemas, and tables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81305" y="4028846"/>
            <a:ext cx="19101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Connection options: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81305" y="4381805"/>
            <a:ext cx="2704795" cy="428854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rcRect t="-841" b="-841"/>
          <a:stretch/>
        </p:blipFill>
        <p:spPr>
          <a:xfrm>
            <a:off x="485546" y="4497934"/>
            <a:ext cx="190195" cy="171907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790956" y="4500677"/>
            <a:ext cx="1629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Snowsight (Web UI)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161995" y="4381805"/>
            <a:ext cx="2704795" cy="428854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 t="-841" b="-841"/>
          <a:stretch/>
        </p:blipFill>
        <p:spPr>
          <a:xfrm>
            <a:off x="3267151" y="4497934"/>
            <a:ext cx="190195" cy="17190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3571646" y="4500677"/>
            <a:ext cx="1191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Snowflake CLI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381305" y="4962449"/>
            <a:ext cx="2704795" cy="428854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l="-1773" r="-1773"/>
          <a:stretch/>
        </p:blipFill>
        <p:spPr>
          <a:xfrm>
            <a:off x="514807" y="5079492"/>
            <a:ext cx="133502" cy="17190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90956" y="5081321"/>
            <a:ext cx="16486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JDBC/ODBC Drivers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3161995" y="4962449"/>
            <a:ext cx="2704795" cy="428854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064" r="-1064"/>
          <a:stretch/>
        </p:blipFill>
        <p:spPr>
          <a:xfrm>
            <a:off x="3252521" y="5079492"/>
            <a:ext cx="219456" cy="1719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3571646" y="5081321"/>
            <a:ext cx="1495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Python/REST APIs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6324905" y="1057046"/>
            <a:ext cx="18909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commands:</a:t>
            </a:r>
            <a:endParaRPr lang="en-US" sz="1300" dirty="0"/>
          </a:p>
        </p:txBody>
      </p:sp>
      <p:sp>
        <p:nvSpPr>
          <p:cNvPr id="37" name="Text 31"/>
          <p:cNvSpPr txBox="1"/>
          <p:nvPr/>
        </p:nvSpPr>
        <p:spPr>
          <a:xfrm>
            <a:off x="6324905" y="1419149"/>
            <a:ext cx="19385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virtual warehouse: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6324905" y="1638605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2D3748"/>
          </a:solidFill>
          <a:ln/>
        </p:spPr>
      </p:sp>
      <p:sp>
        <p:nvSpPr>
          <p:cNvPr id="39" name="Text 33"/>
          <p:cNvSpPr txBox="1"/>
          <p:nvPr/>
        </p:nvSpPr>
        <p:spPr>
          <a:xfrm>
            <a:off x="6476695" y="1752905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WAREHOUSE wh_demo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6476695" y="1943100"/>
            <a:ext cx="4242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6476695" y="2133295"/>
            <a:ext cx="21104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WAREHOUSE_SIZE = 'XSMALL'</a:t>
            </a:r>
            <a:endParaRPr lang="en-US" sz="1000" dirty="0"/>
          </a:p>
        </p:txBody>
      </p:sp>
      <p:sp>
        <p:nvSpPr>
          <p:cNvPr id="42" name="Text 36"/>
          <p:cNvSpPr txBox="1"/>
          <p:nvPr/>
        </p:nvSpPr>
        <p:spPr>
          <a:xfrm>
            <a:off x="6476695" y="2324405"/>
            <a:ext cx="14621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AUTO_SUSPEND = 60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6476695" y="2514600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AUTO_RESUME = TRUE;</a:t>
            </a:r>
            <a:endParaRPr lang="en-US" sz="1000" dirty="0"/>
          </a:p>
        </p:txBody>
      </p:sp>
      <p:sp>
        <p:nvSpPr>
          <p:cNvPr id="44" name="Text 38"/>
          <p:cNvSpPr txBox="1"/>
          <p:nvPr/>
        </p:nvSpPr>
        <p:spPr>
          <a:xfrm>
            <a:off x="6476695" y="2704795"/>
            <a:ext cx="45866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Automatically suspends after 60 seconds of inactivity</a:t>
            </a:r>
            <a:endParaRPr lang="en-US" sz="1000" dirty="0"/>
          </a:p>
        </p:txBody>
      </p:sp>
      <p:sp>
        <p:nvSpPr>
          <p:cNvPr id="45" name="Text 39"/>
          <p:cNvSpPr txBox="1"/>
          <p:nvPr/>
        </p:nvSpPr>
        <p:spPr>
          <a:xfrm>
            <a:off x="6324905" y="3172054"/>
            <a:ext cx="2214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a database and schema: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324905" y="3390595"/>
            <a:ext cx="5486400" cy="609905"/>
          </a:xfrm>
          <a:prstGeom prst="roundRect">
            <a:avLst>
              <a:gd name="adj" fmla="val 18741"/>
            </a:avLst>
          </a:prstGeom>
          <a:solidFill>
            <a:srgbClr val="2D3748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6476695" y="3504895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demo_db;</a:t>
            </a:r>
            <a:endParaRPr lang="en-US" sz="1000" dirty="0"/>
          </a:p>
        </p:txBody>
      </p:sp>
      <p:sp>
        <p:nvSpPr>
          <p:cNvPr id="48" name="Text 42"/>
          <p:cNvSpPr txBox="1"/>
          <p:nvPr/>
        </p:nvSpPr>
        <p:spPr>
          <a:xfrm>
            <a:off x="6476695" y="3696005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SCHEMA demo_db.raw;</a:t>
            </a:r>
            <a:endParaRPr lang="en-US" sz="1000" dirty="0"/>
          </a:p>
        </p:txBody>
      </p:sp>
      <p:sp>
        <p:nvSpPr>
          <p:cNvPr id="49" name="Text 43"/>
          <p:cNvSpPr txBox="1"/>
          <p:nvPr/>
        </p:nvSpPr>
        <p:spPr>
          <a:xfrm>
            <a:off x="6324905" y="4162349"/>
            <a:ext cx="16815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Grant access privileges: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324905" y="4381805"/>
            <a:ext cx="5486400" cy="800100"/>
          </a:xfrm>
          <a:prstGeom prst="roundRect">
            <a:avLst>
              <a:gd name="adj" fmla="val 10884"/>
            </a:avLst>
          </a:prstGeom>
          <a:solidFill>
            <a:srgbClr val="2D3748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6476695" y="4496105"/>
            <a:ext cx="2662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GRANT USAGE ON WAREHOUSE wh_demo</a:t>
            </a:r>
            <a:endParaRPr lang="en-US" sz="1000" dirty="0"/>
          </a:p>
        </p:txBody>
      </p:sp>
      <p:sp>
        <p:nvSpPr>
          <p:cNvPr id="52" name="Text 46"/>
          <p:cNvSpPr txBox="1"/>
          <p:nvPr/>
        </p:nvSpPr>
        <p:spPr>
          <a:xfrm>
            <a:off x="6476695" y="4686300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ROLE ANALYST;</a:t>
            </a:r>
            <a:endParaRPr lang="en-US" sz="1000" dirty="0"/>
          </a:p>
        </p:txBody>
      </p:sp>
      <p:sp>
        <p:nvSpPr>
          <p:cNvPr id="53" name="Text 47"/>
          <p:cNvSpPr txBox="1"/>
          <p:nvPr/>
        </p:nvSpPr>
        <p:spPr>
          <a:xfrm>
            <a:off x="6476695" y="4876495"/>
            <a:ext cx="34628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Allow ANALYST role to use the warehouse</a:t>
            </a:r>
            <a:endParaRPr lang="en-US" sz="1000" dirty="0"/>
          </a:p>
        </p:txBody>
      </p:sp>
      <p:sp>
        <p:nvSpPr>
          <p:cNvPr id="54" name="Text 48"/>
          <p:cNvSpPr txBox="1"/>
          <p:nvPr/>
        </p:nvSpPr>
        <p:spPr>
          <a:xfrm>
            <a:off x="6324905" y="5343754"/>
            <a:ext cx="1996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context for your session: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324905" y="5562295"/>
            <a:ext cx="5486400" cy="800100"/>
          </a:xfrm>
          <a:prstGeom prst="roundRect">
            <a:avLst>
              <a:gd name="adj" fmla="val 10884"/>
            </a:avLst>
          </a:prstGeom>
          <a:solidFill>
            <a:srgbClr val="2D3748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6476695" y="5676595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WAREHOUSE wh_demo;</a:t>
            </a:r>
            <a:endParaRPr lang="en-US" sz="1000" dirty="0"/>
          </a:p>
        </p:txBody>
      </p:sp>
      <p:sp>
        <p:nvSpPr>
          <p:cNvPr id="57" name="Text 51"/>
          <p:cNvSpPr txBox="1"/>
          <p:nvPr/>
        </p:nvSpPr>
        <p:spPr>
          <a:xfrm>
            <a:off x="6476695" y="5867705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DATABASE demo_db;</a:t>
            </a:r>
            <a:endParaRPr lang="en-US" sz="1000" dirty="0"/>
          </a:p>
        </p:txBody>
      </p:sp>
      <p:sp>
        <p:nvSpPr>
          <p:cNvPr id="58" name="Text 52"/>
          <p:cNvSpPr txBox="1"/>
          <p:nvPr/>
        </p:nvSpPr>
        <p:spPr>
          <a:xfrm>
            <a:off x="6476695" y="6057900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SCHEMA raw;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258507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676838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Essentials: How Queries Are Structured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12627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SQL?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 t="-43" b="-43"/>
          <a:stretch/>
        </p:blipFill>
        <p:spPr>
          <a:xfrm>
            <a:off x="381305" y="1505102"/>
            <a:ext cx="133502" cy="15270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9107" y="1466698"/>
            <a:ext cx="21625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Standard Query Language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9107" y="1686154"/>
            <a:ext cx="51297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Universal language for querying and manipulating relational database data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381305" y="2095805"/>
            <a:ext cx="190195" cy="152705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85800" y="2057400"/>
            <a:ext cx="18105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Declarative Language</a:t>
            </a:r>
            <a:endParaRPr lang="en-US" sz="1200" dirty="0"/>
          </a:p>
        </p:txBody>
      </p:sp>
      <p:sp>
        <p:nvSpPr>
          <p:cNvPr id="11" name="Text 7"/>
          <p:cNvSpPr txBox="1"/>
          <p:nvPr/>
        </p:nvSpPr>
        <p:spPr>
          <a:xfrm>
            <a:off x="685800" y="2276856"/>
            <a:ext cx="32250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Describe what data you want, not how to get it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2686507"/>
            <a:ext cx="152705" cy="15270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47395" y="2648102"/>
            <a:ext cx="12481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ANSI Standard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647395" y="2866644"/>
            <a:ext cx="41486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databases support SQL with vendor-specific extensions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381305" y="3305556"/>
            <a:ext cx="221467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Tips for writing queries: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381305" y="3657600"/>
            <a:ext cx="5410505" cy="647395"/>
          </a:xfrm>
          <a:prstGeom prst="roundRect">
            <a:avLst>
              <a:gd name="adj" fmla="val 16617"/>
            </a:avLst>
          </a:prstGeom>
          <a:solidFill>
            <a:srgbClr val="F0FFF4"/>
          </a:solidFill>
          <a:ln/>
        </p:spPr>
      </p:sp>
      <p:sp>
        <p:nvSpPr>
          <p:cNvPr id="17" name="Shape 12"/>
          <p:cNvSpPr/>
          <p:nvPr/>
        </p:nvSpPr>
        <p:spPr>
          <a:xfrm>
            <a:off x="381305" y="3657600"/>
            <a:ext cx="38405" cy="647395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3095" y="3800246"/>
            <a:ext cx="133502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3407" y="3791102"/>
            <a:ext cx="13816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clear aliases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533095" y="4009644"/>
            <a:ext cx="3272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SELECT amount AS total_usd for readability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81305" y="4401007"/>
            <a:ext cx="5410505" cy="647395"/>
          </a:xfrm>
          <a:prstGeom prst="roundRect">
            <a:avLst>
              <a:gd name="adj" fmla="val 16617"/>
            </a:avLst>
          </a:prstGeom>
          <a:solidFill>
            <a:srgbClr val="F0FFF4"/>
          </a:solidFill>
          <a:ln/>
        </p:spPr>
      </p:sp>
      <p:sp>
        <p:nvSpPr>
          <p:cNvPr id="22" name="Shape 16"/>
          <p:cNvSpPr/>
          <p:nvPr/>
        </p:nvSpPr>
        <p:spPr>
          <a:xfrm>
            <a:off x="381305" y="4401007"/>
            <a:ext cx="38405" cy="647395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3095" y="4543654"/>
            <a:ext cx="133502" cy="152705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3407" y="4533595"/>
            <a:ext cx="16669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Qualify table names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33095" y="4753051"/>
            <a:ext cx="35487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database.schema.table in shared environments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381305" y="5143500"/>
            <a:ext cx="5410505" cy="647395"/>
          </a:xfrm>
          <a:prstGeom prst="roundRect">
            <a:avLst>
              <a:gd name="adj" fmla="val 16617"/>
            </a:avLst>
          </a:prstGeom>
          <a:solidFill>
            <a:srgbClr val="F0FFF4"/>
          </a:solidFill>
          <a:ln/>
        </p:spPr>
      </p:sp>
      <p:sp>
        <p:nvSpPr>
          <p:cNvPr id="27" name="Shape 20"/>
          <p:cNvSpPr/>
          <p:nvPr/>
        </p:nvSpPr>
        <p:spPr>
          <a:xfrm>
            <a:off x="381305" y="5143500"/>
            <a:ext cx="38405" cy="647395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3095" y="5286146"/>
            <a:ext cx="133502" cy="152705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43407" y="5277002"/>
            <a:ext cx="1877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String values in quotes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533095" y="5495544"/>
            <a:ext cx="22914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country = 'USA' not 'USA'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381305" y="5886907"/>
            <a:ext cx="5410505" cy="647395"/>
          </a:xfrm>
          <a:prstGeom prst="roundRect">
            <a:avLst>
              <a:gd name="adj" fmla="val 16617"/>
            </a:avLst>
          </a:prstGeom>
          <a:solidFill>
            <a:srgbClr val="F0FFF4"/>
          </a:solidFill>
          <a:ln/>
        </p:spPr>
      </p:sp>
      <p:sp>
        <p:nvSpPr>
          <p:cNvPr id="32" name="Shape 24"/>
          <p:cNvSpPr/>
          <p:nvPr/>
        </p:nvSpPr>
        <p:spPr>
          <a:xfrm>
            <a:off x="381305" y="5886907"/>
            <a:ext cx="38405" cy="647395"/>
          </a:xfrm>
          <a:prstGeom prst="rect">
            <a:avLst/>
          </a:prstGeom>
          <a:solidFill>
            <a:srgbClr val="38A169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6"/>
          <a:srcRect t="-43" b="-43"/>
          <a:stretch/>
        </p:blipFill>
        <p:spPr>
          <a:xfrm>
            <a:off x="533095" y="6029554"/>
            <a:ext cx="133502" cy="15270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43407" y="6019495"/>
            <a:ext cx="11247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065F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NULL checks</a:t>
            </a:r>
            <a:endParaRPr lang="en-US" sz="1200" dirty="0"/>
          </a:p>
        </p:txBody>
      </p:sp>
      <p:sp>
        <p:nvSpPr>
          <p:cNvPr id="35" name="Text 26"/>
          <p:cNvSpPr txBox="1"/>
          <p:nvPr/>
        </p:nvSpPr>
        <p:spPr>
          <a:xfrm>
            <a:off x="533095" y="6238951"/>
            <a:ext cx="27962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IS NULL or IS NOT NULL, not = NULL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6096305" y="1028700"/>
            <a:ext cx="5715000" cy="5848502"/>
          </a:xfrm>
          <a:prstGeom prst="roundRect">
            <a:avLst>
              <a:gd name="adj" fmla="val 213"/>
            </a:avLst>
          </a:prstGeom>
          <a:solidFill>
            <a:srgbClr val="FFFFFF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37" name="Text 28"/>
          <p:cNvSpPr txBox="1"/>
          <p:nvPr/>
        </p:nvSpPr>
        <p:spPr>
          <a:xfrm>
            <a:off x="6324905" y="1285646"/>
            <a:ext cx="19101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query pattern:</a:t>
            </a:r>
            <a:endParaRPr lang="en-US" sz="1300" dirty="0"/>
          </a:p>
        </p:txBody>
      </p:sp>
      <p:sp>
        <p:nvSpPr>
          <p:cNvPr id="38" name="Shape 29"/>
          <p:cNvSpPr/>
          <p:nvPr/>
        </p:nvSpPr>
        <p:spPr>
          <a:xfrm>
            <a:off x="6324905" y="16760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39" name="Shape 30"/>
          <p:cNvSpPr/>
          <p:nvPr/>
        </p:nvSpPr>
        <p:spPr>
          <a:xfrm>
            <a:off x="6324905" y="16760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0" name="Text 31"/>
          <p:cNvSpPr txBox="1"/>
          <p:nvPr/>
        </p:nvSpPr>
        <p:spPr>
          <a:xfrm>
            <a:off x="6476695" y="1809598"/>
            <a:ext cx="22768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columns to retrieve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6324905" y="22475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42" name="Shape 33"/>
          <p:cNvSpPr/>
          <p:nvPr/>
        </p:nvSpPr>
        <p:spPr>
          <a:xfrm>
            <a:off x="6324905" y="22475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3" name="Text 34"/>
          <p:cNvSpPr txBox="1"/>
          <p:nvPr/>
        </p:nvSpPr>
        <p:spPr>
          <a:xfrm>
            <a:off x="6476695" y="2381098"/>
            <a:ext cx="1724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table name(s)</a:t>
            </a:r>
            <a:endParaRPr lang="en-US" sz="1200" dirty="0"/>
          </a:p>
        </p:txBody>
      </p:sp>
      <p:sp>
        <p:nvSpPr>
          <p:cNvPr id="44" name="Shape 35"/>
          <p:cNvSpPr/>
          <p:nvPr/>
        </p:nvSpPr>
        <p:spPr>
          <a:xfrm>
            <a:off x="6324905" y="28190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45" name="Shape 36"/>
          <p:cNvSpPr/>
          <p:nvPr/>
        </p:nvSpPr>
        <p:spPr>
          <a:xfrm>
            <a:off x="6324905" y="28190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6476695" y="2952598"/>
            <a:ext cx="20098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filter conditions</a:t>
            </a:r>
            <a:endParaRPr lang="en-US" sz="1200" dirty="0"/>
          </a:p>
        </p:txBody>
      </p:sp>
      <p:sp>
        <p:nvSpPr>
          <p:cNvPr id="47" name="Shape 38"/>
          <p:cNvSpPr/>
          <p:nvPr/>
        </p:nvSpPr>
        <p:spPr>
          <a:xfrm>
            <a:off x="6324905" y="33905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48" name="Shape 39"/>
          <p:cNvSpPr/>
          <p:nvPr/>
        </p:nvSpPr>
        <p:spPr>
          <a:xfrm>
            <a:off x="6324905" y="33905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9" name="Text 40"/>
          <p:cNvSpPr txBox="1"/>
          <p:nvPr/>
        </p:nvSpPr>
        <p:spPr>
          <a:xfrm>
            <a:off x="6476695" y="3524098"/>
            <a:ext cx="2772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GROUP BY aggregate by columns</a:t>
            </a:r>
            <a:endParaRPr lang="en-US" sz="1200" dirty="0"/>
          </a:p>
        </p:txBody>
      </p:sp>
      <p:sp>
        <p:nvSpPr>
          <p:cNvPr id="50" name="Shape 41"/>
          <p:cNvSpPr/>
          <p:nvPr/>
        </p:nvSpPr>
        <p:spPr>
          <a:xfrm>
            <a:off x="6324905" y="39620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51" name="Shape 42"/>
          <p:cNvSpPr/>
          <p:nvPr/>
        </p:nvSpPr>
        <p:spPr>
          <a:xfrm>
            <a:off x="6324905" y="39620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52" name="Text 43"/>
          <p:cNvSpPr txBox="1"/>
          <p:nvPr/>
        </p:nvSpPr>
        <p:spPr>
          <a:xfrm>
            <a:off x="6476695" y="4095598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HAVING filter on aggregates</a:t>
            </a:r>
            <a:endParaRPr lang="en-US" sz="1200" dirty="0"/>
          </a:p>
        </p:txBody>
      </p:sp>
      <p:sp>
        <p:nvSpPr>
          <p:cNvPr id="53" name="Shape 44"/>
          <p:cNvSpPr/>
          <p:nvPr/>
        </p:nvSpPr>
        <p:spPr>
          <a:xfrm>
            <a:off x="6324905" y="45335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54" name="Shape 45"/>
          <p:cNvSpPr/>
          <p:nvPr/>
        </p:nvSpPr>
        <p:spPr>
          <a:xfrm>
            <a:off x="6324905" y="45335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55" name="Text 46"/>
          <p:cNvSpPr txBox="1"/>
          <p:nvPr/>
        </p:nvSpPr>
        <p:spPr>
          <a:xfrm>
            <a:off x="6476695" y="4667098"/>
            <a:ext cx="18672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 BY sort results</a:t>
            </a:r>
            <a:endParaRPr lang="en-US" sz="1200" dirty="0"/>
          </a:p>
        </p:txBody>
      </p:sp>
      <p:sp>
        <p:nvSpPr>
          <p:cNvPr id="56" name="Shape 47"/>
          <p:cNvSpPr/>
          <p:nvPr/>
        </p:nvSpPr>
        <p:spPr>
          <a:xfrm>
            <a:off x="6324905" y="5105095"/>
            <a:ext cx="5257800" cy="457200"/>
          </a:xfrm>
          <a:prstGeom prst="roundRect">
            <a:avLst>
              <a:gd name="adj" fmla="val 33333"/>
            </a:avLst>
          </a:prstGeom>
          <a:solidFill>
            <a:srgbClr val="EBF4FF"/>
          </a:solidFill>
          <a:ln/>
        </p:spPr>
      </p:sp>
      <p:sp>
        <p:nvSpPr>
          <p:cNvPr id="57" name="Shape 48"/>
          <p:cNvSpPr/>
          <p:nvPr/>
        </p:nvSpPr>
        <p:spPr>
          <a:xfrm>
            <a:off x="6324905" y="5105095"/>
            <a:ext cx="38405" cy="457200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6476695" y="5238598"/>
            <a:ext cx="21433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 restrict result count</a:t>
            </a:r>
            <a:endParaRPr lang="en-US" sz="1200" dirty="0"/>
          </a:p>
        </p:txBody>
      </p:sp>
      <p:sp>
        <p:nvSpPr>
          <p:cNvPr id="59" name="Shape 50"/>
          <p:cNvSpPr/>
          <p:nvPr/>
        </p:nvSpPr>
        <p:spPr>
          <a:xfrm>
            <a:off x="6324905" y="5790895"/>
            <a:ext cx="5257800" cy="857707"/>
          </a:xfrm>
          <a:prstGeom prst="roundRect">
            <a:avLst>
              <a:gd name="adj" fmla="val 710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6486754" y="5979262"/>
            <a:ext cx="105156" cy="133502"/>
          </a:xfrm>
          <a:prstGeom prst="rect">
            <a:avLst/>
          </a:prstGeom>
        </p:spPr>
      </p:pic>
      <p:sp>
        <p:nvSpPr>
          <p:cNvPr id="61" name="Text 51"/>
          <p:cNvSpPr txBox="1"/>
          <p:nvPr/>
        </p:nvSpPr>
        <p:spPr>
          <a:xfrm>
            <a:off x="6667805" y="5962802"/>
            <a:ext cx="29580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Execution order differs from writing order:</a:t>
            </a:r>
            <a:endParaRPr lang="en-US" sz="1000" dirty="0"/>
          </a:p>
        </p:txBody>
      </p:sp>
      <p:sp>
        <p:nvSpPr>
          <p:cNvPr id="62" name="Text 52"/>
          <p:cNvSpPr txBox="1"/>
          <p:nvPr/>
        </p:nvSpPr>
        <p:spPr>
          <a:xfrm>
            <a:off x="6486754" y="6181344"/>
            <a:ext cx="4886554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FROM → 2. WHERE → 3. GROUP BY → 4. HAVING → 5. SELECT → 6. ORDER BY → 7. LIMIT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96405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367223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SELECT Statement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9098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5" y="141000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37998" y="1466698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61695" y="1429207"/>
            <a:ext cx="2820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Retrieve data from database tables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61695" y="1647749"/>
            <a:ext cx="32534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fundamental query for reading data in SQL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81305" y="1943100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37998" y="2000707"/>
            <a:ext cx="152705" cy="1527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" y="1962302"/>
            <a:ext cx="3057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specific columns or all columns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761695" y="2180844"/>
            <a:ext cx="401513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Allows targeted data retrieval, showing only what's needed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81305" y="247619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37998" y="2533802"/>
            <a:ext cx="152705" cy="152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1695" y="2495398"/>
            <a:ext cx="32772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rows with WHERE clause (optional)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761695" y="2714854"/>
            <a:ext cx="32625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only data that meets specific conditions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381305" y="3114446"/>
            <a:ext cx="142463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Best practices: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381305" y="3467405"/>
            <a:ext cx="5486400" cy="780898"/>
          </a:xfrm>
          <a:prstGeom prst="roundRect">
            <a:avLst>
              <a:gd name="adj" fmla="val 8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502920" y="3583534"/>
            <a:ext cx="152705" cy="17190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87298" y="3571646"/>
            <a:ext cx="30010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Prefer explicit columns over SELECT *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787298" y="3791102"/>
            <a:ext cx="4558284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Improves performance, readability and avoids issues when schema changes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81305" y="4401007"/>
            <a:ext cx="5486400" cy="780898"/>
          </a:xfrm>
          <a:prstGeom prst="roundRect">
            <a:avLst>
              <a:gd name="adj" fmla="val 8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504749" y="4517136"/>
            <a:ext cx="152705" cy="171907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90956" y="4505249"/>
            <a:ext cx="23436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LIMIT during exploration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790956" y="4724705"/>
            <a:ext cx="326257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Prevents accidentally returning millions of rows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790956" y="4914900"/>
            <a:ext cx="32726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SELECT * FROM huge_table LIMIT 100;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381305" y="5333695"/>
            <a:ext cx="5486400" cy="780898"/>
          </a:xfrm>
          <a:prstGeom prst="roundRect">
            <a:avLst>
              <a:gd name="adj" fmla="val 85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rcRect l="-760" r="-760"/>
          <a:stretch/>
        </p:blipFill>
        <p:spPr>
          <a:xfrm>
            <a:off x="504749" y="5450738"/>
            <a:ext cx="152705" cy="171907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90956" y="5438851"/>
            <a:ext cx="22960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Alias columns for readability</a:t>
            </a:r>
            <a:endParaRPr lang="en-US" sz="1200" dirty="0"/>
          </a:p>
        </p:txBody>
      </p:sp>
      <p:sp>
        <p:nvSpPr>
          <p:cNvPr id="31" name="Text 23"/>
          <p:cNvSpPr txBox="1"/>
          <p:nvPr/>
        </p:nvSpPr>
        <p:spPr>
          <a:xfrm>
            <a:off x="790956" y="5658307"/>
            <a:ext cx="3682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Makes query output clearer, especially for expressions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790956" y="5848502"/>
            <a:ext cx="25676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Example: SELECT amount * 0.1 AS tax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6324905" y="1057046"/>
            <a:ext cx="127193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syntax:</a:t>
            </a:r>
            <a:endParaRPr lang="en-US" sz="1300" dirty="0"/>
          </a:p>
        </p:txBody>
      </p:sp>
      <p:sp>
        <p:nvSpPr>
          <p:cNvPr id="34" name="Shape 26"/>
          <p:cNvSpPr/>
          <p:nvPr/>
        </p:nvSpPr>
        <p:spPr>
          <a:xfrm>
            <a:off x="6324905" y="1410005"/>
            <a:ext cx="5486400" cy="609905"/>
          </a:xfrm>
          <a:prstGeom prst="roundRect">
            <a:avLst>
              <a:gd name="adj" fmla="val 18741"/>
            </a:avLst>
          </a:prstGeom>
          <a:solidFill>
            <a:srgbClr val="2D3748"/>
          </a:solidFill>
          <a:ln/>
        </p:spPr>
      </p:sp>
      <p:sp>
        <p:nvSpPr>
          <p:cNvPr id="35" name="Text 27"/>
          <p:cNvSpPr txBox="1"/>
          <p:nvPr/>
        </p:nvSpPr>
        <p:spPr>
          <a:xfrm>
            <a:off x="6476695" y="1524305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column1, column2, ...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6476695" y="1714500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table_name;</a:t>
            </a:r>
            <a:endParaRPr lang="en-US" sz="1000" dirty="0"/>
          </a:p>
        </p:txBody>
      </p:sp>
      <p:sp>
        <p:nvSpPr>
          <p:cNvPr id="37" name="Text 29"/>
          <p:cNvSpPr txBox="1"/>
          <p:nvPr/>
        </p:nvSpPr>
        <p:spPr>
          <a:xfrm>
            <a:off x="6324905" y="2180844"/>
            <a:ext cx="24341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1: Select specific columns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6324905" y="2400300"/>
            <a:ext cx="5486400" cy="800100"/>
          </a:xfrm>
          <a:prstGeom prst="roundRect">
            <a:avLst>
              <a:gd name="adj" fmla="val 10884"/>
            </a:avLst>
          </a:prstGeom>
          <a:solidFill>
            <a:srgbClr val="2D3748"/>
          </a:solidFill>
          <a:ln/>
        </p:spPr>
      </p:sp>
      <p:sp>
        <p:nvSpPr>
          <p:cNvPr id="39" name="Text 31"/>
          <p:cNvSpPr txBox="1"/>
          <p:nvPr/>
        </p:nvSpPr>
        <p:spPr>
          <a:xfrm>
            <a:off x="6476695" y="2514600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</a:t>
            </a:r>
            <a:endParaRPr lang="en-US" sz="1000" dirty="0"/>
          </a:p>
        </p:txBody>
      </p:sp>
      <p:sp>
        <p:nvSpPr>
          <p:cNvPr id="40" name="Text 32"/>
          <p:cNvSpPr txBox="1"/>
          <p:nvPr/>
        </p:nvSpPr>
        <p:spPr>
          <a:xfrm>
            <a:off x="6476695" y="2704795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customers;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6476695" y="2895905"/>
            <a:ext cx="41870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only first and last names from customers</a:t>
            </a:r>
            <a:endParaRPr lang="en-US" sz="1000" dirty="0"/>
          </a:p>
        </p:txBody>
      </p:sp>
      <p:sp>
        <p:nvSpPr>
          <p:cNvPr id="42" name="Text 34"/>
          <p:cNvSpPr txBox="1"/>
          <p:nvPr/>
        </p:nvSpPr>
        <p:spPr>
          <a:xfrm>
            <a:off x="6324905" y="3362249"/>
            <a:ext cx="21003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2: Select all columns</a:t>
            </a:r>
            <a:endParaRPr lang="en-US" sz="1000" dirty="0"/>
          </a:p>
        </p:txBody>
      </p:sp>
      <p:sp>
        <p:nvSpPr>
          <p:cNvPr id="43" name="Shape 35"/>
          <p:cNvSpPr/>
          <p:nvPr/>
        </p:nvSpPr>
        <p:spPr>
          <a:xfrm>
            <a:off x="6324905" y="3581705"/>
            <a:ext cx="5486400" cy="990295"/>
          </a:xfrm>
          <a:prstGeom prst="roundRect">
            <a:avLst>
              <a:gd name="adj" fmla="val 7103"/>
            </a:avLst>
          </a:prstGeom>
          <a:solidFill>
            <a:srgbClr val="2D3748"/>
          </a:solidFill>
          <a:ln/>
        </p:spPr>
      </p:sp>
      <p:sp>
        <p:nvSpPr>
          <p:cNvPr id="44" name="Text 36"/>
          <p:cNvSpPr txBox="1"/>
          <p:nvPr/>
        </p:nvSpPr>
        <p:spPr>
          <a:xfrm>
            <a:off x="6476695" y="36960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45" name="Text 37"/>
          <p:cNvSpPr txBox="1"/>
          <p:nvPr/>
        </p:nvSpPr>
        <p:spPr>
          <a:xfrm>
            <a:off x="6476695" y="3886200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customers;</a:t>
            </a:r>
            <a:endParaRPr lang="en-US" sz="1000" dirty="0"/>
          </a:p>
        </p:txBody>
      </p:sp>
      <p:sp>
        <p:nvSpPr>
          <p:cNvPr id="46" name="Text 38"/>
          <p:cNvSpPr txBox="1"/>
          <p:nvPr/>
        </p:nvSpPr>
        <p:spPr>
          <a:xfrm>
            <a:off x="6476695" y="4076395"/>
            <a:ext cx="33101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all columns for all customers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6476695" y="4267505"/>
            <a:ext cx="33869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Use sparingly - can impact performance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6324905" y="4733849"/>
            <a:ext cx="23106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 3: Using column aliases</a:t>
            </a:r>
            <a:endParaRPr lang="en-US" sz="1000" dirty="0"/>
          </a:p>
        </p:txBody>
      </p:sp>
      <p:sp>
        <p:nvSpPr>
          <p:cNvPr id="49" name="Shape 41"/>
          <p:cNvSpPr/>
          <p:nvPr/>
        </p:nvSpPr>
        <p:spPr>
          <a:xfrm>
            <a:off x="6324905" y="4953305"/>
            <a:ext cx="5486400" cy="1561795"/>
          </a:xfrm>
          <a:prstGeom prst="roundRect">
            <a:avLst>
              <a:gd name="adj" fmla="val 2856"/>
            </a:avLst>
          </a:prstGeom>
          <a:solidFill>
            <a:srgbClr val="2D3748"/>
          </a:solidFill>
          <a:ln/>
        </p:spPr>
      </p:sp>
      <p:sp>
        <p:nvSpPr>
          <p:cNvPr id="50" name="Text 42"/>
          <p:cNvSpPr txBox="1"/>
          <p:nvPr/>
        </p:nvSpPr>
        <p:spPr>
          <a:xfrm>
            <a:off x="6476695" y="5067605"/>
            <a:ext cx="5861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51" name="Text 43"/>
          <p:cNvSpPr txBox="1"/>
          <p:nvPr/>
        </p:nvSpPr>
        <p:spPr>
          <a:xfrm>
            <a:off x="6476695" y="5257800"/>
            <a:ext cx="28245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 AS customer_first_name,</a:t>
            </a:r>
            <a:endParaRPr lang="en-US" sz="1000" dirty="0"/>
          </a:p>
        </p:txBody>
      </p:sp>
      <p:sp>
        <p:nvSpPr>
          <p:cNvPr id="52" name="Text 44"/>
          <p:cNvSpPr txBox="1"/>
          <p:nvPr/>
        </p:nvSpPr>
        <p:spPr>
          <a:xfrm>
            <a:off x="6476695" y="5447995"/>
            <a:ext cx="2662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 AS customer_last_name,</a:t>
            </a:r>
            <a:endParaRPr lang="en-US" sz="1000" dirty="0"/>
          </a:p>
        </p:txBody>
      </p:sp>
      <p:sp>
        <p:nvSpPr>
          <p:cNvPr id="53" name="Text 45"/>
          <p:cNvSpPr txBox="1"/>
          <p:nvPr/>
        </p:nvSpPr>
        <p:spPr>
          <a:xfrm>
            <a:off x="6476695" y="5639105"/>
            <a:ext cx="22622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 AS purchase_date</a:t>
            </a:r>
            <a:endParaRPr lang="en-US" sz="1000" dirty="0"/>
          </a:p>
        </p:txBody>
      </p:sp>
      <p:sp>
        <p:nvSpPr>
          <p:cNvPr id="54" name="Text 46"/>
          <p:cNvSpPr txBox="1"/>
          <p:nvPr/>
        </p:nvSpPr>
        <p:spPr>
          <a:xfrm>
            <a:off x="6476695" y="5829300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00" dirty="0"/>
          </a:p>
        </p:txBody>
      </p:sp>
      <p:sp>
        <p:nvSpPr>
          <p:cNvPr id="55" name="Text 47"/>
          <p:cNvSpPr txBox="1"/>
          <p:nvPr/>
        </p:nvSpPr>
        <p:spPr>
          <a:xfrm>
            <a:off x="6476695" y="6019495"/>
            <a:ext cx="39483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ON customers.id = orders.customer_id</a:t>
            </a:r>
            <a:endParaRPr lang="en-US" sz="1000" dirty="0"/>
          </a:p>
        </p:txBody>
      </p:sp>
      <p:sp>
        <p:nvSpPr>
          <p:cNvPr id="56" name="Text 48"/>
          <p:cNvSpPr txBox="1"/>
          <p:nvPr/>
        </p:nvSpPr>
        <p:spPr>
          <a:xfrm>
            <a:off x="6476695" y="6210605"/>
            <a:ext cx="8247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10;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33995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53483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SQL WHERE Clause and Operators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90982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Purpose: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81305" y="1429207"/>
            <a:ext cx="550560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rows that meet specified conditions, limiting results to only those records that fulfill your criteria.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81305" y="2048256"/>
            <a:ext cx="18909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Common operators: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1305" y="2400300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5546" y="2486254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=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57046" y="2486254"/>
            <a:ext cx="752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Equal 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1305" y="2800807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5546" y="2885846"/>
            <a:ext cx="6858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&lt;&gt; or !=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57046" y="2885846"/>
            <a:ext cx="10671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equal to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1305" y="3200400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5546" y="3286354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057046" y="3286354"/>
            <a:ext cx="10863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Greater than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81305" y="3600907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5546" y="3685946"/>
            <a:ext cx="305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&gt;=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57046" y="3685946"/>
            <a:ext cx="19431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Greater than or equal to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1305" y="4000500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85546" y="4086454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57046" y="4086454"/>
            <a:ext cx="8485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than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1305" y="4401007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85546" y="4486046"/>
            <a:ext cx="3054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&lt;=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57046" y="4486046"/>
            <a:ext cx="1705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Less than or equal to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1305" y="4876495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5546" y="4962449"/>
            <a:ext cx="4764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LIKE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1057046" y="4962449"/>
            <a:ext cx="26289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matching with wildcards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81305" y="5277002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5546" y="5362956"/>
            <a:ext cx="2953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057046" y="5362956"/>
            <a:ext cx="19339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Match any value in a list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81305" y="5676595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5546" y="5762549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BETWEEN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1299362" y="5762549"/>
            <a:ext cx="24771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within a range (inclusive)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1305" y="6077102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5546" y="6163056"/>
            <a:ext cx="4864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1057046" y="6163056"/>
            <a:ext cx="23719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Both conditions must be true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81305" y="6476695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5546" y="6562649"/>
            <a:ext cx="362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057046" y="6562649"/>
            <a:ext cx="22576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Either condition can be true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81305" y="6877202"/>
            <a:ext cx="5486400" cy="362102"/>
          </a:xfrm>
          <a:prstGeom prst="roundRect">
            <a:avLst>
              <a:gd name="adj" fmla="val 3987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5546" y="6963156"/>
            <a:ext cx="7342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47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NULL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1103681" y="6963156"/>
            <a:ext cx="1895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Value is NULL / missing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6324905" y="1057046"/>
            <a:ext cx="103418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Examples: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324905" y="1419149"/>
            <a:ext cx="21387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Basic filtering by exact match: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24905" y="1638605"/>
            <a:ext cx="5486400" cy="990295"/>
          </a:xfrm>
          <a:prstGeom prst="roundRect">
            <a:avLst>
              <a:gd name="adj" fmla="val 7103"/>
            </a:avLst>
          </a:prstGeom>
          <a:solidFill>
            <a:srgbClr val="2D3748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476695" y="17529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6476695" y="1943100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00" dirty="0"/>
          </a:p>
        </p:txBody>
      </p:sp>
      <p:sp>
        <p:nvSpPr>
          <p:cNvPr id="49" name="Text 47"/>
          <p:cNvSpPr txBox="1"/>
          <p:nvPr/>
        </p:nvSpPr>
        <p:spPr>
          <a:xfrm>
            <a:off x="6476695" y="2133295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= 'USA';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476695" y="2324405"/>
            <a:ext cx="28245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only customers from USA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324905" y="2790749"/>
            <a:ext cx="24816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Using BETWEEN for range filtering: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324905" y="3010205"/>
            <a:ext cx="5486400" cy="990295"/>
          </a:xfrm>
          <a:prstGeom prst="roundRect">
            <a:avLst>
              <a:gd name="adj" fmla="val 7103"/>
            </a:avLst>
          </a:prstGeom>
          <a:solidFill>
            <a:srgbClr val="2D3748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476695" y="31245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476695" y="3314700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6476695" y="3504895"/>
            <a:ext cx="27486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BETWEEN 100 AND 500;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476695" y="3696005"/>
            <a:ext cx="39483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orders with amounts from $100 to $500</a:t>
            </a:r>
            <a:endParaRPr lang="en-US" sz="1000" dirty="0"/>
          </a:p>
        </p:txBody>
      </p:sp>
      <p:sp>
        <p:nvSpPr>
          <p:cNvPr id="57" name="Text 55"/>
          <p:cNvSpPr txBox="1"/>
          <p:nvPr/>
        </p:nvSpPr>
        <p:spPr>
          <a:xfrm>
            <a:off x="6324905" y="4162349"/>
            <a:ext cx="20153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Pattern matching with LIKE: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324905" y="4381805"/>
            <a:ext cx="5486400" cy="990295"/>
          </a:xfrm>
          <a:prstGeom prst="roundRect">
            <a:avLst>
              <a:gd name="adj" fmla="val 7103"/>
            </a:avLst>
          </a:prstGeom>
          <a:solidFill>
            <a:srgbClr val="2D3748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476695" y="44961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6476695" y="4686300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products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6476695" y="4876495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name LIKE 'Pro%';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476695" y="5067605"/>
            <a:ext cx="39483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products whose names start with 'Pro'</a:t>
            </a:r>
            <a:endParaRPr lang="en-US" sz="1000" dirty="0"/>
          </a:p>
        </p:txBody>
      </p:sp>
      <p:sp>
        <p:nvSpPr>
          <p:cNvPr id="63" name="Text 61"/>
          <p:cNvSpPr txBox="1"/>
          <p:nvPr/>
        </p:nvSpPr>
        <p:spPr>
          <a:xfrm>
            <a:off x="6324905" y="5533949"/>
            <a:ext cx="22439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Combining multiple conditions: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324905" y="5753405"/>
            <a:ext cx="5486400" cy="1181405"/>
          </a:xfrm>
          <a:prstGeom prst="roundRect">
            <a:avLst>
              <a:gd name="adj" fmla="val 4994"/>
            </a:avLst>
          </a:prstGeom>
          <a:solidFill>
            <a:srgbClr val="2D3748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6476695" y="586770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66" name="Text 64"/>
          <p:cNvSpPr txBox="1"/>
          <p:nvPr/>
        </p:nvSpPr>
        <p:spPr>
          <a:xfrm>
            <a:off x="6476695" y="6057900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00" dirty="0"/>
          </a:p>
        </p:txBody>
      </p:sp>
      <p:sp>
        <p:nvSpPr>
          <p:cNvPr id="67" name="Text 65"/>
          <p:cNvSpPr txBox="1"/>
          <p:nvPr/>
        </p:nvSpPr>
        <p:spPr>
          <a:xfrm>
            <a:off x="6476695" y="6248095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IN ('USA', 'UK')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6476695" y="6439205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age &gt;= 21;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476695" y="6629400"/>
            <a:ext cx="45107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Returns customers from USA or UK who are 21 or older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343900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5891479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Hands-on: Extracting Simple Datasets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15480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Sample dataset: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5" y="1410005"/>
            <a:ext cx="5486400" cy="207660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4749" y="1552651"/>
            <a:ext cx="9336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4749" y="1837944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9" name="Shape 7"/>
          <p:cNvSpPr/>
          <p:nvPr/>
        </p:nvSpPr>
        <p:spPr>
          <a:xfrm>
            <a:off x="504749" y="2180844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9846" y="1914754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4228" y="1837944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4228" y="2180844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19326" y="1914754"/>
            <a:ext cx="9720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first_name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43707" y="1837944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5" name="Shape 13"/>
          <p:cNvSpPr/>
          <p:nvPr/>
        </p:nvSpPr>
        <p:spPr>
          <a:xfrm>
            <a:off x="3143707" y="2180844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38805" y="1914754"/>
            <a:ext cx="94366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last_name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62272" y="1837944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18" name="Shape 16"/>
          <p:cNvSpPr/>
          <p:nvPr/>
        </p:nvSpPr>
        <p:spPr>
          <a:xfrm>
            <a:off x="4462272" y="2180844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57370" y="1914754"/>
            <a:ext cx="7434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country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4749" y="2572207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9846" y="2305202"/>
            <a:ext cx="171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4228" y="2572207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919326" y="2305202"/>
            <a:ext cx="4956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John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143707" y="2572207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38805" y="2305202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Smith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62272" y="2572207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557370" y="2305202"/>
            <a:ext cx="4389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4749" y="2962656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99846" y="2695651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4228" y="2962656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919326" y="2695651"/>
            <a:ext cx="638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Emma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143707" y="2962656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238805" y="2695651"/>
            <a:ext cx="771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Johnson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462272" y="2962656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57370" y="2695651"/>
            <a:ext cx="3529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04749" y="3353105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9846" y="3086100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824228" y="3353105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1919326" y="3086100"/>
            <a:ext cx="5907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Carlos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143707" y="3353105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238805" y="3086100"/>
            <a:ext cx="905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Rodriguez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462272" y="3353105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4557370" y="3086100"/>
            <a:ext cx="657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Mexico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1305" y="3638398"/>
            <a:ext cx="5486400" cy="2076602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04749" y="3781044"/>
            <a:ext cx="6099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orders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04749" y="4067251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47" name="Shape 45"/>
          <p:cNvSpPr/>
          <p:nvPr/>
        </p:nvSpPr>
        <p:spPr>
          <a:xfrm>
            <a:off x="504749" y="4410151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99846" y="4143146"/>
            <a:ext cx="26700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824228" y="4067251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0" name="Shape 48"/>
          <p:cNvSpPr/>
          <p:nvPr/>
        </p:nvSpPr>
        <p:spPr>
          <a:xfrm>
            <a:off x="1824228" y="4410151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919326" y="4143146"/>
            <a:ext cx="1105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customer_id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3143707" y="4067251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3" name="Shape 51"/>
          <p:cNvSpPr/>
          <p:nvPr/>
        </p:nvSpPr>
        <p:spPr>
          <a:xfrm>
            <a:off x="3143707" y="4410151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3238805" y="4143146"/>
            <a:ext cx="981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order_date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4462272" y="4067251"/>
            <a:ext cx="1285646" cy="352044"/>
          </a:xfrm>
          <a:prstGeom prst="rect">
            <a:avLst/>
          </a:prstGeom>
          <a:solidFill>
            <a:srgbClr val="EDF2F7"/>
          </a:solidFill>
          <a:ln/>
        </p:spPr>
      </p:sp>
      <p:sp>
        <p:nvSpPr>
          <p:cNvPr id="56" name="Shape 54"/>
          <p:cNvSpPr/>
          <p:nvPr/>
        </p:nvSpPr>
        <p:spPr>
          <a:xfrm>
            <a:off x="4462272" y="4410151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4557370" y="4143146"/>
            <a:ext cx="7525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amount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04749" y="4800600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99846" y="4533595"/>
            <a:ext cx="3337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101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1824228" y="4800600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919326" y="4533595"/>
            <a:ext cx="171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3143707" y="4800600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3238805" y="4533595"/>
            <a:ext cx="9052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2024-01-15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462272" y="4800600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4557370" y="4533595"/>
            <a:ext cx="6199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350.00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04749" y="5191049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599846" y="4924044"/>
            <a:ext cx="362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102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1824228" y="5191049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1919326" y="4924044"/>
            <a:ext cx="2103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3143707" y="5191049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3238805" y="4924044"/>
            <a:ext cx="981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2024-02-20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462272" y="5191049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4557370" y="4924044"/>
            <a:ext cx="56235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125.50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04749" y="5581498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599846" y="5315407"/>
            <a:ext cx="36210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103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1824228" y="5581498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1919326" y="5315407"/>
            <a:ext cx="171907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3143707" y="5581498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3238805" y="5315407"/>
            <a:ext cx="9811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2024-03-05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462272" y="5581498"/>
            <a:ext cx="1285646" cy="9144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4557370" y="5315407"/>
            <a:ext cx="58155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275.75</a:t>
            </a:r>
            <a:endParaRPr lang="en-US" sz="1200" dirty="0"/>
          </a:p>
        </p:txBody>
      </p:sp>
      <p:sp>
        <p:nvSpPr>
          <p:cNvPr id="82" name="Text 80"/>
          <p:cNvSpPr txBox="1"/>
          <p:nvPr/>
        </p:nvSpPr>
        <p:spPr>
          <a:xfrm>
            <a:off x="381305" y="5934456"/>
            <a:ext cx="1110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Objectives: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381305" y="6286500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484632" y="6305702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85" name="Text 83"/>
          <p:cNvSpPr txBox="1"/>
          <p:nvPr/>
        </p:nvSpPr>
        <p:spPr>
          <a:xfrm>
            <a:off x="761695" y="6305702"/>
            <a:ext cx="14676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all customers</a:t>
            </a:r>
            <a:endParaRPr lang="en-US" sz="1200" dirty="0"/>
          </a:p>
        </p:txBody>
      </p:sp>
      <p:sp>
        <p:nvSpPr>
          <p:cNvPr id="86" name="Text 84"/>
          <p:cNvSpPr txBox="1"/>
          <p:nvPr/>
        </p:nvSpPr>
        <p:spPr>
          <a:xfrm>
            <a:off x="761695" y="6524244"/>
            <a:ext cx="24249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columns FROM customers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381305" y="681959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88" name="Text 86"/>
          <p:cNvSpPr txBox="1"/>
          <p:nvPr/>
        </p:nvSpPr>
        <p:spPr>
          <a:xfrm>
            <a:off x="469087" y="68387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89" name="Text 87"/>
          <p:cNvSpPr txBox="1"/>
          <p:nvPr/>
        </p:nvSpPr>
        <p:spPr>
          <a:xfrm>
            <a:off x="761695" y="6838798"/>
            <a:ext cx="22485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Filter by country or amount</a:t>
            </a:r>
            <a:endParaRPr lang="en-US" sz="1200" dirty="0"/>
          </a:p>
        </p:txBody>
      </p:sp>
      <p:sp>
        <p:nvSpPr>
          <p:cNvPr id="90" name="Text 88"/>
          <p:cNvSpPr txBox="1"/>
          <p:nvPr/>
        </p:nvSpPr>
        <p:spPr>
          <a:xfrm>
            <a:off x="761695" y="7058254"/>
            <a:ext cx="32058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WHERE clause with comparison operators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381305" y="735360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469087" y="7372807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93" name="Text 91"/>
          <p:cNvSpPr txBox="1"/>
          <p:nvPr/>
        </p:nvSpPr>
        <p:spPr>
          <a:xfrm>
            <a:off x="761695" y="7372807"/>
            <a:ext cx="16861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 conditions</a:t>
            </a:r>
            <a:endParaRPr lang="en-US" sz="1200" dirty="0"/>
          </a:p>
        </p:txBody>
      </p:sp>
      <p:sp>
        <p:nvSpPr>
          <p:cNvPr id="94" name="Text 92"/>
          <p:cNvSpPr txBox="1"/>
          <p:nvPr/>
        </p:nvSpPr>
        <p:spPr>
          <a:xfrm>
            <a:off x="761695" y="7591349"/>
            <a:ext cx="238658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AND/OR, BETWEEN operators</a:t>
            </a:r>
            <a:endParaRPr lang="en-US" sz="1000" dirty="0"/>
          </a:p>
        </p:txBody>
      </p:sp>
      <p:sp>
        <p:nvSpPr>
          <p:cNvPr id="95" name="Text 93"/>
          <p:cNvSpPr txBox="1"/>
          <p:nvPr/>
        </p:nvSpPr>
        <p:spPr>
          <a:xfrm>
            <a:off x="6324905" y="1057046"/>
            <a:ext cx="246247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Optional Snowflake setup:</a:t>
            </a:r>
            <a:endParaRPr lang="en-US" sz="1300" dirty="0"/>
          </a:p>
        </p:txBody>
      </p:sp>
      <p:sp>
        <p:nvSpPr>
          <p:cNvPr id="96" name="Text 94"/>
          <p:cNvSpPr txBox="1"/>
          <p:nvPr/>
        </p:nvSpPr>
        <p:spPr>
          <a:xfrm>
            <a:off x="6324905" y="1419149"/>
            <a:ext cx="1996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context for your session: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6324905" y="1638605"/>
            <a:ext cx="5486400" cy="800100"/>
          </a:xfrm>
          <a:prstGeom prst="roundRect">
            <a:avLst>
              <a:gd name="adj" fmla="val 10884"/>
            </a:avLst>
          </a:prstGeom>
          <a:solidFill>
            <a:srgbClr val="2D3748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6476695" y="1752905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WAREHOUSE wh_demo;</a:t>
            </a:r>
            <a:endParaRPr lang="en-US" sz="1000" dirty="0"/>
          </a:p>
        </p:txBody>
      </p:sp>
      <p:sp>
        <p:nvSpPr>
          <p:cNvPr id="99" name="Text 97"/>
          <p:cNvSpPr txBox="1"/>
          <p:nvPr/>
        </p:nvSpPr>
        <p:spPr>
          <a:xfrm>
            <a:off x="6476695" y="1943100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DATABASE demo_db;</a:t>
            </a:r>
            <a:endParaRPr lang="en-US" sz="1000" dirty="0"/>
          </a:p>
        </p:txBody>
      </p:sp>
      <p:sp>
        <p:nvSpPr>
          <p:cNvPr id="100" name="Text 98"/>
          <p:cNvSpPr txBox="1"/>
          <p:nvPr/>
        </p:nvSpPr>
        <p:spPr>
          <a:xfrm>
            <a:off x="6476695" y="2133295"/>
            <a:ext cx="13103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SCHEMA raw;</a:t>
            </a:r>
            <a:endParaRPr lang="en-US" sz="1000" dirty="0"/>
          </a:p>
        </p:txBody>
      </p:sp>
      <p:sp>
        <p:nvSpPr>
          <p:cNvPr id="101" name="Text 99"/>
          <p:cNvSpPr txBox="1"/>
          <p:nvPr/>
        </p:nvSpPr>
        <p:spPr>
          <a:xfrm>
            <a:off x="6324905" y="2600554"/>
            <a:ext cx="170992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customers table: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324905" y="2819095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2D3748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6476695" y="2933395"/>
            <a:ext cx="20244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customers (</a:t>
            </a:r>
            <a:endParaRPr lang="en-US" sz="1000" dirty="0"/>
          </a:p>
        </p:txBody>
      </p:sp>
      <p:sp>
        <p:nvSpPr>
          <p:cNvPr id="104" name="Text 102"/>
          <p:cNvSpPr txBox="1"/>
          <p:nvPr/>
        </p:nvSpPr>
        <p:spPr>
          <a:xfrm>
            <a:off x="6476695" y="3124505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INTEGER,</a:t>
            </a:r>
            <a:endParaRPr lang="en-US" sz="1000" dirty="0"/>
          </a:p>
        </p:txBody>
      </p:sp>
      <p:sp>
        <p:nvSpPr>
          <p:cNvPr id="105" name="Text 103"/>
          <p:cNvSpPr txBox="1"/>
          <p:nvPr/>
        </p:nvSpPr>
        <p:spPr>
          <a:xfrm>
            <a:off x="6476695" y="3314700"/>
            <a:ext cx="19485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 VARCHAR(50),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6476695" y="3504895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 VARCHAR(50),</a:t>
            </a:r>
            <a:endParaRPr lang="en-US" sz="1000" dirty="0"/>
          </a:p>
        </p:txBody>
      </p:sp>
      <p:sp>
        <p:nvSpPr>
          <p:cNvPr id="107" name="Text 105"/>
          <p:cNvSpPr txBox="1"/>
          <p:nvPr/>
        </p:nvSpPr>
        <p:spPr>
          <a:xfrm>
            <a:off x="6476695" y="3696005"/>
            <a:ext cx="16248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country VARCHAR(50)</a:t>
            </a:r>
            <a:endParaRPr lang="en-US" sz="1000" dirty="0"/>
          </a:p>
        </p:txBody>
      </p:sp>
      <p:sp>
        <p:nvSpPr>
          <p:cNvPr id="108" name="Text 106"/>
          <p:cNvSpPr txBox="1"/>
          <p:nvPr/>
        </p:nvSpPr>
        <p:spPr>
          <a:xfrm>
            <a:off x="6476695" y="3886200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09" name="Text 107"/>
          <p:cNvSpPr txBox="1"/>
          <p:nvPr/>
        </p:nvSpPr>
        <p:spPr>
          <a:xfrm>
            <a:off x="6324905" y="4352544"/>
            <a:ext cx="14246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orders table: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6324905" y="4572000"/>
            <a:ext cx="5486400" cy="1371600"/>
          </a:xfrm>
          <a:prstGeom prst="roundRect">
            <a:avLst>
              <a:gd name="adj" fmla="val 3704"/>
            </a:avLst>
          </a:prstGeom>
          <a:solidFill>
            <a:srgbClr val="2D3748"/>
          </a:solidFill>
          <a:ln/>
        </p:spPr>
      </p:sp>
      <p:sp>
        <p:nvSpPr>
          <p:cNvPr id="111" name="Text 109"/>
          <p:cNvSpPr txBox="1"/>
          <p:nvPr/>
        </p:nvSpPr>
        <p:spPr>
          <a:xfrm>
            <a:off x="6476695" y="4686300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orders (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6476695" y="4876495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INTEGER,</a:t>
            </a:r>
            <a:endParaRPr lang="en-US" sz="1000" dirty="0"/>
          </a:p>
        </p:txBody>
      </p:sp>
      <p:sp>
        <p:nvSpPr>
          <p:cNvPr id="113" name="Text 111"/>
          <p:cNvSpPr txBox="1"/>
          <p:nvPr/>
        </p:nvSpPr>
        <p:spPr>
          <a:xfrm>
            <a:off x="6476695" y="5067605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 INTEGER,</a:t>
            </a:r>
            <a:endParaRPr lang="en-US" sz="1000" dirty="0"/>
          </a:p>
        </p:txBody>
      </p:sp>
      <p:sp>
        <p:nvSpPr>
          <p:cNvPr id="114" name="Text 112"/>
          <p:cNvSpPr txBox="1"/>
          <p:nvPr/>
        </p:nvSpPr>
        <p:spPr>
          <a:xfrm>
            <a:off x="6476695" y="5257800"/>
            <a:ext cx="13862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order_date DATE,</a:t>
            </a:r>
            <a:endParaRPr lang="en-US" sz="1000" dirty="0"/>
          </a:p>
        </p:txBody>
      </p:sp>
      <p:sp>
        <p:nvSpPr>
          <p:cNvPr id="115" name="Text 113"/>
          <p:cNvSpPr txBox="1"/>
          <p:nvPr/>
        </p:nvSpPr>
        <p:spPr>
          <a:xfrm>
            <a:off x="6476695" y="5447995"/>
            <a:ext cx="17099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 DECIMAL(10,2)</a:t>
            </a:r>
            <a:endParaRPr lang="en-US" sz="1000" dirty="0"/>
          </a:p>
        </p:txBody>
      </p:sp>
      <p:sp>
        <p:nvSpPr>
          <p:cNvPr id="116" name="Text 114"/>
          <p:cNvSpPr txBox="1"/>
          <p:nvPr/>
        </p:nvSpPr>
        <p:spPr>
          <a:xfrm>
            <a:off x="6476695" y="5639105"/>
            <a:ext cx="2624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  <p:sp>
        <p:nvSpPr>
          <p:cNvPr id="117" name="Text 115"/>
          <p:cNvSpPr txBox="1"/>
          <p:nvPr/>
        </p:nvSpPr>
        <p:spPr>
          <a:xfrm>
            <a:off x="6324905" y="6105449"/>
            <a:ext cx="13962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Insert sample data:</a:t>
            </a:r>
            <a:endParaRPr lang="en-US" sz="1000" dirty="0"/>
          </a:p>
        </p:txBody>
      </p:sp>
      <p:sp>
        <p:nvSpPr>
          <p:cNvPr id="118" name="Shape 116"/>
          <p:cNvSpPr/>
          <p:nvPr/>
        </p:nvSpPr>
        <p:spPr>
          <a:xfrm>
            <a:off x="6324905" y="6324905"/>
            <a:ext cx="5486400" cy="1181405"/>
          </a:xfrm>
          <a:prstGeom prst="roundRect">
            <a:avLst>
              <a:gd name="adj" fmla="val 4994"/>
            </a:avLst>
          </a:prstGeom>
          <a:solidFill>
            <a:srgbClr val="2D3748"/>
          </a:solidFill>
          <a:ln/>
        </p:spPr>
      </p:sp>
      <p:sp>
        <p:nvSpPr>
          <p:cNvPr id="119" name="Text 117"/>
          <p:cNvSpPr txBox="1"/>
          <p:nvPr/>
        </p:nvSpPr>
        <p:spPr>
          <a:xfrm>
            <a:off x="6476695" y="6439205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customers</a:t>
            </a:r>
            <a:endParaRPr lang="en-US" sz="1000" dirty="0"/>
          </a:p>
        </p:txBody>
      </p:sp>
      <p:sp>
        <p:nvSpPr>
          <p:cNvPr id="120" name="Text 118"/>
          <p:cNvSpPr txBox="1"/>
          <p:nvPr/>
        </p:nvSpPr>
        <p:spPr>
          <a:xfrm>
            <a:off x="6476695" y="6629400"/>
            <a:ext cx="291053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 (1, 'John', 'Smith', 'USA'),</a:t>
            </a:r>
            <a:endParaRPr lang="en-US" sz="1000" dirty="0"/>
          </a:p>
        </p:txBody>
      </p:sp>
      <p:sp>
        <p:nvSpPr>
          <p:cNvPr id="121" name="Text 119"/>
          <p:cNvSpPr txBox="1"/>
          <p:nvPr/>
        </p:nvSpPr>
        <p:spPr>
          <a:xfrm>
            <a:off x="6476695" y="6819595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(2, 'Emma', 'Johnson', 'UK'),</a:t>
            </a:r>
            <a:endParaRPr lang="en-US" sz="1000" dirty="0"/>
          </a:p>
        </p:txBody>
      </p:sp>
      <p:sp>
        <p:nvSpPr>
          <p:cNvPr id="122" name="Text 120"/>
          <p:cNvSpPr txBox="1"/>
          <p:nvPr/>
        </p:nvSpPr>
        <p:spPr>
          <a:xfrm>
            <a:off x="6476695" y="7010705"/>
            <a:ext cx="306232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(3, 'Carlos', 'Rodriguez', 'Mexico');</a:t>
            </a:r>
            <a:endParaRPr lang="en-US" sz="1000" dirty="0"/>
          </a:p>
        </p:txBody>
      </p:sp>
      <p:sp>
        <p:nvSpPr>
          <p:cNvPr id="123" name="Text 121"/>
          <p:cNvSpPr txBox="1"/>
          <p:nvPr/>
        </p:nvSpPr>
        <p:spPr>
          <a:xfrm>
            <a:off x="6476695" y="7200900"/>
            <a:ext cx="25100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0AE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Insert order data similarly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582205"/>
          </a:xfrm>
          <a:prstGeom prst="rect">
            <a:avLst/>
          </a:prstGeom>
          <a:solidFill>
            <a:srgbClr val="F5F8F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75895"/>
          </a:xfrm>
          <a:prstGeom prst="rect">
            <a:avLst/>
          </a:prstGeom>
          <a:solidFill>
            <a:srgbClr val="0747A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381305" y="448056"/>
            <a:ext cx="490118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Practice Exercises &amp; Next Steps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381305" y="1057046"/>
            <a:ext cx="9957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Exercises: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1305" y="141000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" y="1429207"/>
            <a:ext cx="181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1695" y="1429207"/>
            <a:ext cx="46204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 customer first_name, last_name for all USA customers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1695" y="1638605"/>
            <a:ext cx="4505249" cy="800100"/>
          </a:xfrm>
          <a:prstGeom prst="roundRect">
            <a:avLst>
              <a:gd name="adj" fmla="val 10884"/>
            </a:avLst>
          </a:prstGeom>
          <a:solidFill>
            <a:srgbClr val="2D374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1752905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first_name, last_name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943100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133295"/>
            <a:ext cx="18626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= 'USA';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1305" y="270479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9087" y="27239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61695" y="2723998"/>
            <a:ext cx="365760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Find orders with amount &gt; 250 placed in 2024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1695" y="2933395"/>
            <a:ext cx="3543300" cy="990295"/>
          </a:xfrm>
          <a:prstGeom prst="roundRect">
            <a:avLst>
              <a:gd name="adj" fmla="val 7103"/>
            </a:avLst>
          </a:prstGeom>
          <a:solidFill>
            <a:srgbClr val="2D3748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04769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3238805"/>
            <a:ext cx="9866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429000"/>
            <a:ext cx="15480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&gt; 250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619195"/>
            <a:ext cx="23481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YEAR(order_date) = 2024;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81305" y="4190695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69087" y="4209898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61695" y="4209898"/>
            <a:ext cx="336316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Show customers with last_name LIKE 'A%'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1695" y="4419295"/>
            <a:ext cx="3247949" cy="800100"/>
          </a:xfrm>
          <a:prstGeom prst="roundRect">
            <a:avLst>
              <a:gd name="adj" fmla="val 10884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4400" y="4533595"/>
            <a:ext cx="74797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724705"/>
            <a:ext cx="122438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" y="4914900"/>
            <a:ext cx="218633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last_name LIKE 'A%';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1305" y="5486400"/>
            <a:ext cx="267005" cy="267005"/>
          </a:xfrm>
          <a:prstGeom prst="ellipse">
            <a:avLst/>
          </a:prstGeom>
          <a:solidFill>
            <a:srgbClr val="0747A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61772" y="550560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1695" y="5505602"/>
            <a:ext cx="30577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Return orders with specific conditions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1695" y="5715000"/>
            <a:ext cx="3514954" cy="1181405"/>
          </a:xfrm>
          <a:prstGeom prst="roundRect">
            <a:avLst>
              <a:gd name="adj" fmla="val 4994"/>
            </a:avLst>
          </a:prstGeom>
          <a:solidFill>
            <a:srgbClr val="2D3748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14400" y="5829300"/>
            <a:ext cx="178673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o.*, c.country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914400" y="6019495"/>
            <a:ext cx="1148486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 o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6210605"/>
            <a:ext cx="3310128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customers c ON o.customer_id = c.id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6400800"/>
            <a:ext cx="2662733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amount BETWEEN 100 AND 500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6590995"/>
            <a:ext cx="24249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country IN ('USA', 'CA');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324905" y="1057046"/>
            <a:ext cx="11100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steps: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24905" y="1410005"/>
            <a:ext cx="5486400" cy="590702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39205" y="1607515"/>
            <a:ext cx="171907" cy="171907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6734556" y="1514246"/>
            <a:ext cx="2486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Explore additional SQL clauses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6734556" y="1733702"/>
            <a:ext cx="24725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 DISTINCT, ORDER BY, LIMIT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324905" y="2076602"/>
            <a:ext cx="5486400" cy="590702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rcRect l="-1064" r="-1064"/>
          <a:stretch/>
        </p:blipFill>
        <p:spPr>
          <a:xfrm>
            <a:off x="6415430" y="2274113"/>
            <a:ext cx="219456" cy="171907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6734556" y="2180844"/>
            <a:ext cx="24862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 JOINs to combine tables</a:t>
            </a:r>
            <a:endParaRPr lang="en-US" sz="1200" dirty="0"/>
          </a:p>
        </p:txBody>
      </p:sp>
      <p:sp>
        <p:nvSpPr>
          <p:cNvPr id="45" name="Text 41"/>
          <p:cNvSpPr txBox="1"/>
          <p:nvPr/>
        </p:nvSpPr>
        <p:spPr>
          <a:xfrm>
            <a:off x="6734556" y="2400300"/>
            <a:ext cx="276788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INNER, LEFT, RIGHT, FULL OUTER JOINs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6324905" y="2743200"/>
            <a:ext cx="5486400" cy="590702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rcRect l="-760" r="-760"/>
          <a:stretch/>
        </p:blipFill>
        <p:spPr>
          <a:xfrm>
            <a:off x="6448349" y="2940710"/>
            <a:ext cx="152705" cy="171907"/>
          </a:xfrm>
          <a:prstGeom prst="rect">
            <a:avLst/>
          </a:prstGeom>
        </p:spPr>
      </p:pic>
      <p:sp>
        <p:nvSpPr>
          <p:cNvPr id="48" name="Text 43"/>
          <p:cNvSpPr txBox="1"/>
          <p:nvPr/>
        </p:nvSpPr>
        <p:spPr>
          <a:xfrm>
            <a:off x="6734556" y="2848356"/>
            <a:ext cx="261061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 Snowflake documentation</a:t>
            </a:r>
            <a:endParaRPr lang="en-US" sz="1200" dirty="0"/>
          </a:p>
        </p:txBody>
      </p:sp>
      <p:sp>
        <p:nvSpPr>
          <p:cNvPr id="49" name="Text 44"/>
          <p:cNvSpPr txBox="1"/>
          <p:nvPr/>
        </p:nvSpPr>
        <p:spPr>
          <a:xfrm>
            <a:off x="6734556" y="3066898"/>
            <a:ext cx="343448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Warehouses, Time Travel, data loading techniques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6324905" y="3409798"/>
            <a:ext cx="5486400" cy="590702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439205" y="3607308"/>
            <a:ext cx="171907" cy="171907"/>
          </a:xfrm>
          <a:prstGeom prst="rect">
            <a:avLst/>
          </a:prstGeom>
        </p:spPr>
      </p:pic>
      <p:sp>
        <p:nvSpPr>
          <p:cNvPr id="52" name="Text 46"/>
          <p:cNvSpPr txBox="1"/>
          <p:nvPr/>
        </p:nvSpPr>
        <p:spPr>
          <a:xfrm>
            <a:off x="6734556" y="3514954"/>
            <a:ext cx="28200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02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costs and optimize resources</a:t>
            </a:r>
            <a:endParaRPr lang="en-US" sz="1200" dirty="0"/>
          </a:p>
        </p:txBody>
      </p:sp>
      <p:sp>
        <p:nvSpPr>
          <p:cNvPr id="53" name="Text 47"/>
          <p:cNvSpPr txBox="1"/>
          <p:nvPr/>
        </p:nvSpPr>
        <p:spPr>
          <a:xfrm>
            <a:off x="6734556" y="3733495"/>
            <a:ext cx="430133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Monitor warehouse usage, auto-suspend/auto-resume settings</a:t>
            </a:r>
            <a:endParaRPr lang="en-US" sz="1000" dirty="0"/>
          </a:p>
        </p:txBody>
      </p:sp>
      <p:sp>
        <p:nvSpPr>
          <p:cNvPr id="54" name="Shape 48"/>
          <p:cNvSpPr/>
          <p:nvPr/>
        </p:nvSpPr>
        <p:spPr>
          <a:xfrm>
            <a:off x="6324905" y="4190695"/>
            <a:ext cx="5486400" cy="1657807"/>
          </a:xfrm>
          <a:prstGeom prst="roundRect">
            <a:avLst>
              <a:gd name="adj" fmla="val 253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6486754" y="4381805"/>
            <a:ext cx="824789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 Tips</a:t>
            </a:r>
            <a:endParaRPr lang="en-US" sz="1300" dirty="0"/>
          </a:p>
        </p:txBody>
      </p:sp>
      <p:pic>
        <p:nvPicPr>
          <p:cNvPr id="56" name="Image 4" descr="preencoded.png"/>
          <p:cNvPicPr>
            <a:picLocks noChangeAspect="1"/>
          </p:cNvPicPr>
          <p:nvPr/>
        </p:nvPicPr>
        <p:blipFill>
          <a:blip r:embed="rId7"/>
          <a:srcRect l="-2512" r="-2512"/>
          <a:stretch/>
        </p:blipFill>
        <p:spPr>
          <a:xfrm>
            <a:off x="6486754" y="4721962"/>
            <a:ext cx="105156" cy="133502"/>
          </a:xfrm>
          <a:prstGeom prst="rect">
            <a:avLst/>
          </a:prstGeom>
        </p:spPr>
      </p:pic>
      <p:sp>
        <p:nvSpPr>
          <p:cNvPr id="57" name="Text 50"/>
          <p:cNvSpPr txBox="1"/>
          <p:nvPr/>
        </p:nvSpPr>
        <p:spPr>
          <a:xfrm>
            <a:off x="6667805" y="4705502"/>
            <a:ext cx="36338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 Snowflake's caching for query performance</a:t>
            </a:r>
            <a:endParaRPr lang="en-US" sz="1000" dirty="0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486754" y="4988966"/>
            <a:ext cx="133502" cy="133502"/>
          </a:xfrm>
          <a:prstGeom prst="rect">
            <a:avLst/>
          </a:prstGeom>
        </p:spPr>
      </p:pic>
      <p:sp>
        <p:nvSpPr>
          <p:cNvPr id="59" name="Text 51"/>
          <p:cNvSpPr txBox="1"/>
          <p:nvPr/>
        </p:nvSpPr>
        <p:spPr>
          <a:xfrm>
            <a:off x="6696151" y="4972507"/>
            <a:ext cx="34719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EXPLAIN to understand query execution plans</a:t>
            </a:r>
            <a:endParaRPr lang="en-US" sz="1000" dirty="0"/>
          </a:p>
        </p:txBody>
      </p:sp>
      <p:pic>
        <p:nvPicPr>
          <p:cNvPr id="6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86754" y="5255057"/>
            <a:ext cx="133502" cy="133502"/>
          </a:xfrm>
          <a:prstGeom prst="rect">
            <a:avLst/>
          </a:prstGeom>
        </p:spPr>
      </p:pic>
      <p:sp>
        <p:nvSpPr>
          <p:cNvPr id="61" name="Text 52"/>
          <p:cNvSpPr txBox="1"/>
          <p:nvPr/>
        </p:nvSpPr>
        <p:spPr>
          <a:xfrm>
            <a:off x="6696151" y="5238598"/>
            <a:ext cx="380573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appropriate warehouse sizes for different workloads</a:t>
            </a:r>
            <a:endParaRPr lang="en-US" sz="1000" dirty="0"/>
          </a:p>
        </p:txBody>
      </p:sp>
      <p:pic>
        <p:nvPicPr>
          <p:cNvPr id="62" name="Image 7" descr="preencoded.png"/>
          <p:cNvPicPr>
            <a:picLocks noChangeAspect="1"/>
          </p:cNvPicPr>
          <p:nvPr/>
        </p:nvPicPr>
        <p:blipFill>
          <a:blip r:embed="rId10"/>
          <a:srcRect l="-1507" r="-1507"/>
          <a:stretch/>
        </p:blipFill>
        <p:spPr>
          <a:xfrm>
            <a:off x="6486754" y="5522062"/>
            <a:ext cx="171907" cy="133502"/>
          </a:xfrm>
          <a:prstGeom prst="rect">
            <a:avLst/>
          </a:prstGeom>
        </p:spPr>
      </p:pic>
      <p:sp>
        <p:nvSpPr>
          <p:cNvPr id="63" name="Text 53"/>
          <p:cNvSpPr txBox="1"/>
          <p:nvPr/>
        </p:nvSpPr>
        <p:spPr>
          <a:xfrm>
            <a:off x="6734556" y="5505602"/>
            <a:ext cx="335767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Join the Snowflake community for advanced tips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1936</TotalTime>
  <Words>1475</Words>
  <Application>Microsoft Office PowerPoint</Application>
  <PresentationFormat>Widescreen</PresentationFormat>
  <Paragraphs>339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KITS</cp:lastModifiedBy>
  <cp:revision>2</cp:revision>
  <dcterms:created xsi:type="dcterms:W3CDTF">2025-11-16T19:08:12Z</dcterms:created>
  <dcterms:modified xsi:type="dcterms:W3CDTF">2025-11-18T03:25:42Z</dcterms:modified>
</cp:coreProperties>
</file>