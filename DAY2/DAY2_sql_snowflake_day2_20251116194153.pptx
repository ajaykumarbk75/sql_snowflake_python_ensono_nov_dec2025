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01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18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5098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195" y="0"/>
            <a:ext cx="1714500" cy="1714500"/>
          </a:xfrm>
          <a:prstGeom prst="rect">
            <a:avLst/>
          </a:prstGeom>
          <a:solidFill>
            <a:srgbClr val="0747A6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533095"/>
            <a:ext cx="82396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2: SQL &amp; Snowflake Foundations (Part 2)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8700"/>
            <a:ext cx="4315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SQL Techniques for Data Analysis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91056"/>
            <a:ext cx="8193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Duration: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11173" y="1591056"/>
            <a:ext cx="10579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Prerequisite: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57146"/>
            <a:ext cx="7909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2.5 hours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11173" y="1857146"/>
            <a:ext cx="32196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1 (SELECT, WHERE, basics of Snowflake)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05202"/>
            <a:ext cx="38405" cy="19431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8251" y="2324405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" y="2743200"/>
            <a:ext cx="152705" cy="1527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61949" y="2734056"/>
            <a:ext cx="30102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GROUP BY and ORDER BY effectively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" y="3047695"/>
            <a:ext cx="15270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61949" y="3038551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INNER, LEFT, RIGHT joins with visuals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" y="3353105"/>
            <a:ext cx="152705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61949" y="3343046"/>
            <a:ext cx="24295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joins with aggregations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" y="3657600"/>
            <a:ext cx="152705" cy="152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61949" y="3648456"/>
            <a:ext cx="2734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Write subqueries and nested queries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" y="3962095"/>
            <a:ext cx="152705" cy="15270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1949" y="3952951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Practice on a Customer/Product dataset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4939589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Today's Agenda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5254142"/>
            <a:ext cx="11277295" cy="657454"/>
          </a:xfrm>
          <a:prstGeom prst="roundRect">
            <a:avLst>
              <a:gd name="adj" fmla="val 12094"/>
            </a:avLst>
          </a:prstGeom>
          <a:solidFill>
            <a:srgbClr val="EEF4FC"/>
          </a:solidFill>
          <a:ln/>
        </p:spPr>
      </p:sp>
      <p:sp>
        <p:nvSpPr>
          <p:cNvPr id="25" name="Shape 18"/>
          <p:cNvSpPr/>
          <p:nvPr/>
        </p:nvSpPr>
        <p:spPr>
          <a:xfrm>
            <a:off x="647395" y="5444338"/>
            <a:ext cx="1019556" cy="276149"/>
          </a:xfrm>
          <a:prstGeom prst="roundRect">
            <a:avLst>
              <a:gd name="adj" fmla="val 228362"/>
            </a:avLst>
          </a:prstGeom>
          <a:solidFill>
            <a:srgbClr val="0747A6"/>
          </a:solidFill>
          <a:ln/>
        </p:spPr>
      </p:sp>
      <p:sp>
        <p:nvSpPr>
          <p:cNvPr id="26" name="Shape 19"/>
          <p:cNvSpPr/>
          <p:nvPr/>
        </p:nvSpPr>
        <p:spPr>
          <a:xfrm>
            <a:off x="1735531" y="5444338"/>
            <a:ext cx="990295" cy="276149"/>
          </a:xfrm>
          <a:prstGeom prst="roundRect">
            <a:avLst>
              <a:gd name="adj" fmla="val 228362"/>
            </a:avLst>
          </a:prstGeom>
          <a:solidFill>
            <a:srgbClr val="0747A6"/>
          </a:solidFill>
          <a:ln/>
        </p:spPr>
      </p:sp>
      <p:sp>
        <p:nvSpPr>
          <p:cNvPr id="27" name="Shape 20"/>
          <p:cNvSpPr/>
          <p:nvPr/>
        </p:nvSpPr>
        <p:spPr>
          <a:xfrm>
            <a:off x="2801722" y="5444338"/>
            <a:ext cx="666598" cy="276149"/>
          </a:xfrm>
          <a:prstGeom prst="roundRect">
            <a:avLst>
              <a:gd name="adj" fmla="val 228362"/>
            </a:avLst>
          </a:prstGeom>
          <a:solidFill>
            <a:srgbClr val="0747A6"/>
          </a:solidFill>
          <a:ln/>
        </p:spPr>
      </p:sp>
      <p:sp>
        <p:nvSpPr>
          <p:cNvPr id="28" name="Shape 21"/>
          <p:cNvSpPr/>
          <p:nvPr/>
        </p:nvSpPr>
        <p:spPr>
          <a:xfrm>
            <a:off x="3538728" y="5444338"/>
            <a:ext cx="1524305" cy="276149"/>
          </a:xfrm>
          <a:prstGeom prst="roundRect">
            <a:avLst>
              <a:gd name="adj" fmla="val 228362"/>
            </a:avLst>
          </a:prstGeom>
          <a:solidFill>
            <a:srgbClr val="0747A6"/>
          </a:solidFill>
          <a:ln/>
        </p:spPr>
      </p:sp>
      <p:sp>
        <p:nvSpPr>
          <p:cNvPr id="29" name="Shape 22"/>
          <p:cNvSpPr/>
          <p:nvPr/>
        </p:nvSpPr>
        <p:spPr>
          <a:xfrm>
            <a:off x="5138928" y="5444338"/>
            <a:ext cx="1057046" cy="276149"/>
          </a:xfrm>
          <a:prstGeom prst="roundRect">
            <a:avLst>
              <a:gd name="adj" fmla="val 228362"/>
            </a:avLst>
          </a:prstGeom>
          <a:solidFill>
            <a:srgbClr val="0747A6"/>
          </a:solidFill>
          <a:ln/>
        </p:spPr>
      </p:sp>
      <p:sp>
        <p:nvSpPr>
          <p:cNvPr id="30" name="Shape 23"/>
          <p:cNvSpPr/>
          <p:nvPr/>
        </p:nvSpPr>
        <p:spPr>
          <a:xfrm>
            <a:off x="6270041" y="5444338"/>
            <a:ext cx="961949" cy="276149"/>
          </a:xfrm>
          <a:prstGeom prst="roundRect">
            <a:avLst>
              <a:gd name="adj" fmla="val 228362"/>
            </a:avLst>
          </a:prstGeom>
          <a:solidFill>
            <a:srgbClr val="0747A6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61695" y="5482742"/>
            <a:ext cx="8878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1) GROUP BY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1849831" y="5482742"/>
            <a:ext cx="8595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2) ORDER BY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2916022" y="5482742"/>
            <a:ext cx="5358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3) Joins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3653028" y="5482742"/>
            <a:ext cx="13926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4) Aggregations+Joins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5253228" y="5482742"/>
            <a:ext cx="92628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5) Subqueries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384341" y="5482742"/>
            <a:ext cx="8311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6) Hands-on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0" y="6362395"/>
            <a:ext cx="12191695" cy="4956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457200" y="6515100"/>
            <a:ext cx="21003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&amp; Snowflake Training Series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11115446" y="6515100"/>
            <a:ext cx="7287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2 of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Shape 2"/>
          <p:cNvSpPr/>
          <p:nvPr/>
        </p:nvSpPr>
        <p:spPr>
          <a:xfrm>
            <a:off x="10668305" y="5333695"/>
            <a:ext cx="1524305" cy="1524305"/>
          </a:xfrm>
          <a:prstGeom prst="roundRect">
            <a:avLst>
              <a:gd name="adj" fmla="val 59988"/>
            </a:avLst>
          </a:prstGeom>
          <a:solidFill>
            <a:srgbClr val="0747A6">
              <a:alpha val="7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448056"/>
            <a:ext cx="57872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Essentials Continued: GROUP BY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1047902"/>
            <a:ext cx="1390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1419149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 rows into groups based on specified columns to perform calculations per: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609905" y="1981505"/>
            <a:ext cx="19019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75995" y="1952244"/>
            <a:ext cx="8193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609905" y="2210105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19302" y="2180844"/>
            <a:ext cx="676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609905" y="2438705"/>
            <a:ext cx="133502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9302" y="2409444"/>
            <a:ext cx="1362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Date/Time period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609905" y="2667305"/>
            <a:ext cx="114300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" y="2638044"/>
            <a:ext cx="1429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region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381305" y="3105302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points</a:t>
            </a:r>
            <a:endParaRPr lang="en-US" sz="1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3486607"/>
            <a:ext cx="152705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5002" y="3476549"/>
            <a:ext cx="46012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BY columns must appear in SELECT (unless aggregated)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3810305"/>
            <a:ext cx="152705" cy="152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05002" y="3800246"/>
            <a:ext cx="4277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HAVING filters groups; WHERE filters rows before grouping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4134002"/>
            <a:ext cx="152705" cy="1527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05002" y="4123944"/>
            <a:ext cx="42199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Columns in SELECT must be either grouped or aggregated</a:t>
            </a:r>
            <a:endParaRPr lang="en-US" sz="1200" dirty="0"/>
          </a:p>
        </p:txBody>
      </p:sp>
      <p:sp>
        <p:nvSpPr>
          <p:cNvPr id="23" name="Text 14"/>
          <p:cNvSpPr txBox="1"/>
          <p:nvPr/>
        </p:nvSpPr>
        <p:spPr>
          <a:xfrm>
            <a:off x="381305" y="4591202"/>
            <a:ext cx="2229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aggregates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400507" y="4972507"/>
            <a:ext cx="733349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  <a:ln/>
        </p:spPr>
      </p:sp>
      <p:sp>
        <p:nvSpPr>
          <p:cNvPr id="25" name="Text 16"/>
          <p:cNvSpPr txBox="1"/>
          <p:nvPr/>
        </p:nvSpPr>
        <p:spPr>
          <a:xfrm>
            <a:off x="476402" y="5000854"/>
            <a:ext cx="6839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74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1166774" y="4972507"/>
            <a:ext cx="571500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  <a:ln/>
        </p:spPr>
      </p:sp>
      <p:sp>
        <p:nvSpPr>
          <p:cNvPr id="27" name="Text 18"/>
          <p:cNvSpPr txBox="1"/>
          <p:nvPr/>
        </p:nvSpPr>
        <p:spPr>
          <a:xfrm>
            <a:off x="1242670" y="5000854"/>
            <a:ext cx="5221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74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1768450" y="4972507"/>
            <a:ext cx="571500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  <a:ln/>
        </p:spPr>
      </p:sp>
      <p:sp>
        <p:nvSpPr>
          <p:cNvPr id="29" name="Text 20"/>
          <p:cNvSpPr txBox="1"/>
          <p:nvPr/>
        </p:nvSpPr>
        <p:spPr>
          <a:xfrm>
            <a:off x="1844345" y="5000854"/>
            <a:ext cx="5221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74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2370125" y="4972507"/>
            <a:ext cx="571500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2446020" y="5000854"/>
            <a:ext cx="5221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74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2971800" y="4972507"/>
            <a:ext cx="571500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  <a:ln/>
        </p:spPr>
      </p:sp>
      <p:sp>
        <p:nvSpPr>
          <p:cNvPr id="33" name="Text 24"/>
          <p:cNvSpPr txBox="1"/>
          <p:nvPr/>
        </p:nvSpPr>
        <p:spPr>
          <a:xfrm>
            <a:off x="3047695" y="5000854"/>
            <a:ext cx="5221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74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6248095" y="1028700"/>
            <a:ext cx="5562295" cy="5029200"/>
          </a:xfrm>
          <a:prstGeom prst="roundRect">
            <a:avLst>
              <a:gd name="adj" fmla="val 207"/>
            </a:avLst>
          </a:prstGeom>
          <a:solidFill>
            <a:srgbClr val="1E293B"/>
          </a:solidFill>
          <a:ln/>
        </p:spPr>
      </p:sp>
      <p:sp>
        <p:nvSpPr>
          <p:cNvPr id="35" name="Shape 26"/>
          <p:cNvSpPr/>
          <p:nvPr/>
        </p:nvSpPr>
        <p:spPr>
          <a:xfrm>
            <a:off x="6248095" y="1028700"/>
            <a:ext cx="5562295" cy="362102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6400800" y="1141171"/>
            <a:ext cx="171907" cy="13350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648602" y="1114654"/>
            <a:ext cx="32653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spend per customer with HAVING clause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6400800" y="1548994"/>
            <a:ext cx="24615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Total spend per customer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8744407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40" name="Text 30"/>
          <p:cNvSpPr txBox="1"/>
          <p:nvPr/>
        </p:nvSpPr>
        <p:spPr>
          <a:xfrm>
            <a:off x="9265615" y="1548994"/>
            <a:ext cx="28044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c.CUSTOMER_ID, c.CUSTOMER_NAME,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11956694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12217298" y="1548994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14734642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14908378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TOTAL_SPEND</a:t>
            </a:r>
            <a:endParaRPr lang="en-US" sz="1100" dirty="0"/>
          </a:p>
        </p:txBody>
      </p:sp>
      <p:sp>
        <p:nvSpPr>
          <p:cNvPr id="45" name="Text 35"/>
          <p:cNvSpPr txBox="1"/>
          <p:nvPr/>
        </p:nvSpPr>
        <p:spPr>
          <a:xfrm>
            <a:off x="15863926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16211398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</p:txBody>
      </p:sp>
      <p:sp>
        <p:nvSpPr>
          <p:cNvPr id="47" name="Text 37"/>
          <p:cNvSpPr txBox="1"/>
          <p:nvPr/>
        </p:nvSpPr>
        <p:spPr>
          <a:xfrm>
            <a:off x="16905427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17252899" y="1548994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49" name="Text 39"/>
          <p:cNvSpPr txBox="1"/>
          <p:nvPr/>
        </p:nvSpPr>
        <p:spPr>
          <a:xfrm>
            <a:off x="18468137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50" name="Text 40"/>
          <p:cNvSpPr txBox="1"/>
          <p:nvPr/>
        </p:nvSpPr>
        <p:spPr>
          <a:xfrm>
            <a:off x="18641873" y="1548994"/>
            <a:ext cx="2194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100" dirty="0"/>
          </a:p>
        </p:txBody>
      </p:sp>
      <p:sp>
        <p:nvSpPr>
          <p:cNvPr id="51" name="Text 41"/>
          <p:cNvSpPr txBox="1"/>
          <p:nvPr/>
        </p:nvSpPr>
        <p:spPr>
          <a:xfrm>
            <a:off x="20725790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52" name="Text 42"/>
          <p:cNvSpPr txBox="1"/>
          <p:nvPr/>
        </p:nvSpPr>
        <p:spPr>
          <a:xfrm>
            <a:off x="21073262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</a:t>
            </a:r>
            <a:endParaRPr lang="en-US" sz="1100" dirty="0"/>
          </a:p>
        </p:txBody>
      </p:sp>
      <p:sp>
        <p:nvSpPr>
          <p:cNvPr id="53" name="Text 43"/>
          <p:cNvSpPr txBox="1"/>
          <p:nvPr/>
        </p:nvSpPr>
        <p:spPr>
          <a:xfrm>
            <a:off x="22027896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54" name="Text 44"/>
          <p:cNvSpPr txBox="1"/>
          <p:nvPr/>
        </p:nvSpPr>
        <p:spPr>
          <a:xfrm>
            <a:off x="22201632" y="1548994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 = c.CUSTOMER_ID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24718975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56" name="Text 46"/>
          <p:cNvSpPr txBox="1"/>
          <p:nvPr/>
        </p:nvSpPr>
        <p:spPr>
          <a:xfrm>
            <a:off x="25413919" y="1548994"/>
            <a:ext cx="27185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c.CUSTOMER_ID, c.CUSTOMER_NAME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28018130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28539338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59" name="Text 49"/>
          <p:cNvSpPr txBox="1"/>
          <p:nvPr/>
        </p:nvSpPr>
        <p:spPr>
          <a:xfrm>
            <a:off x="28799942" y="1548994"/>
            <a:ext cx="32424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 &gt; 500;</a:t>
            </a:r>
            <a:endParaRPr lang="en-US" sz="1100" dirty="0"/>
          </a:p>
        </p:txBody>
      </p:sp>
      <p:sp>
        <p:nvSpPr>
          <p:cNvPr id="60" name="Text 50"/>
          <p:cNvSpPr txBox="1"/>
          <p:nvPr/>
        </p:nvSpPr>
        <p:spPr>
          <a:xfrm>
            <a:off x="31924447" y="1548994"/>
            <a:ext cx="25475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Count of orders by status</a:t>
            </a:r>
            <a:endParaRPr lang="en-US" sz="1100" dirty="0"/>
          </a:p>
        </p:txBody>
      </p:sp>
      <p:sp>
        <p:nvSpPr>
          <p:cNvPr id="61" name="Text 51"/>
          <p:cNvSpPr txBox="1"/>
          <p:nvPr/>
        </p:nvSpPr>
        <p:spPr>
          <a:xfrm>
            <a:off x="34355837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62" name="Text 52"/>
          <p:cNvSpPr txBox="1"/>
          <p:nvPr/>
        </p:nvSpPr>
        <p:spPr>
          <a:xfrm>
            <a:off x="34876130" y="1548994"/>
            <a:ext cx="7187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STATUS,</a:t>
            </a:r>
            <a:endParaRPr lang="en-US" sz="1100" dirty="0"/>
          </a:p>
        </p:txBody>
      </p:sp>
      <p:sp>
        <p:nvSpPr>
          <p:cNvPr id="63" name="Text 53"/>
          <p:cNvSpPr txBox="1"/>
          <p:nvPr/>
        </p:nvSpPr>
        <p:spPr>
          <a:xfrm>
            <a:off x="35484206" y="1548994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100" dirty="0"/>
          </a:p>
        </p:txBody>
      </p:sp>
      <p:sp>
        <p:nvSpPr>
          <p:cNvPr id="64" name="Text 54"/>
          <p:cNvSpPr txBox="1"/>
          <p:nvPr/>
        </p:nvSpPr>
        <p:spPr>
          <a:xfrm>
            <a:off x="35918546" y="1548994"/>
            <a:ext cx="9857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(ORDER_ID)</a:t>
            </a:r>
            <a:endParaRPr lang="en-US" sz="1100" dirty="0"/>
          </a:p>
        </p:txBody>
      </p:sp>
      <p:sp>
        <p:nvSpPr>
          <p:cNvPr id="65" name="Text 55"/>
          <p:cNvSpPr txBox="1"/>
          <p:nvPr/>
        </p:nvSpPr>
        <p:spPr>
          <a:xfrm>
            <a:off x="36786312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66" name="Text 56"/>
          <p:cNvSpPr txBox="1"/>
          <p:nvPr/>
        </p:nvSpPr>
        <p:spPr>
          <a:xfrm>
            <a:off x="36960048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ORDER_COUNT</a:t>
            </a:r>
            <a:endParaRPr lang="en-US" sz="1100" dirty="0"/>
          </a:p>
        </p:txBody>
      </p:sp>
      <p:sp>
        <p:nvSpPr>
          <p:cNvPr id="67" name="Text 57"/>
          <p:cNvSpPr txBox="1"/>
          <p:nvPr/>
        </p:nvSpPr>
        <p:spPr>
          <a:xfrm>
            <a:off x="37915596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68" name="Text 58"/>
          <p:cNvSpPr txBox="1"/>
          <p:nvPr/>
        </p:nvSpPr>
        <p:spPr>
          <a:xfrm>
            <a:off x="38263068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100" dirty="0"/>
          </a:p>
        </p:txBody>
      </p:sp>
      <p:sp>
        <p:nvSpPr>
          <p:cNvPr id="69" name="Text 59"/>
          <p:cNvSpPr txBox="1"/>
          <p:nvPr/>
        </p:nvSpPr>
        <p:spPr>
          <a:xfrm>
            <a:off x="38783362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70" name="Text 60"/>
          <p:cNvSpPr txBox="1"/>
          <p:nvPr/>
        </p:nvSpPr>
        <p:spPr>
          <a:xfrm>
            <a:off x="39478306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71" name="Text 61"/>
          <p:cNvSpPr txBox="1"/>
          <p:nvPr/>
        </p:nvSpPr>
        <p:spPr>
          <a:xfrm>
            <a:off x="39998599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00" dirty="0"/>
          </a:p>
        </p:txBody>
      </p:sp>
      <p:sp>
        <p:nvSpPr>
          <p:cNvPr id="72" name="Text 62"/>
          <p:cNvSpPr txBox="1"/>
          <p:nvPr/>
        </p:nvSpPr>
        <p:spPr>
          <a:xfrm>
            <a:off x="40693543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ORDER_COUNT</a:t>
            </a:r>
            <a:endParaRPr lang="en-US" sz="1100" dirty="0"/>
          </a:p>
        </p:txBody>
      </p:sp>
      <p:sp>
        <p:nvSpPr>
          <p:cNvPr id="73" name="Text 63"/>
          <p:cNvSpPr txBox="1"/>
          <p:nvPr/>
        </p:nvSpPr>
        <p:spPr>
          <a:xfrm>
            <a:off x="41649091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00" dirty="0"/>
          </a:p>
        </p:txBody>
      </p:sp>
      <p:sp>
        <p:nvSpPr>
          <p:cNvPr id="74" name="Text 64"/>
          <p:cNvSpPr txBox="1"/>
          <p:nvPr/>
        </p:nvSpPr>
        <p:spPr>
          <a:xfrm>
            <a:off x="41995649" y="1548994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75" name="Shape 65"/>
          <p:cNvSpPr/>
          <p:nvPr/>
        </p:nvSpPr>
        <p:spPr>
          <a:xfrm>
            <a:off x="0" y="6439205"/>
            <a:ext cx="12191695" cy="4187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6" name="Text 66"/>
          <p:cNvSpPr txBox="1"/>
          <p:nvPr/>
        </p:nvSpPr>
        <p:spPr>
          <a:xfrm>
            <a:off x="381305" y="6553505"/>
            <a:ext cx="21003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&amp; Snowflake Training Series</a:t>
            </a:r>
            <a:endParaRPr lang="en-US" sz="1000" dirty="0"/>
          </a:p>
        </p:txBody>
      </p:sp>
      <p:pic>
        <p:nvPicPr>
          <p:cNvPr id="77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36585" y="6579108"/>
            <a:ext cx="133502" cy="133502"/>
          </a:xfrm>
          <a:prstGeom prst="rect">
            <a:avLst/>
          </a:prstGeom>
        </p:spPr>
      </p:pic>
      <p:sp>
        <p:nvSpPr>
          <p:cNvPr id="78" name="Text 67"/>
          <p:cNvSpPr txBox="1"/>
          <p:nvPr/>
        </p:nvSpPr>
        <p:spPr>
          <a:xfrm>
            <a:off x="8507578" y="6553505"/>
            <a:ext cx="29105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BY appears after FROM, JOIN, WHERE</a:t>
            </a:r>
            <a:endParaRPr lang="en-US" sz="1000" dirty="0"/>
          </a:p>
        </p:txBody>
      </p:sp>
      <p:sp>
        <p:nvSpPr>
          <p:cNvPr id="79" name="Text 68"/>
          <p:cNvSpPr txBox="1"/>
          <p:nvPr/>
        </p:nvSpPr>
        <p:spPr>
          <a:xfrm>
            <a:off x="11462004" y="6553505"/>
            <a:ext cx="4526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Shape 2"/>
          <p:cNvSpPr/>
          <p:nvPr/>
        </p:nvSpPr>
        <p:spPr>
          <a:xfrm>
            <a:off x="10668305" y="5333695"/>
            <a:ext cx="1524305" cy="1524305"/>
          </a:xfrm>
          <a:prstGeom prst="roundRect">
            <a:avLst>
              <a:gd name="adj" fmla="val 59988"/>
            </a:avLst>
          </a:prstGeom>
          <a:solidFill>
            <a:srgbClr val="0747A6">
              <a:alpha val="7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448056"/>
            <a:ext cx="576803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Essentials Continued: ORDER BY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1047902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Purpose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1419149"/>
            <a:ext cx="48298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Sort result sets for readability and improved downstream analysis: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1752905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8505" y="1723644"/>
            <a:ext cx="24387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 data in meaningful order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1981505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38505" y="1952244"/>
            <a:ext cx="2134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 top/bottom performers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609905" y="2210105"/>
            <a:ext cx="171907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7707" y="2180844"/>
            <a:ext cx="18480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 data for reports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609905" y="2438705"/>
            <a:ext cx="95098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80898" y="2409444"/>
            <a:ext cx="1858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pagination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381305" y="2876702"/>
            <a:ext cx="130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options</a:t>
            </a:r>
            <a:endParaRPr lang="en-US" sz="1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3258007"/>
            <a:ext cx="152705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5002" y="3247949"/>
            <a:ext cx="30385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Sort by column: ORDER BY column_name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3581705"/>
            <a:ext cx="152705" cy="152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05002" y="3571646"/>
            <a:ext cx="23628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Direction: ASC (default) or DESC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3905402"/>
            <a:ext cx="152705" cy="1527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05002" y="3895344"/>
            <a:ext cx="33723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Sort by position: ORDER BY 2 (second column)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4229100"/>
            <a:ext cx="152705" cy="15270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05002" y="4219956"/>
            <a:ext cx="27916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Sort by alias: ORDER BY total_revenue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381305" y="4686300"/>
            <a:ext cx="2924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 handling in Snowflake</a:t>
            </a:r>
            <a:endParaRPr lang="en-US" sz="1500" dirty="0"/>
          </a:p>
        </p:txBody>
      </p:sp>
      <p:sp>
        <p:nvSpPr>
          <p:cNvPr id="26" name="Text 16"/>
          <p:cNvSpPr txBox="1"/>
          <p:nvPr/>
        </p:nvSpPr>
        <p:spPr>
          <a:xfrm>
            <a:off x="381305" y="5057546"/>
            <a:ext cx="39822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ASC puts NULLs FIRST (default), DESC puts NULLs LAST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400507" y="5372100"/>
            <a:ext cx="1057046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  <a:ln/>
        </p:spPr>
      </p:sp>
      <p:sp>
        <p:nvSpPr>
          <p:cNvPr id="28" name="Text 18"/>
          <p:cNvSpPr txBox="1"/>
          <p:nvPr/>
        </p:nvSpPr>
        <p:spPr>
          <a:xfrm>
            <a:off x="476402" y="5400446"/>
            <a:ext cx="100858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74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NULLS FIRST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1495044" y="5372100"/>
            <a:ext cx="981151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  <a:ln/>
        </p:spPr>
      </p:sp>
      <p:sp>
        <p:nvSpPr>
          <p:cNvPr id="30" name="Text 20"/>
          <p:cNvSpPr txBox="1"/>
          <p:nvPr/>
        </p:nvSpPr>
        <p:spPr>
          <a:xfrm>
            <a:off x="1571854" y="5400446"/>
            <a:ext cx="9317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74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NULLS LAST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381305" y="5711342"/>
            <a:ext cx="28245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ORDER BY price DESC NULLS LAST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6248095" y="1028700"/>
            <a:ext cx="5562295" cy="5029200"/>
          </a:xfrm>
          <a:prstGeom prst="roundRect">
            <a:avLst>
              <a:gd name="adj" fmla="val 207"/>
            </a:avLst>
          </a:prstGeom>
          <a:solidFill>
            <a:srgbClr val="1E293B"/>
          </a:solidFill>
          <a:ln/>
        </p:spPr>
      </p:sp>
      <p:sp>
        <p:nvSpPr>
          <p:cNvPr id="33" name="Shape 23"/>
          <p:cNvSpPr/>
          <p:nvPr/>
        </p:nvSpPr>
        <p:spPr>
          <a:xfrm>
            <a:off x="6248095" y="1028700"/>
            <a:ext cx="5562295" cy="362102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6400800" y="1141171"/>
            <a:ext cx="171907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648602" y="1114654"/>
            <a:ext cx="154167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BY examples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6400800" y="1548994"/>
            <a:ext cx="22805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Top 10 orders by value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8571586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38" name="Text 27"/>
          <p:cNvSpPr txBox="1"/>
          <p:nvPr/>
        </p:nvSpPr>
        <p:spPr>
          <a:xfrm>
            <a:off x="9091879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o.ORDER_ID,</a:t>
            </a:r>
            <a:endParaRPr lang="en-US" sz="1100" dirty="0"/>
          </a:p>
        </p:txBody>
      </p:sp>
      <p:sp>
        <p:nvSpPr>
          <p:cNvPr id="39" name="Text 28"/>
          <p:cNvSpPr txBox="1"/>
          <p:nvPr/>
        </p:nvSpPr>
        <p:spPr>
          <a:xfrm>
            <a:off x="10047427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40" name="Text 29"/>
          <p:cNvSpPr txBox="1"/>
          <p:nvPr/>
        </p:nvSpPr>
        <p:spPr>
          <a:xfrm>
            <a:off x="10307117" y="1548994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</a:t>
            </a:r>
            <a:endParaRPr lang="en-US" sz="1100" dirty="0"/>
          </a:p>
        </p:txBody>
      </p:sp>
      <p:sp>
        <p:nvSpPr>
          <p:cNvPr id="41" name="Text 30"/>
          <p:cNvSpPr txBox="1"/>
          <p:nvPr/>
        </p:nvSpPr>
        <p:spPr>
          <a:xfrm>
            <a:off x="12825374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42" name="Text 31"/>
          <p:cNvSpPr txBox="1"/>
          <p:nvPr/>
        </p:nvSpPr>
        <p:spPr>
          <a:xfrm>
            <a:off x="12999110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13953744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44" name="Text 33"/>
          <p:cNvSpPr txBox="1"/>
          <p:nvPr/>
        </p:nvSpPr>
        <p:spPr>
          <a:xfrm>
            <a:off x="14301216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</p:txBody>
      </p:sp>
      <p:sp>
        <p:nvSpPr>
          <p:cNvPr id="45" name="Text 34"/>
          <p:cNvSpPr txBox="1"/>
          <p:nvPr/>
        </p:nvSpPr>
        <p:spPr>
          <a:xfrm>
            <a:off x="14996160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46" name="Text 35"/>
          <p:cNvSpPr txBox="1"/>
          <p:nvPr/>
        </p:nvSpPr>
        <p:spPr>
          <a:xfrm>
            <a:off x="15342718" y="1548994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47" name="Text 36"/>
          <p:cNvSpPr txBox="1"/>
          <p:nvPr/>
        </p:nvSpPr>
        <p:spPr>
          <a:xfrm>
            <a:off x="16558870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48" name="Text 37"/>
          <p:cNvSpPr txBox="1"/>
          <p:nvPr/>
        </p:nvSpPr>
        <p:spPr>
          <a:xfrm>
            <a:off x="16732606" y="1548994"/>
            <a:ext cx="2194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100" dirty="0"/>
          </a:p>
        </p:txBody>
      </p:sp>
      <p:sp>
        <p:nvSpPr>
          <p:cNvPr id="49" name="Text 38"/>
          <p:cNvSpPr txBox="1"/>
          <p:nvPr/>
        </p:nvSpPr>
        <p:spPr>
          <a:xfrm>
            <a:off x="18815609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50" name="Text 39"/>
          <p:cNvSpPr txBox="1"/>
          <p:nvPr/>
        </p:nvSpPr>
        <p:spPr>
          <a:xfrm>
            <a:off x="19510553" y="1548994"/>
            <a:ext cx="9857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</a:t>
            </a:r>
            <a:endParaRPr lang="en-US" sz="1100" dirty="0"/>
          </a:p>
        </p:txBody>
      </p:sp>
      <p:sp>
        <p:nvSpPr>
          <p:cNvPr id="51" name="Text 40"/>
          <p:cNvSpPr txBox="1"/>
          <p:nvPr/>
        </p:nvSpPr>
        <p:spPr>
          <a:xfrm>
            <a:off x="20378318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00" dirty="0"/>
          </a:p>
        </p:txBody>
      </p:sp>
      <p:sp>
        <p:nvSpPr>
          <p:cNvPr id="52" name="Text 41"/>
          <p:cNvSpPr txBox="1"/>
          <p:nvPr/>
        </p:nvSpPr>
        <p:spPr>
          <a:xfrm>
            <a:off x="21073262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</a:t>
            </a:r>
            <a:endParaRPr lang="en-US" sz="1100" dirty="0"/>
          </a:p>
        </p:txBody>
      </p:sp>
      <p:sp>
        <p:nvSpPr>
          <p:cNvPr id="53" name="Text 42"/>
          <p:cNvSpPr txBox="1"/>
          <p:nvPr/>
        </p:nvSpPr>
        <p:spPr>
          <a:xfrm>
            <a:off x="22027896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00" dirty="0"/>
          </a:p>
        </p:txBody>
      </p:sp>
      <p:sp>
        <p:nvSpPr>
          <p:cNvPr id="54" name="Text 43"/>
          <p:cNvSpPr txBox="1"/>
          <p:nvPr/>
        </p:nvSpPr>
        <p:spPr>
          <a:xfrm>
            <a:off x="22375368" y="1548994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NULLS</a:t>
            </a:r>
            <a:endParaRPr lang="en-US" sz="1100" dirty="0"/>
          </a:p>
        </p:txBody>
      </p:sp>
      <p:sp>
        <p:nvSpPr>
          <p:cNvPr id="55" name="Text 44"/>
          <p:cNvSpPr txBox="1"/>
          <p:nvPr/>
        </p:nvSpPr>
        <p:spPr>
          <a:xfrm>
            <a:off x="22809708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</a:t>
            </a:r>
            <a:endParaRPr lang="en-US" sz="1100" dirty="0"/>
          </a:p>
        </p:txBody>
      </p:sp>
      <p:sp>
        <p:nvSpPr>
          <p:cNvPr id="56" name="Text 45"/>
          <p:cNvSpPr txBox="1"/>
          <p:nvPr/>
        </p:nvSpPr>
        <p:spPr>
          <a:xfrm>
            <a:off x="23157180" y="1548994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lang="en-US" sz="1100" dirty="0"/>
          </a:p>
        </p:txBody>
      </p:sp>
      <p:sp>
        <p:nvSpPr>
          <p:cNvPr id="57" name="Text 46"/>
          <p:cNvSpPr txBox="1"/>
          <p:nvPr/>
        </p:nvSpPr>
        <p:spPr>
          <a:xfrm>
            <a:off x="23591520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10;</a:t>
            </a:r>
            <a:endParaRPr lang="en-US" sz="1100" dirty="0"/>
          </a:p>
        </p:txBody>
      </p:sp>
      <p:sp>
        <p:nvSpPr>
          <p:cNvPr id="58" name="Text 47"/>
          <p:cNvSpPr txBox="1"/>
          <p:nvPr/>
        </p:nvSpPr>
        <p:spPr>
          <a:xfrm>
            <a:off x="23851210" y="1548994"/>
            <a:ext cx="18516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Multi-column sort</a:t>
            </a:r>
            <a:endParaRPr lang="en-US" sz="1100" dirty="0"/>
          </a:p>
        </p:txBody>
      </p:sp>
      <p:sp>
        <p:nvSpPr>
          <p:cNvPr id="59" name="Text 48"/>
          <p:cNvSpPr txBox="1"/>
          <p:nvPr/>
        </p:nvSpPr>
        <p:spPr>
          <a:xfrm>
            <a:off x="25587655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60" name="Text 49"/>
          <p:cNvSpPr txBox="1"/>
          <p:nvPr/>
        </p:nvSpPr>
        <p:spPr>
          <a:xfrm>
            <a:off x="26108863" y="1548994"/>
            <a:ext cx="24615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PRODUCT_ID, CATEGORY, PRICE</a:t>
            </a:r>
            <a:endParaRPr lang="en-US" sz="1100" dirty="0"/>
          </a:p>
        </p:txBody>
      </p:sp>
      <p:sp>
        <p:nvSpPr>
          <p:cNvPr id="61" name="Text 50"/>
          <p:cNvSpPr txBox="1"/>
          <p:nvPr/>
        </p:nvSpPr>
        <p:spPr>
          <a:xfrm>
            <a:off x="28452470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62" name="Text 51"/>
          <p:cNvSpPr txBox="1"/>
          <p:nvPr/>
        </p:nvSpPr>
        <p:spPr>
          <a:xfrm>
            <a:off x="28799942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1100" dirty="0"/>
          </a:p>
        </p:txBody>
      </p:sp>
      <p:sp>
        <p:nvSpPr>
          <p:cNvPr id="63" name="Text 52"/>
          <p:cNvSpPr txBox="1"/>
          <p:nvPr/>
        </p:nvSpPr>
        <p:spPr>
          <a:xfrm>
            <a:off x="29494886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00" dirty="0"/>
          </a:p>
        </p:txBody>
      </p:sp>
      <p:sp>
        <p:nvSpPr>
          <p:cNvPr id="64" name="Text 53"/>
          <p:cNvSpPr txBox="1"/>
          <p:nvPr/>
        </p:nvSpPr>
        <p:spPr>
          <a:xfrm>
            <a:off x="30188916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100" dirty="0"/>
          </a:p>
        </p:txBody>
      </p:sp>
      <p:sp>
        <p:nvSpPr>
          <p:cNvPr id="65" name="Text 54"/>
          <p:cNvSpPr txBox="1"/>
          <p:nvPr/>
        </p:nvSpPr>
        <p:spPr>
          <a:xfrm>
            <a:off x="30883860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</a:t>
            </a:r>
            <a:endParaRPr lang="en-US" sz="1100" dirty="0"/>
          </a:p>
        </p:txBody>
      </p:sp>
      <p:sp>
        <p:nvSpPr>
          <p:cNvPr id="66" name="Text 55"/>
          <p:cNvSpPr txBox="1"/>
          <p:nvPr/>
        </p:nvSpPr>
        <p:spPr>
          <a:xfrm>
            <a:off x="6400800" y="1548994"/>
            <a:ext cx="2502621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PRICE</a:t>
            </a:r>
            <a:endParaRPr lang="en-US" sz="1100" dirty="0"/>
          </a:p>
        </p:txBody>
      </p:sp>
      <p:sp>
        <p:nvSpPr>
          <p:cNvPr id="67" name="Text 56"/>
          <p:cNvSpPr txBox="1"/>
          <p:nvPr/>
        </p:nvSpPr>
        <p:spPr>
          <a:xfrm>
            <a:off x="7616038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00" dirty="0"/>
          </a:p>
        </p:txBody>
      </p:sp>
      <p:sp>
        <p:nvSpPr>
          <p:cNvPr id="68" name="Text 57"/>
          <p:cNvSpPr txBox="1"/>
          <p:nvPr/>
        </p:nvSpPr>
        <p:spPr>
          <a:xfrm>
            <a:off x="7963510" y="1765706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69" name="Text 58"/>
          <p:cNvSpPr txBox="1"/>
          <p:nvPr/>
        </p:nvSpPr>
        <p:spPr>
          <a:xfrm>
            <a:off x="8050378" y="1765706"/>
            <a:ext cx="19376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Sort by expression</a:t>
            </a:r>
            <a:endParaRPr lang="en-US" sz="1100" dirty="0"/>
          </a:p>
        </p:txBody>
      </p:sp>
      <p:sp>
        <p:nvSpPr>
          <p:cNvPr id="70" name="Text 59"/>
          <p:cNvSpPr txBox="1"/>
          <p:nvPr/>
        </p:nvSpPr>
        <p:spPr>
          <a:xfrm>
            <a:off x="9873691" y="1765706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71" name="Text 60"/>
          <p:cNvSpPr txBox="1"/>
          <p:nvPr/>
        </p:nvSpPr>
        <p:spPr>
          <a:xfrm>
            <a:off x="10394899" y="1765706"/>
            <a:ext cx="23664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CUSTOMER_NAME, CITY, STATE</a:t>
            </a:r>
            <a:endParaRPr lang="en-US" sz="1100" dirty="0"/>
          </a:p>
        </p:txBody>
      </p:sp>
      <p:sp>
        <p:nvSpPr>
          <p:cNvPr id="72" name="Text 61"/>
          <p:cNvSpPr txBox="1"/>
          <p:nvPr/>
        </p:nvSpPr>
        <p:spPr>
          <a:xfrm>
            <a:off x="12651638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73" name="Text 62"/>
          <p:cNvSpPr txBox="1"/>
          <p:nvPr/>
        </p:nvSpPr>
        <p:spPr>
          <a:xfrm>
            <a:off x="12999110" y="1765706"/>
            <a:ext cx="8997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74" name="Text 63"/>
          <p:cNvSpPr txBox="1"/>
          <p:nvPr/>
        </p:nvSpPr>
        <p:spPr>
          <a:xfrm>
            <a:off x="13780008" y="1765706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00" dirty="0"/>
          </a:p>
        </p:txBody>
      </p:sp>
      <p:sp>
        <p:nvSpPr>
          <p:cNvPr id="75" name="Text 64"/>
          <p:cNvSpPr txBox="1"/>
          <p:nvPr/>
        </p:nvSpPr>
        <p:spPr>
          <a:xfrm>
            <a:off x="14474952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100" dirty="0"/>
          </a:p>
        </p:txBody>
      </p:sp>
      <p:sp>
        <p:nvSpPr>
          <p:cNvPr id="76" name="Text 65"/>
          <p:cNvSpPr txBox="1"/>
          <p:nvPr/>
        </p:nvSpPr>
        <p:spPr>
          <a:xfrm>
            <a:off x="14822424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endParaRPr lang="en-US" sz="1100" dirty="0"/>
          </a:p>
        </p:txBody>
      </p:sp>
      <p:sp>
        <p:nvSpPr>
          <p:cNvPr id="77" name="Text 66"/>
          <p:cNvSpPr txBox="1"/>
          <p:nvPr/>
        </p:nvSpPr>
        <p:spPr>
          <a:xfrm>
            <a:off x="15169896" y="1765706"/>
            <a:ext cx="11567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'CA'</a:t>
            </a:r>
            <a:endParaRPr lang="en-US" sz="1100" dirty="0"/>
          </a:p>
        </p:txBody>
      </p:sp>
      <p:sp>
        <p:nvSpPr>
          <p:cNvPr id="78" name="Text 67"/>
          <p:cNvSpPr txBox="1"/>
          <p:nvPr/>
        </p:nvSpPr>
        <p:spPr>
          <a:xfrm>
            <a:off x="16211398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100" dirty="0"/>
          </a:p>
        </p:txBody>
      </p:sp>
      <p:sp>
        <p:nvSpPr>
          <p:cNvPr id="79" name="Text 68"/>
          <p:cNvSpPr txBox="1"/>
          <p:nvPr/>
        </p:nvSpPr>
        <p:spPr>
          <a:xfrm>
            <a:off x="16558870" y="1765706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80" name="Text 69"/>
          <p:cNvSpPr txBox="1"/>
          <p:nvPr/>
        </p:nvSpPr>
        <p:spPr>
          <a:xfrm>
            <a:off x="16645738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endParaRPr lang="en-US" sz="1100" dirty="0"/>
          </a:p>
        </p:txBody>
      </p:sp>
      <p:sp>
        <p:nvSpPr>
          <p:cNvPr id="81" name="Text 70"/>
          <p:cNvSpPr txBox="1"/>
          <p:nvPr/>
        </p:nvSpPr>
        <p:spPr>
          <a:xfrm>
            <a:off x="16993210" y="1765706"/>
            <a:ext cx="11567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'NY'</a:t>
            </a:r>
            <a:endParaRPr lang="en-US" sz="1100" dirty="0"/>
          </a:p>
        </p:txBody>
      </p:sp>
      <p:sp>
        <p:nvSpPr>
          <p:cNvPr id="82" name="Text 71"/>
          <p:cNvSpPr txBox="1"/>
          <p:nvPr/>
        </p:nvSpPr>
        <p:spPr>
          <a:xfrm>
            <a:off x="18034711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100" dirty="0"/>
          </a:p>
        </p:txBody>
      </p:sp>
      <p:sp>
        <p:nvSpPr>
          <p:cNvPr id="83" name="Text 72"/>
          <p:cNvSpPr txBox="1"/>
          <p:nvPr/>
        </p:nvSpPr>
        <p:spPr>
          <a:xfrm>
            <a:off x="18382183" y="1765706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84" name="Text 73"/>
          <p:cNvSpPr txBox="1"/>
          <p:nvPr/>
        </p:nvSpPr>
        <p:spPr>
          <a:xfrm>
            <a:off x="18469051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100" dirty="0"/>
          </a:p>
        </p:txBody>
      </p:sp>
      <p:sp>
        <p:nvSpPr>
          <p:cNvPr id="85" name="Text 74"/>
          <p:cNvSpPr txBox="1"/>
          <p:nvPr/>
        </p:nvSpPr>
        <p:spPr>
          <a:xfrm>
            <a:off x="18816523" y="1765706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Text 75"/>
          <p:cNvSpPr txBox="1"/>
          <p:nvPr/>
        </p:nvSpPr>
        <p:spPr>
          <a:xfrm>
            <a:off x="18903391" y="1765706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87" name="Text 76"/>
          <p:cNvSpPr txBox="1"/>
          <p:nvPr/>
        </p:nvSpPr>
        <p:spPr>
          <a:xfrm>
            <a:off x="19163995" y="1765706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88" name="Shape 77"/>
          <p:cNvSpPr/>
          <p:nvPr/>
        </p:nvSpPr>
        <p:spPr>
          <a:xfrm>
            <a:off x="0" y="6439205"/>
            <a:ext cx="12191695" cy="4187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9" name="Text 78"/>
          <p:cNvSpPr txBox="1"/>
          <p:nvPr/>
        </p:nvSpPr>
        <p:spPr>
          <a:xfrm>
            <a:off x="381305" y="6553505"/>
            <a:ext cx="21003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&amp; Snowflake Training Series</a:t>
            </a:r>
            <a:endParaRPr lang="en-US" sz="1000" dirty="0"/>
          </a:p>
        </p:txBody>
      </p:sp>
      <p:pic>
        <p:nvPicPr>
          <p:cNvPr id="90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91526" y="6579108"/>
            <a:ext cx="133502" cy="133502"/>
          </a:xfrm>
          <a:prstGeom prst="rect">
            <a:avLst/>
          </a:prstGeom>
        </p:spPr>
      </p:pic>
      <p:sp>
        <p:nvSpPr>
          <p:cNvPr id="91" name="Text 79"/>
          <p:cNvSpPr txBox="1"/>
          <p:nvPr/>
        </p:nvSpPr>
        <p:spPr>
          <a:xfrm>
            <a:off x="8263433" y="6553505"/>
            <a:ext cx="31482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BY appears after GROUP BY, before LIMIT</a:t>
            </a:r>
            <a:endParaRPr lang="en-US" sz="1000" dirty="0"/>
          </a:p>
        </p:txBody>
      </p:sp>
      <p:sp>
        <p:nvSpPr>
          <p:cNvPr id="92" name="Text 80"/>
          <p:cNvSpPr txBox="1"/>
          <p:nvPr/>
        </p:nvSpPr>
        <p:spPr>
          <a:xfrm>
            <a:off x="11462004" y="6553505"/>
            <a:ext cx="4526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35838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330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133502"/>
            <a:ext cx="40197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INNER JOIN: Definition and Examples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1305" y="724205"/>
            <a:ext cx="9201607" cy="1466698"/>
          </a:xfrm>
          <a:prstGeom prst="roundRect">
            <a:avLst>
              <a:gd name="adj" fmla="val 3239"/>
            </a:avLst>
          </a:prstGeom>
          <a:solidFill>
            <a:srgbClr val="E3F2FD"/>
          </a:solidFill>
          <a:ln/>
        </p:spPr>
      </p:sp>
      <p:sp>
        <p:nvSpPr>
          <p:cNvPr id="6" name="Shape 4"/>
          <p:cNvSpPr/>
          <p:nvPr/>
        </p:nvSpPr>
        <p:spPr>
          <a:xfrm>
            <a:off x="381305" y="724205"/>
            <a:ext cx="38405" cy="1466698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2356" y="886054"/>
            <a:ext cx="981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2356" y="1228954"/>
            <a:ext cx="5639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rows that have matching values in both tables based on the join condition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2356" y="1533449"/>
            <a:ext cx="2867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common type of join operation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2356" y="1837944"/>
            <a:ext cx="35250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Equivalent to the intersection of two tables (A ∩ B)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1305" y="2361895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Characteristics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704795"/>
            <a:ext cx="3505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Non-matching rows from either table are excluded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2971800"/>
            <a:ext cx="2820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contains only complete matches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238805"/>
            <a:ext cx="4219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word "INNER" is optional (just JOIN implies INNER JOIN)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1305" y="361919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1: Orders with Customer Names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1305" y="3943807"/>
            <a:ext cx="9201607" cy="390449"/>
          </a:xfrm>
          <a:prstGeom prst="roundRect">
            <a:avLst>
              <a:gd name="adj" fmla="val 45696"/>
            </a:avLst>
          </a:prstGeom>
          <a:solidFill>
            <a:srgbClr val="F5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305" y="3943807"/>
            <a:ext cx="38405" cy="390449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4807" y="4058107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275734" y="4058107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235854" y="4058107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INNER JOIN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916522" y="4058107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94867" y="4058107"/>
            <a:ext cx="33869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o.ORDER_ID, c.CUSTOMER_NAME, o.ORDER_DATE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95774" y="4058107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ORDERS 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035954" y="4058107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CUSTOMERS c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076542" y="4058107"/>
            <a:ext cx="2510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o.CUSTOMER_ID = c.CUSTOMER_ID;</a:t>
            </a:r>
            <a:endParaRPr lang="en-US" sz="10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305" y="4454957"/>
            <a:ext cx="133502" cy="13350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14807" y="4448556"/>
            <a:ext cx="3091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only orders that have matching customers</a:t>
            </a:r>
            <a:endParaRPr lang="en-US" sz="10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 l="-12" r="-12"/>
          <a:stretch/>
        </p:blipFill>
        <p:spPr>
          <a:xfrm>
            <a:off x="6332219" y="571500"/>
            <a:ext cx="3810305" cy="190469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499452" y="2520108"/>
            <a:ext cx="1981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Table Mapping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9763049" y="3114446"/>
            <a:ext cx="657454" cy="276149"/>
          </a:xfrm>
          <a:prstGeom prst="roundRect">
            <a:avLst>
              <a:gd name="adj" fmla="val 45672"/>
            </a:avLst>
          </a:prstGeom>
          <a:solidFill>
            <a:srgbClr val="0747A6"/>
          </a:solidFill>
          <a:ln/>
        </p:spPr>
      </p:sp>
      <p:sp>
        <p:nvSpPr>
          <p:cNvPr id="31" name="Shape 27"/>
          <p:cNvSpPr/>
          <p:nvPr/>
        </p:nvSpPr>
        <p:spPr>
          <a:xfrm>
            <a:off x="10642702" y="3114446"/>
            <a:ext cx="1037844" cy="276149"/>
          </a:xfrm>
          <a:prstGeom prst="roundRect">
            <a:avLst>
              <a:gd name="adj" fmla="val 45672"/>
            </a:avLst>
          </a:prstGeom>
          <a:solidFill>
            <a:srgbClr val="0747A6"/>
          </a:solidFill>
          <a:ln/>
        </p:spPr>
      </p:sp>
      <p:sp>
        <p:nvSpPr>
          <p:cNvPr id="32" name="Shape 28"/>
          <p:cNvSpPr/>
          <p:nvPr/>
        </p:nvSpPr>
        <p:spPr>
          <a:xfrm>
            <a:off x="12341657" y="3114446"/>
            <a:ext cx="933602" cy="276149"/>
          </a:xfrm>
          <a:prstGeom prst="roundRect">
            <a:avLst>
              <a:gd name="adj" fmla="val 45672"/>
            </a:avLst>
          </a:prstGeom>
          <a:solidFill>
            <a:srgbClr val="0747A6"/>
          </a:solidFill>
          <a:ln/>
        </p:spPr>
      </p:sp>
      <p:sp>
        <p:nvSpPr>
          <p:cNvPr id="33" name="Shape 29"/>
          <p:cNvSpPr/>
          <p:nvPr/>
        </p:nvSpPr>
        <p:spPr>
          <a:xfrm>
            <a:off x="13498373" y="3114446"/>
            <a:ext cx="1037844" cy="276149"/>
          </a:xfrm>
          <a:prstGeom prst="roundRect">
            <a:avLst>
              <a:gd name="adj" fmla="val 45672"/>
            </a:avLst>
          </a:prstGeom>
          <a:solidFill>
            <a:srgbClr val="0747A6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839858" y="3172054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ORDERS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0718597" y="3172054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CUSTOMER_ID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2417552" y="3172054"/>
            <a:ext cx="881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3574268" y="3172054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CUSTOMER_ID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10489997" y="3176626"/>
            <a:ext cx="267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11751869" y="3176626"/>
            <a:ext cx="705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matches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13345668" y="3176626"/>
            <a:ext cx="267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9763049" y="3676802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2: Multi-Table Join</a:t>
            </a:r>
            <a:endParaRPr lang="en-US" sz="1500" dirty="0"/>
          </a:p>
        </p:txBody>
      </p:sp>
      <p:sp>
        <p:nvSpPr>
          <p:cNvPr id="42" name="Shape 38"/>
          <p:cNvSpPr/>
          <p:nvPr/>
        </p:nvSpPr>
        <p:spPr>
          <a:xfrm>
            <a:off x="9763049" y="4000500"/>
            <a:ext cx="13515746" cy="590702"/>
          </a:xfrm>
          <a:prstGeom prst="roundRect">
            <a:avLst>
              <a:gd name="adj" fmla="val 19974"/>
            </a:avLst>
          </a:prstGeom>
          <a:solidFill>
            <a:srgbClr val="F5F7F9"/>
          </a:solidFill>
          <a:ln/>
        </p:spPr>
      </p:sp>
      <p:sp>
        <p:nvSpPr>
          <p:cNvPr id="43" name="Shape 39"/>
          <p:cNvSpPr/>
          <p:nvPr/>
        </p:nvSpPr>
        <p:spPr>
          <a:xfrm>
            <a:off x="9763049" y="4000500"/>
            <a:ext cx="38405" cy="590702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9896551" y="4114800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2537338" y="4315054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13497458" y="4315054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14938553" y="4315054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17018813" y="4315054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18139867" y="4315054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20540167" y="4315054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47A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WHERE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9839858" y="4282976"/>
            <a:ext cx="28245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o.ORDER_ID, p.PRODUCT_NAME,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oi.QUANTITY, oi.UNIT_PRICE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12857378" y="4315054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ORDERS o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13817498" y="4315054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ORDER_ITEMS oi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15098573" y="4315054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o.ORDER_ID = oi.ORDER_ID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17338853" y="4315054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PRODUCTS p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18299887" y="4315054"/>
            <a:ext cx="23481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oi.PRODUCT_ID = p.PRODUCT_ID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20940674" y="4315054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o.ORDER_DATE &gt;=</a:t>
            </a:r>
            <a:endParaRPr lang="en-US" sz="1000" dirty="0"/>
          </a:p>
        </p:txBody>
      </p:sp>
      <p:sp>
        <p:nvSpPr>
          <p:cNvPr id="58" name="Text 54"/>
          <p:cNvSpPr txBox="1"/>
          <p:nvPr/>
        </p:nvSpPr>
        <p:spPr>
          <a:xfrm>
            <a:off x="23101402" y="4315054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22141282" y="4315054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'2023-01-01'</a:t>
            </a:r>
            <a:endParaRPr lang="en-US" sz="1000" dirty="0"/>
          </a:p>
        </p:txBody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9763049" y="4712818"/>
            <a:ext cx="105156" cy="133502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9868205" y="4705502"/>
            <a:ext cx="4415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Multi-table joins connect data from 3+ tables for comprehensive analysis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5112221" y="5337963"/>
            <a:ext cx="13515746" cy="1067105"/>
          </a:xfrm>
          <a:prstGeom prst="roundRect">
            <a:avLst>
              <a:gd name="adj" fmla="val 4591"/>
            </a:avLst>
          </a:prstGeom>
          <a:solidFill>
            <a:srgbClr val="FFFBEB"/>
          </a:solidFill>
          <a:ln/>
        </p:spPr>
      </p:sp>
      <p:sp>
        <p:nvSpPr>
          <p:cNvPr id="63" name="Shape 58"/>
          <p:cNvSpPr/>
          <p:nvPr/>
        </p:nvSpPr>
        <p:spPr>
          <a:xfrm>
            <a:off x="9763049" y="4990795"/>
            <a:ext cx="38405" cy="1067105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4" name="Text 59"/>
          <p:cNvSpPr txBox="1"/>
          <p:nvPr/>
        </p:nvSpPr>
        <p:spPr>
          <a:xfrm>
            <a:off x="6020409" y="5324551"/>
            <a:ext cx="1114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65" name="Text 60"/>
          <p:cNvSpPr txBox="1"/>
          <p:nvPr/>
        </p:nvSpPr>
        <p:spPr>
          <a:xfrm>
            <a:off x="5373929" y="5544007"/>
            <a:ext cx="34052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qualify columns with table aliases (o.ORDER_ID)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5346498" y="5763463"/>
            <a:ext cx="32150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meaningful table aliases (orders → o, not a, b, c)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5293919" y="5982919"/>
            <a:ext cx="2205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join conditions for all tables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9062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276149"/>
            <a:ext cx="39822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JOIN and RIGHT JOIN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1228954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47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JOIN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4286707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47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JOIN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7343546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47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NULL Handling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38951" y="1228954"/>
            <a:ext cx="4668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47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JOIN Example: Customers With/Without Orders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38951" y="3258007"/>
            <a:ext cx="2839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47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Customers Without Orders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38951" y="5286146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47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Products With Latest Order Dates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1305" y="1561795"/>
            <a:ext cx="5572354" cy="647395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81305" y="1561795"/>
            <a:ext cx="38405" cy="6473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13" name="Shape 11"/>
          <p:cNvSpPr/>
          <p:nvPr/>
        </p:nvSpPr>
        <p:spPr>
          <a:xfrm>
            <a:off x="381305" y="4619549"/>
            <a:ext cx="5572354" cy="647395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81305" y="4619549"/>
            <a:ext cx="38405" cy="6473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4807" y="1676095"/>
            <a:ext cx="51627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all rows from the left table and matching rows from the right table. When no match, NULL values appear in right columns.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4807" y="4733849"/>
            <a:ext cx="51627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all rows from the right table and matching rows from the left table. When no match, NULL values appear in left columns.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24482" y="2352751"/>
            <a:ext cx="2286000" cy="171450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24482" y="5410505"/>
            <a:ext cx="2286000" cy="17145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18465" y="7696505"/>
            <a:ext cx="5086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Non-matched rows contain NULL values in columns from the "other" table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18465" y="8010144"/>
            <a:ext cx="4782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IS NULL to find unmatched rows (e.g., customers with no orders)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18465" y="8324698"/>
            <a:ext cx="47247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COALESCE(column, default) to provide default values for NULLs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238951" y="1561795"/>
            <a:ext cx="5572354" cy="1571854"/>
          </a:xfrm>
          <a:prstGeom prst="roundRect">
            <a:avLst>
              <a:gd name="adj" fmla="val 2115"/>
            </a:avLst>
          </a:prstGeom>
          <a:solidFill>
            <a:srgbClr val="F5F7F9"/>
          </a:solidFill>
          <a:ln/>
        </p:spPr>
      </p:sp>
      <p:sp>
        <p:nvSpPr>
          <p:cNvPr id="23" name="Shape 19"/>
          <p:cNvSpPr/>
          <p:nvPr/>
        </p:nvSpPr>
        <p:spPr>
          <a:xfrm>
            <a:off x="6238951" y="3590849"/>
            <a:ext cx="5572354" cy="1571854"/>
          </a:xfrm>
          <a:prstGeom prst="roundRect">
            <a:avLst>
              <a:gd name="adj" fmla="val 2115"/>
            </a:avLst>
          </a:prstGeom>
          <a:solidFill>
            <a:srgbClr val="F5F7F9"/>
          </a:solidFill>
          <a:ln/>
        </p:spPr>
      </p:sp>
      <p:sp>
        <p:nvSpPr>
          <p:cNvPr id="24" name="Shape 20"/>
          <p:cNvSpPr/>
          <p:nvPr/>
        </p:nvSpPr>
        <p:spPr>
          <a:xfrm>
            <a:off x="6238951" y="5619902"/>
            <a:ext cx="5572354" cy="2219249"/>
          </a:xfrm>
          <a:prstGeom prst="roundRect">
            <a:avLst>
              <a:gd name="adj" fmla="val 1061"/>
            </a:avLst>
          </a:prstGeom>
          <a:solidFill>
            <a:srgbClr val="F5F7F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81598" y="1714500"/>
            <a:ext cx="19174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c.CUSTOMER_ID,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381598" y="1928470"/>
            <a:ext cx="1488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c.CUSTOMER_NAME,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381598" y="2143354"/>
            <a:ext cx="974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6381598" y="2357323"/>
            <a:ext cx="1488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6381598" y="2572207"/>
            <a:ext cx="16605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6381598" y="2786177"/>
            <a:ext cx="29461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c.CUSTOMER_ID = o.CUSTOMER_ID;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6381598" y="3743554"/>
            <a:ext cx="19174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c.CUSTOMER_ID,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6381598" y="3957523"/>
            <a:ext cx="1402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c.CUSTOMER_NAME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6381598" y="4172407"/>
            <a:ext cx="1488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381598" y="4386377"/>
            <a:ext cx="16605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6381598" y="4600346"/>
            <a:ext cx="28602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c.CUSTOMER_ID = o.CUSTOMER_ID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6381598" y="4815230"/>
            <a:ext cx="22603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o.ORDER_ID IS NULL;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381598" y="5772607"/>
            <a:ext cx="18315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p.PRODUCT_ID,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6381598" y="5986577"/>
            <a:ext cx="1402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p.PRODUCT_NAME,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6381598" y="6200546"/>
            <a:ext cx="32031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MAX(o.ORDER_DATE) AS LAST_ORDER_DATE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6381598" y="6415430"/>
            <a:ext cx="1402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 p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6381598" y="6629400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ORDER_ITEMS oi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6381598" y="6843370"/>
            <a:ext cx="277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p.PRODUCT_ID = oi.PRODUCT_ID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6381598" y="7058254"/>
            <a:ext cx="16605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</a:t>
            </a:r>
            <a:endParaRPr 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6381598" y="7272223"/>
            <a:ext cx="24313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oi.ORDER_ID = o.ORDER_ID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6381598" y="7487107"/>
            <a:ext cx="33750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p.PRODUCT_ID, p.PRODUCT_NAME;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Shape 2"/>
          <p:cNvSpPr/>
          <p:nvPr/>
        </p:nvSpPr>
        <p:spPr>
          <a:xfrm>
            <a:off x="10668305" y="5333695"/>
            <a:ext cx="1524305" cy="1524305"/>
          </a:xfrm>
          <a:prstGeom prst="roundRect">
            <a:avLst>
              <a:gd name="adj" fmla="val 59988"/>
            </a:avLst>
          </a:prstGeom>
          <a:solidFill>
            <a:srgbClr val="0747A6">
              <a:alpha val="7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448056"/>
            <a:ext cx="38724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Aggregations with Joins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1047902"/>
            <a:ext cx="981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Patterns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29207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5002" y="1419149"/>
            <a:ext cx="27916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 tables first, then apply GROUP BY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52905"/>
            <a:ext cx="152705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5002" y="1742846"/>
            <a:ext cx="33814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at the appropriate grain (level of detail)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076602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5002" y="2066544"/>
            <a:ext cx="3924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column aliases to simplify GROUP BY expressions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381305" y="2495398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Watch out for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876702"/>
            <a:ext cx="152705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5002" y="2866644"/>
            <a:ext cx="36009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Duplication when joining 1-to-many relationships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200400"/>
            <a:ext cx="15270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05002" y="319125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DISTINCT unnecessarily (fix the join instead)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524098"/>
            <a:ext cx="152705" cy="1527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05002" y="3514954"/>
            <a:ext cx="3525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Forgetting HAVING for post-aggregation filtering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381305" y="3943807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Practices</a:t>
            </a:r>
            <a:endParaRPr lang="en-US" sz="15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57200" y="4324198"/>
            <a:ext cx="114300" cy="1527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66598" y="4315054"/>
            <a:ext cx="4000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row counts at each join step to avoid duplication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57200" y="4647895"/>
            <a:ext cx="114300" cy="15270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66598" y="4638751"/>
            <a:ext cx="4096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Pre-aggregate data in CTEs before joining when possible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57200" y="4972507"/>
            <a:ext cx="114300" cy="15270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66598" y="4962449"/>
            <a:ext cx="4686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COUNT(DISTINCT x) for accurate counting in 1-to-many joins</a:t>
            </a:r>
            <a:endParaRPr lang="en-US" sz="1200" dirty="0"/>
          </a:p>
        </p:txBody>
      </p:sp>
      <p:sp>
        <p:nvSpPr>
          <p:cNvPr id="27" name="Shape 16"/>
          <p:cNvSpPr/>
          <p:nvPr/>
        </p:nvSpPr>
        <p:spPr>
          <a:xfrm>
            <a:off x="6248095" y="1028700"/>
            <a:ext cx="5562295" cy="5029200"/>
          </a:xfrm>
          <a:prstGeom prst="roundRect">
            <a:avLst>
              <a:gd name="adj" fmla="val 207"/>
            </a:avLst>
          </a:prstGeom>
          <a:solidFill>
            <a:srgbClr val="1E293B"/>
          </a:solidFill>
          <a:ln/>
        </p:spPr>
      </p:sp>
      <p:sp>
        <p:nvSpPr>
          <p:cNvPr id="28" name="Shape 17"/>
          <p:cNvSpPr/>
          <p:nvPr/>
        </p:nvSpPr>
        <p:spPr>
          <a:xfrm>
            <a:off x="6248095" y="1028700"/>
            <a:ext cx="5562295" cy="362102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6400800" y="1141171"/>
            <a:ext cx="171907" cy="13350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648602" y="1114654"/>
            <a:ext cx="20272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Aggregating data with joins</a:t>
            </a:r>
            <a:endParaRPr lang="en-US" sz="1000" dirty="0"/>
          </a:p>
        </p:txBody>
      </p:sp>
      <p:sp>
        <p:nvSpPr>
          <p:cNvPr id="31" name="Text 19"/>
          <p:cNvSpPr txBox="1"/>
          <p:nvPr/>
        </p:nvSpPr>
        <p:spPr>
          <a:xfrm>
            <a:off x="6400800" y="1548994"/>
            <a:ext cx="27185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Revenue by customer segment</a:t>
            </a:r>
            <a:endParaRPr lang="en-US" sz="1100" dirty="0"/>
          </a:p>
        </p:txBody>
      </p:sp>
      <p:sp>
        <p:nvSpPr>
          <p:cNvPr id="32" name="Text 20"/>
          <p:cNvSpPr txBox="1"/>
          <p:nvPr/>
        </p:nvSpPr>
        <p:spPr>
          <a:xfrm>
            <a:off x="9005011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33" name="Text 21"/>
          <p:cNvSpPr txBox="1"/>
          <p:nvPr/>
        </p:nvSpPr>
        <p:spPr>
          <a:xfrm>
            <a:off x="9526219" y="1548994"/>
            <a:ext cx="9857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c.SEGMENT,</a:t>
            </a:r>
            <a:endParaRPr lang="en-US" sz="1100" dirty="0"/>
          </a:p>
        </p:txBody>
      </p:sp>
      <p:sp>
        <p:nvSpPr>
          <p:cNvPr id="34" name="Text 22"/>
          <p:cNvSpPr txBox="1"/>
          <p:nvPr/>
        </p:nvSpPr>
        <p:spPr>
          <a:xfrm>
            <a:off x="10393985" y="1548994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endParaRPr lang="en-US" sz="1100" dirty="0"/>
          </a:p>
        </p:txBody>
      </p:sp>
      <p:sp>
        <p:nvSpPr>
          <p:cNvPr id="35" name="Text 23"/>
          <p:cNvSpPr txBox="1"/>
          <p:nvPr/>
        </p:nvSpPr>
        <p:spPr>
          <a:xfrm>
            <a:off x="10828325" y="1548994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</p:txBody>
      </p:sp>
      <p:sp>
        <p:nvSpPr>
          <p:cNvPr id="36" name="Text 24"/>
          <p:cNvSpPr txBox="1"/>
          <p:nvPr/>
        </p:nvSpPr>
        <p:spPr>
          <a:xfrm>
            <a:off x="10915193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37" name="Text 25"/>
          <p:cNvSpPr txBox="1"/>
          <p:nvPr/>
        </p:nvSpPr>
        <p:spPr>
          <a:xfrm>
            <a:off x="11175797" y="1548994"/>
            <a:ext cx="29763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oi.UNIT_PRICE), 2)</a:t>
            </a:r>
            <a:endParaRPr lang="en-US" sz="1100" dirty="0"/>
          </a:p>
        </p:txBody>
      </p:sp>
      <p:sp>
        <p:nvSpPr>
          <p:cNvPr id="38" name="Text 26"/>
          <p:cNvSpPr txBox="1"/>
          <p:nvPr/>
        </p:nvSpPr>
        <p:spPr>
          <a:xfrm>
            <a:off x="14040612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39" name="Text 27"/>
          <p:cNvSpPr txBox="1"/>
          <p:nvPr/>
        </p:nvSpPr>
        <p:spPr>
          <a:xfrm>
            <a:off x="14214348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</a:t>
            </a:r>
            <a:endParaRPr lang="en-US" sz="1100" dirty="0"/>
          </a:p>
        </p:txBody>
      </p:sp>
      <p:sp>
        <p:nvSpPr>
          <p:cNvPr id="40" name="Text 28"/>
          <p:cNvSpPr txBox="1"/>
          <p:nvPr/>
        </p:nvSpPr>
        <p:spPr>
          <a:xfrm>
            <a:off x="14474952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41" name="Text 29"/>
          <p:cNvSpPr txBox="1"/>
          <p:nvPr/>
        </p:nvSpPr>
        <p:spPr>
          <a:xfrm>
            <a:off x="14821510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</a:t>
            </a:r>
            <a:endParaRPr lang="en-US" sz="1100" dirty="0"/>
          </a:p>
        </p:txBody>
      </p:sp>
      <p:sp>
        <p:nvSpPr>
          <p:cNvPr id="42" name="Text 30"/>
          <p:cNvSpPr txBox="1"/>
          <p:nvPr/>
        </p:nvSpPr>
        <p:spPr>
          <a:xfrm>
            <a:off x="15777058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43" name="Text 31"/>
          <p:cNvSpPr txBox="1"/>
          <p:nvPr/>
        </p:nvSpPr>
        <p:spPr>
          <a:xfrm>
            <a:off x="16124530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</p:txBody>
      </p:sp>
      <p:sp>
        <p:nvSpPr>
          <p:cNvPr id="44" name="Text 32"/>
          <p:cNvSpPr txBox="1"/>
          <p:nvPr/>
        </p:nvSpPr>
        <p:spPr>
          <a:xfrm>
            <a:off x="16818559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45" name="Text 33"/>
          <p:cNvSpPr txBox="1"/>
          <p:nvPr/>
        </p:nvSpPr>
        <p:spPr>
          <a:xfrm>
            <a:off x="16992295" y="1548994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 = o.CUSTOMER_ID</a:t>
            </a:r>
            <a:endParaRPr lang="en-US" sz="1100" dirty="0"/>
          </a:p>
        </p:txBody>
      </p:sp>
      <p:sp>
        <p:nvSpPr>
          <p:cNvPr id="46" name="Text 34"/>
          <p:cNvSpPr txBox="1"/>
          <p:nvPr/>
        </p:nvSpPr>
        <p:spPr>
          <a:xfrm>
            <a:off x="19510553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47" name="Text 35"/>
          <p:cNvSpPr txBox="1"/>
          <p:nvPr/>
        </p:nvSpPr>
        <p:spPr>
          <a:xfrm>
            <a:off x="19857110" y="1548994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48" name="Text 36"/>
          <p:cNvSpPr txBox="1"/>
          <p:nvPr/>
        </p:nvSpPr>
        <p:spPr>
          <a:xfrm>
            <a:off x="21073262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49" name="Text 37"/>
          <p:cNvSpPr txBox="1"/>
          <p:nvPr/>
        </p:nvSpPr>
        <p:spPr>
          <a:xfrm>
            <a:off x="21246998" y="1548994"/>
            <a:ext cx="2194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100" dirty="0"/>
          </a:p>
        </p:txBody>
      </p:sp>
      <p:sp>
        <p:nvSpPr>
          <p:cNvPr id="50" name="Text 38"/>
          <p:cNvSpPr txBox="1"/>
          <p:nvPr/>
        </p:nvSpPr>
        <p:spPr>
          <a:xfrm>
            <a:off x="23330002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51" name="Text 39"/>
          <p:cNvSpPr txBox="1"/>
          <p:nvPr/>
        </p:nvSpPr>
        <p:spPr>
          <a:xfrm>
            <a:off x="24024946" y="1548994"/>
            <a:ext cx="8997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c.SEGMENT</a:t>
            </a:r>
            <a:endParaRPr lang="en-US" sz="1100" dirty="0"/>
          </a:p>
        </p:txBody>
      </p:sp>
      <p:sp>
        <p:nvSpPr>
          <p:cNvPr id="52" name="Text 40"/>
          <p:cNvSpPr txBox="1"/>
          <p:nvPr/>
        </p:nvSpPr>
        <p:spPr>
          <a:xfrm>
            <a:off x="24805843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00" dirty="0"/>
          </a:p>
        </p:txBody>
      </p:sp>
      <p:sp>
        <p:nvSpPr>
          <p:cNvPr id="53" name="Text 41"/>
          <p:cNvSpPr txBox="1"/>
          <p:nvPr/>
        </p:nvSpPr>
        <p:spPr>
          <a:xfrm>
            <a:off x="25500787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</a:t>
            </a:r>
            <a:endParaRPr lang="en-US" sz="1100" dirty="0"/>
          </a:p>
        </p:txBody>
      </p:sp>
      <p:sp>
        <p:nvSpPr>
          <p:cNvPr id="54" name="Text 42"/>
          <p:cNvSpPr txBox="1"/>
          <p:nvPr/>
        </p:nvSpPr>
        <p:spPr>
          <a:xfrm>
            <a:off x="25761391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00" dirty="0"/>
          </a:p>
        </p:txBody>
      </p:sp>
      <p:sp>
        <p:nvSpPr>
          <p:cNvPr id="55" name="Text 43"/>
          <p:cNvSpPr txBox="1"/>
          <p:nvPr/>
        </p:nvSpPr>
        <p:spPr>
          <a:xfrm>
            <a:off x="26108863" y="1548994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56" name="Text 44"/>
          <p:cNvSpPr txBox="1"/>
          <p:nvPr/>
        </p:nvSpPr>
        <p:spPr>
          <a:xfrm>
            <a:off x="26195731" y="1548994"/>
            <a:ext cx="25475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Top 5 products by revenue</a:t>
            </a:r>
            <a:endParaRPr lang="en-US" sz="1100" dirty="0"/>
          </a:p>
        </p:txBody>
      </p:sp>
      <p:sp>
        <p:nvSpPr>
          <p:cNvPr id="57" name="Text 45"/>
          <p:cNvSpPr txBox="1"/>
          <p:nvPr/>
        </p:nvSpPr>
        <p:spPr>
          <a:xfrm>
            <a:off x="28626206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58" name="Text 46"/>
          <p:cNvSpPr txBox="1"/>
          <p:nvPr/>
        </p:nvSpPr>
        <p:spPr>
          <a:xfrm>
            <a:off x="29147414" y="1548994"/>
            <a:ext cx="14136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p.PRODUCT_NAME,</a:t>
            </a:r>
            <a:endParaRPr lang="en-US" sz="1100" dirty="0"/>
          </a:p>
        </p:txBody>
      </p:sp>
      <p:sp>
        <p:nvSpPr>
          <p:cNvPr id="59" name="Text 47"/>
          <p:cNvSpPr txBox="1"/>
          <p:nvPr/>
        </p:nvSpPr>
        <p:spPr>
          <a:xfrm>
            <a:off x="30449520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60" name="Text 48"/>
          <p:cNvSpPr txBox="1"/>
          <p:nvPr/>
        </p:nvSpPr>
        <p:spPr>
          <a:xfrm>
            <a:off x="30710124" y="1548994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</a:t>
            </a:r>
            <a:endParaRPr lang="en-US" sz="1100" dirty="0"/>
          </a:p>
        </p:txBody>
      </p:sp>
      <p:sp>
        <p:nvSpPr>
          <p:cNvPr id="61" name="Text 49"/>
          <p:cNvSpPr txBox="1"/>
          <p:nvPr/>
        </p:nvSpPr>
        <p:spPr>
          <a:xfrm>
            <a:off x="33227467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62" name="Text 50"/>
          <p:cNvSpPr txBox="1"/>
          <p:nvPr/>
        </p:nvSpPr>
        <p:spPr>
          <a:xfrm>
            <a:off x="33401203" y="1548994"/>
            <a:ext cx="7187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100" dirty="0"/>
          </a:p>
        </p:txBody>
      </p:sp>
      <p:sp>
        <p:nvSpPr>
          <p:cNvPr id="63" name="Text 51"/>
          <p:cNvSpPr txBox="1"/>
          <p:nvPr/>
        </p:nvSpPr>
        <p:spPr>
          <a:xfrm>
            <a:off x="34009279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64" name="Text 52"/>
          <p:cNvSpPr txBox="1"/>
          <p:nvPr/>
        </p:nvSpPr>
        <p:spPr>
          <a:xfrm>
            <a:off x="34356751" y="1548994"/>
            <a:ext cx="9857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p</a:t>
            </a:r>
            <a:endParaRPr lang="en-US" sz="1100" dirty="0"/>
          </a:p>
        </p:txBody>
      </p:sp>
      <p:sp>
        <p:nvSpPr>
          <p:cNvPr id="65" name="Text 53"/>
          <p:cNvSpPr txBox="1"/>
          <p:nvPr/>
        </p:nvSpPr>
        <p:spPr>
          <a:xfrm>
            <a:off x="35224517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66" name="Text 54"/>
          <p:cNvSpPr txBox="1"/>
          <p:nvPr/>
        </p:nvSpPr>
        <p:spPr>
          <a:xfrm>
            <a:off x="35571989" y="1548994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67" name="Text 55"/>
          <p:cNvSpPr txBox="1"/>
          <p:nvPr/>
        </p:nvSpPr>
        <p:spPr>
          <a:xfrm>
            <a:off x="36787226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68" name="Text 56"/>
          <p:cNvSpPr txBox="1"/>
          <p:nvPr/>
        </p:nvSpPr>
        <p:spPr>
          <a:xfrm>
            <a:off x="36960962" y="1548994"/>
            <a:ext cx="25475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p.PRODUCT_ID = oi.PRODUCT_ID</a:t>
            </a:r>
            <a:endParaRPr lang="en-US" sz="1100" dirty="0"/>
          </a:p>
        </p:txBody>
      </p:sp>
      <p:sp>
        <p:nvSpPr>
          <p:cNvPr id="69" name="Text 57"/>
          <p:cNvSpPr txBox="1"/>
          <p:nvPr/>
        </p:nvSpPr>
        <p:spPr>
          <a:xfrm>
            <a:off x="39391438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70" name="Text 58"/>
          <p:cNvSpPr txBox="1"/>
          <p:nvPr/>
        </p:nvSpPr>
        <p:spPr>
          <a:xfrm>
            <a:off x="40086382" y="1548994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p.PRODUCT_NAME</a:t>
            </a:r>
            <a:endParaRPr lang="en-US" sz="1100" dirty="0"/>
          </a:p>
        </p:txBody>
      </p:sp>
      <p:sp>
        <p:nvSpPr>
          <p:cNvPr id="71" name="Text 59"/>
          <p:cNvSpPr txBox="1"/>
          <p:nvPr/>
        </p:nvSpPr>
        <p:spPr>
          <a:xfrm>
            <a:off x="41301619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00" dirty="0"/>
          </a:p>
        </p:txBody>
      </p:sp>
      <p:sp>
        <p:nvSpPr>
          <p:cNvPr id="72" name="Text 60"/>
          <p:cNvSpPr txBox="1"/>
          <p:nvPr/>
        </p:nvSpPr>
        <p:spPr>
          <a:xfrm>
            <a:off x="41996563" y="1548994"/>
            <a:ext cx="7187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100" dirty="0"/>
          </a:p>
        </p:txBody>
      </p:sp>
      <p:sp>
        <p:nvSpPr>
          <p:cNvPr id="73" name="Text 61"/>
          <p:cNvSpPr txBox="1"/>
          <p:nvPr/>
        </p:nvSpPr>
        <p:spPr>
          <a:xfrm>
            <a:off x="42604639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00" dirty="0"/>
          </a:p>
        </p:txBody>
      </p:sp>
      <p:sp>
        <p:nvSpPr>
          <p:cNvPr id="74" name="Text 62"/>
          <p:cNvSpPr txBox="1"/>
          <p:nvPr/>
        </p:nvSpPr>
        <p:spPr>
          <a:xfrm>
            <a:off x="42951197" y="1548994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lang="en-US" sz="1100" dirty="0"/>
          </a:p>
        </p:txBody>
      </p:sp>
      <p:sp>
        <p:nvSpPr>
          <p:cNvPr id="75" name="Text 63"/>
          <p:cNvSpPr txBox="1"/>
          <p:nvPr/>
        </p:nvSpPr>
        <p:spPr>
          <a:xfrm>
            <a:off x="43385537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5;</a:t>
            </a:r>
            <a:endParaRPr lang="en-US" sz="1100" dirty="0"/>
          </a:p>
        </p:txBody>
      </p:sp>
      <p:sp>
        <p:nvSpPr>
          <p:cNvPr id="76" name="Text 64"/>
          <p:cNvSpPr txBox="1"/>
          <p:nvPr/>
        </p:nvSpPr>
        <p:spPr>
          <a:xfrm>
            <a:off x="43559273" y="1548994"/>
            <a:ext cx="25475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Monthly sales by category</a:t>
            </a:r>
            <a:endParaRPr lang="en-US" sz="1100" dirty="0"/>
          </a:p>
        </p:txBody>
      </p:sp>
      <p:sp>
        <p:nvSpPr>
          <p:cNvPr id="77" name="Text 65"/>
          <p:cNvSpPr txBox="1"/>
          <p:nvPr/>
        </p:nvSpPr>
        <p:spPr>
          <a:xfrm>
            <a:off x="45990662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78" name="Text 66"/>
          <p:cNvSpPr txBox="1"/>
          <p:nvPr/>
        </p:nvSpPr>
        <p:spPr>
          <a:xfrm>
            <a:off x="46510956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p.CATEGORY,</a:t>
            </a:r>
            <a:endParaRPr lang="en-US" sz="1100" dirty="0"/>
          </a:p>
        </p:txBody>
      </p:sp>
      <p:sp>
        <p:nvSpPr>
          <p:cNvPr id="79" name="Text 67"/>
          <p:cNvSpPr txBox="1"/>
          <p:nvPr/>
        </p:nvSpPr>
        <p:spPr>
          <a:xfrm>
            <a:off x="47466504" y="1548994"/>
            <a:ext cx="9857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DATE_TRUNC</a:t>
            </a:r>
            <a:endParaRPr lang="en-US" sz="1100" dirty="0"/>
          </a:p>
        </p:txBody>
      </p:sp>
      <p:sp>
        <p:nvSpPr>
          <p:cNvPr id="80" name="Text 68"/>
          <p:cNvSpPr txBox="1"/>
          <p:nvPr/>
        </p:nvSpPr>
        <p:spPr>
          <a:xfrm>
            <a:off x="48334270" y="1548994"/>
            <a:ext cx="21095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('MONTH', o.ORDER_DATE)</a:t>
            </a:r>
            <a:endParaRPr lang="en-US" sz="1100" dirty="0"/>
          </a:p>
        </p:txBody>
      </p:sp>
      <p:sp>
        <p:nvSpPr>
          <p:cNvPr id="81" name="Text 69"/>
          <p:cNvSpPr txBox="1"/>
          <p:nvPr/>
        </p:nvSpPr>
        <p:spPr>
          <a:xfrm>
            <a:off x="50331319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82" name="Text 70"/>
          <p:cNvSpPr txBox="1"/>
          <p:nvPr/>
        </p:nvSpPr>
        <p:spPr>
          <a:xfrm>
            <a:off x="50505055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MONTH,</a:t>
            </a:r>
            <a:endParaRPr lang="en-US" sz="1100" dirty="0"/>
          </a:p>
        </p:txBody>
      </p:sp>
      <p:sp>
        <p:nvSpPr>
          <p:cNvPr id="83" name="Text 71"/>
          <p:cNvSpPr txBox="1"/>
          <p:nvPr/>
        </p:nvSpPr>
        <p:spPr>
          <a:xfrm>
            <a:off x="51025349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84" name="Text 72"/>
          <p:cNvSpPr txBox="1"/>
          <p:nvPr/>
        </p:nvSpPr>
        <p:spPr>
          <a:xfrm>
            <a:off x="51285953" y="1548994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</a:t>
            </a:r>
            <a:endParaRPr lang="en-US" sz="1100" dirty="0"/>
          </a:p>
        </p:txBody>
      </p:sp>
      <p:sp>
        <p:nvSpPr>
          <p:cNvPr id="85" name="Text 73"/>
          <p:cNvSpPr txBox="1"/>
          <p:nvPr/>
        </p:nvSpPr>
        <p:spPr>
          <a:xfrm>
            <a:off x="53803296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86" name="Text 74"/>
          <p:cNvSpPr txBox="1"/>
          <p:nvPr/>
        </p:nvSpPr>
        <p:spPr>
          <a:xfrm>
            <a:off x="53977032" y="1548994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100" dirty="0"/>
          </a:p>
        </p:txBody>
      </p:sp>
      <p:sp>
        <p:nvSpPr>
          <p:cNvPr id="87" name="Text 75"/>
          <p:cNvSpPr txBox="1"/>
          <p:nvPr/>
        </p:nvSpPr>
        <p:spPr>
          <a:xfrm>
            <a:off x="54411372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88" name="Text 76"/>
          <p:cNvSpPr txBox="1"/>
          <p:nvPr/>
        </p:nvSpPr>
        <p:spPr>
          <a:xfrm>
            <a:off x="54758844" y="1548994"/>
            <a:ext cx="9857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p</a:t>
            </a:r>
            <a:endParaRPr lang="en-US" sz="1100" dirty="0"/>
          </a:p>
        </p:txBody>
      </p:sp>
      <p:sp>
        <p:nvSpPr>
          <p:cNvPr id="89" name="Text 77"/>
          <p:cNvSpPr txBox="1"/>
          <p:nvPr/>
        </p:nvSpPr>
        <p:spPr>
          <a:xfrm>
            <a:off x="55626610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90" name="Text 78"/>
          <p:cNvSpPr txBox="1"/>
          <p:nvPr/>
        </p:nvSpPr>
        <p:spPr>
          <a:xfrm>
            <a:off x="55974082" y="1548994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91" name="Text 79"/>
          <p:cNvSpPr txBox="1"/>
          <p:nvPr/>
        </p:nvSpPr>
        <p:spPr>
          <a:xfrm>
            <a:off x="57189319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92" name="Text 80"/>
          <p:cNvSpPr txBox="1"/>
          <p:nvPr/>
        </p:nvSpPr>
        <p:spPr>
          <a:xfrm>
            <a:off x="57363055" y="1548994"/>
            <a:ext cx="25475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p.PRODUCT_ID = oi.PRODUCT_ID</a:t>
            </a:r>
            <a:endParaRPr lang="en-US" sz="1100" dirty="0"/>
          </a:p>
        </p:txBody>
      </p:sp>
      <p:sp>
        <p:nvSpPr>
          <p:cNvPr id="93" name="Text 81"/>
          <p:cNvSpPr txBox="1"/>
          <p:nvPr/>
        </p:nvSpPr>
        <p:spPr>
          <a:xfrm>
            <a:off x="59794445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94" name="Text 82"/>
          <p:cNvSpPr txBox="1"/>
          <p:nvPr/>
        </p:nvSpPr>
        <p:spPr>
          <a:xfrm>
            <a:off x="60141917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</p:txBody>
      </p:sp>
      <p:sp>
        <p:nvSpPr>
          <p:cNvPr id="95" name="Text 83"/>
          <p:cNvSpPr txBox="1"/>
          <p:nvPr/>
        </p:nvSpPr>
        <p:spPr>
          <a:xfrm>
            <a:off x="60835946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96" name="Text 84"/>
          <p:cNvSpPr txBox="1"/>
          <p:nvPr/>
        </p:nvSpPr>
        <p:spPr>
          <a:xfrm>
            <a:off x="61009682" y="1548994"/>
            <a:ext cx="2194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oi.ORDER_ID = o.ORDER_ID</a:t>
            </a:r>
            <a:endParaRPr lang="en-US" sz="1100" dirty="0"/>
          </a:p>
        </p:txBody>
      </p:sp>
      <p:sp>
        <p:nvSpPr>
          <p:cNvPr id="97" name="Text 85"/>
          <p:cNvSpPr txBox="1"/>
          <p:nvPr/>
        </p:nvSpPr>
        <p:spPr>
          <a:xfrm>
            <a:off x="63093600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98" name="Text 86"/>
          <p:cNvSpPr txBox="1"/>
          <p:nvPr/>
        </p:nvSpPr>
        <p:spPr>
          <a:xfrm>
            <a:off x="63787630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p.CATEGORY,</a:t>
            </a:r>
            <a:endParaRPr lang="en-US" sz="1100" dirty="0"/>
          </a:p>
        </p:txBody>
      </p:sp>
      <p:sp>
        <p:nvSpPr>
          <p:cNvPr id="99" name="Text 87"/>
          <p:cNvSpPr txBox="1"/>
          <p:nvPr/>
        </p:nvSpPr>
        <p:spPr>
          <a:xfrm>
            <a:off x="64743178" y="1548994"/>
            <a:ext cx="9857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DATE_TRUNC</a:t>
            </a:r>
            <a:endParaRPr lang="en-US" sz="1100" dirty="0"/>
          </a:p>
        </p:txBody>
      </p:sp>
      <p:sp>
        <p:nvSpPr>
          <p:cNvPr id="100" name="Text 88"/>
          <p:cNvSpPr txBox="1"/>
          <p:nvPr/>
        </p:nvSpPr>
        <p:spPr>
          <a:xfrm>
            <a:off x="65610943" y="1548994"/>
            <a:ext cx="21095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('MONTH', o.ORDER_DATE)</a:t>
            </a:r>
            <a:endParaRPr lang="en-US" sz="1100" dirty="0"/>
          </a:p>
        </p:txBody>
      </p:sp>
      <p:sp>
        <p:nvSpPr>
          <p:cNvPr id="101" name="Text 89"/>
          <p:cNvSpPr txBox="1"/>
          <p:nvPr/>
        </p:nvSpPr>
        <p:spPr>
          <a:xfrm>
            <a:off x="67607993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00" dirty="0"/>
          </a:p>
        </p:txBody>
      </p:sp>
      <p:sp>
        <p:nvSpPr>
          <p:cNvPr id="102" name="Text 90"/>
          <p:cNvSpPr txBox="1"/>
          <p:nvPr/>
        </p:nvSpPr>
        <p:spPr>
          <a:xfrm>
            <a:off x="68302022" y="1548994"/>
            <a:ext cx="16806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p.CATEGORY, MONTH;</a:t>
            </a:r>
            <a:endParaRPr lang="en-US" sz="1100" dirty="0"/>
          </a:p>
        </p:txBody>
      </p:sp>
      <p:sp>
        <p:nvSpPr>
          <p:cNvPr id="103" name="Shape 91"/>
          <p:cNvSpPr/>
          <p:nvPr/>
        </p:nvSpPr>
        <p:spPr>
          <a:xfrm>
            <a:off x="0" y="6439205"/>
            <a:ext cx="12191695" cy="4187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4" name="Text 92"/>
          <p:cNvSpPr txBox="1"/>
          <p:nvPr/>
        </p:nvSpPr>
        <p:spPr>
          <a:xfrm>
            <a:off x="381305" y="6553505"/>
            <a:ext cx="21003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&amp; Snowflake Training Series</a:t>
            </a:r>
            <a:endParaRPr lang="en-US" sz="1000" dirty="0"/>
          </a:p>
        </p:txBody>
      </p:sp>
      <p:pic>
        <p:nvPicPr>
          <p:cNvPr id="105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59014" y="6579108"/>
            <a:ext cx="133502" cy="133502"/>
          </a:xfrm>
          <a:prstGeom prst="rect">
            <a:avLst/>
          </a:prstGeom>
        </p:spPr>
      </p:pic>
      <p:sp>
        <p:nvSpPr>
          <p:cNvPr id="106" name="Text 93"/>
          <p:cNvSpPr txBox="1"/>
          <p:nvPr/>
        </p:nvSpPr>
        <p:spPr>
          <a:xfrm>
            <a:off x="7830007" y="6553505"/>
            <a:ext cx="35862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 after joining to maintain relationship integrity</a:t>
            </a:r>
            <a:endParaRPr lang="en-US" sz="1000" dirty="0"/>
          </a:p>
        </p:txBody>
      </p:sp>
      <p:sp>
        <p:nvSpPr>
          <p:cNvPr id="107" name="Text 94"/>
          <p:cNvSpPr txBox="1"/>
          <p:nvPr/>
        </p:nvSpPr>
        <p:spPr>
          <a:xfrm>
            <a:off x="11462004" y="6553505"/>
            <a:ext cx="4526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1821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161849"/>
            <a:ext cx="43918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Hands-on: Customer/Product Dataset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381305" y="868680"/>
            <a:ext cx="142646" cy="171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1305" y="857707"/>
            <a:ext cx="1221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47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 &amp; Relationships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1305" y="1436522"/>
            <a:ext cx="1742846" cy="1552651"/>
          </a:xfrm>
          <a:prstGeom prst="roundRect">
            <a:avLst>
              <a:gd name="adj" fmla="val 1445"/>
            </a:avLst>
          </a:prstGeom>
          <a:solidFill>
            <a:srgbClr val="F8F9FA"/>
          </a:solidFill>
          <a:ln w="25400">
            <a:solidFill>
              <a:srgbClr val="0747A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1305" y="3364992"/>
            <a:ext cx="1742846" cy="1552651"/>
          </a:xfrm>
          <a:prstGeom prst="roundRect">
            <a:avLst>
              <a:gd name="adj" fmla="val 1445"/>
            </a:avLst>
          </a:prstGeom>
          <a:solidFill>
            <a:srgbClr val="F8F9FA"/>
          </a:solidFill>
          <a:ln w="25400">
            <a:solidFill>
              <a:srgbClr val="0747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1305" y="7221017"/>
            <a:ext cx="1742846" cy="1343254"/>
          </a:xfrm>
          <a:prstGeom prst="roundRect">
            <a:avLst>
              <a:gd name="adj" fmla="val 1931"/>
            </a:avLst>
          </a:prstGeom>
          <a:solidFill>
            <a:srgbClr val="F8F9FA"/>
          </a:solidFill>
          <a:ln w="25400">
            <a:solidFill>
              <a:srgbClr val="0747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5605" y="1550822"/>
            <a:ext cx="1514246" cy="342900"/>
          </a:xfrm>
          <a:prstGeom prst="roundRect">
            <a:avLst>
              <a:gd name="adj" fmla="val 29630"/>
            </a:avLst>
          </a:prstGeom>
          <a:solidFill>
            <a:srgbClr val="0747A6"/>
          </a:solidFill>
          <a:ln/>
        </p:spPr>
      </p:sp>
      <p:sp>
        <p:nvSpPr>
          <p:cNvPr id="12" name="Shape 9"/>
          <p:cNvSpPr/>
          <p:nvPr/>
        </p:nvSpPr>
        <p:spPr>
          <a:xfrm>
            <a:off x="495605" y="3479292"/>
            <a:ext cx="1514246" cy="342900"/>
          </a:xfrm>
          <a:prstGeom prst="roundRect">
            <a:avLst>
              <a:gd name="adj" fmla="val 29630"/>
            </a:avLst>
          </a:prstGeom>
          <a:solidFill>
            <a:srgbClr val="0747A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9905" y="1626718"/>
            <a:ext cx="1086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1702613" y="1645920"/>
            <a:ext cx="190195" cy="15270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95605" y="5406847"/>
            <a:ext cx="1514246" cy="342900"/>
          </a:xfrm>
          <a:prstGeom prst="roundRect">
            <a:avLst>
              <a:gd name="adj" fmla="val 29630"/>
            </a:avLst>
          </a:prstGeom>
          <a:solidFill>
            <a:srgbClr val="0747A6"/>
          </a:solidFill>
          <a:ln/>
        </p:spPr>
      </p:sp>
      <p:sp>
        <p:nvSpPr>
          <p:cNvPr id="16" name="Shape 12"/>
          <p:cNvSpPr/>
          <p:nvPr/>
        </p:nvSpPr>
        <p:spPr>
          <a:xfrm>
            <a:off x="495605" y="7335317"/>
            <a:ext cx="1514246" cy="342900"/>
          </a:xfrm>
          <a:prstGeom prst="roundRect">
            <a:avLst>
              <a:gd name="adj" fmla="val 29630"/>
            </a:avLst>
          </a:prstGeom>
          <a:solidFill>
            <a:srgbClr val="0747A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09905" y="3555187"/>
            <a:ext cx="734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09905" y="7411212"/>
            <a:ext cx="972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09905" y="1988820"/>
            <a:ext cx="1388974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CUSTOMER_ID (PK), CUSTOMER_NAME, SEGMENT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09905" y="3917290"/>
            <a:ext cx="137983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ORDER_ID (PK), CUSTOMER_ID (FK), ORDER_DATE, STATUS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013155" y="3212287"/>
            <a:ext cx="476402" cy="19202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22" name="Shape 18"/>
          <p:cNvSpPr/>
          <p:nvPr/>
        </p:nvSpPr>
        <p:spPr>
          <a:xfrm>
            <a:off x="1013155" y="3183941"/>
            <a:ext cx="75895" cy="7589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23" name="Shape 19"/>
          <p:cNvSpPr/>
          <p:nvPr/>
        </p:nvSpPr>
        <p:spPr>
          <a:xfrm>
            <a:off x="1413662" y="3183941"/>
            <a:ext cx="75895" cy="75895"/>
          </a:xfrm>
          <a:prstGeom prst="ellipse">
            <a:avLst/>
          </a:prstGeom>
          <a:solidFill>
            <a:srgbClr val="0747A6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1721815" y="3574390"/>
            <a:ext cx="171907" cy="15270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81305" y="5292547"/>
            <a:ext cx="1742846" cy="1552651"/>
          </a:xfrm>
          <a:prstGeom prst="roundRect">
            <a:avLst>
              <a:gd name="adj" fmla="val 1445"/>
            </a:avLst>
          </a:prstGeom>
          <a:solidFill>
            <a:srgbClr val="F8F9FA"/>
          </a:solidFill>
          <a:ln w="25400">
            <a:solidFill>
              <a:srgbClr val="0747A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13155" y="5140757"/>
            <a:ext cx="476402" cy="19202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27" name="Shape 22"/>
          <p:cNvSpPr/>
          <p:nvPr/>
        </p:nvSpPr>
        <p:spPr>
          <a:xfrm>
            <a:off x="1013155" y="5111496"/>
            <a:ext cx="75895" cy="7589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28" name="Shape 23"/>
          <p:cNvSpPr/>
          <p:nvPr/>
        </p:nvSpPr>
        <p:spPr>
          <a:xfrm>
            <a:off x="1413662" y="5111496"/>
            <a:ext cx="75895" cy="7589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09905" y="5483657"/>
            <a:ext cx="1191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ORDER_ITEMS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41018" y="5502859"/>
            <a:ext cx="152705" cy="1527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09905" y="5845759"/>
            <a:ext cx="1322222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ORDER_ID (FK), PRODUCT_ID (FK), QUANTITY, UNIT_PRICE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09905" y="7773314"/>
            <a:ext cx="1332281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PRODUCT_ID (PK), PRODUCT_NAME, CATEGORY, PRICE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1013155" y="7068312"/>
            <a:ext cx="476402" cy="19202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4" name="Shape 28"/>
          <p:cNvSpPr/>
          <p:nvPr/>
        </p:nvSpPr>
        <p:spPr>
          <a:xfrm>
            <a:off x="1013155" y="7039966"/>
            <a:ext cx="75895" cy="7589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35" name="Shape 29"/>
          <p:cNvSpPr/>
          <p:nvPr/>
        </p:nvSpPr>
        <p:spPr>
          <a:xfrm>
            <a:off x="1413662" y="7039966"/>
            <a:ext cx="75895" cy="75895"/>
          </a:xfrm>
          <a:prstGeom prst="ellipse">
            <a:avLst/>
          </a:prstGeom>
          <a:solidFill>
            <a:srgbClr val="0747A6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1760220" y="7430414"/>
            <a:ext cx="133502" cy="152705"/>
          </a:xfrm>
          <a:prstGeom prst="rect">
            <a:avLst/>
          </a:prstGeom>
        </p:spPr>
      </p:pic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81305" y="8840419"/>
            <a:ext cx="171907" cy="171907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29107" y="8829446"/>
            <a:ext cx="10213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47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Notes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571500" y="9176004"/>
            <a:ext cx="1600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schema: Orders as fact table, others as dimensions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571500" y="9861804"/>
            <a:ext cx="15819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customer can have multiple orders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571500" y="10319004"/>
            <a:ext cx="15343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order can have multiple items (products)</a:t>
            </a:r>
            <a:endParaRPr lang="en-US" sz="12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502713" y="868680"/>
            <a:ext cx="171907" cy="171907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2750515" y="857707"/>
            <a:ext cx="3345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47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Exercises (Try in Snowflake Worksheet)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2502713" y="1185062"/>
            <a:ext cx="15544800" cy="4572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5" name="Shape 36"/>
          <p:cNvSpPr/>
          <p:nvPr/>
        </p:nvSpPr>
        <p:spPr>
          <a:xfrm>
            <a:off x="2502713" y="1185062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6" name="Shape 37"/>
          <p:cNvSpPr/>
          <p:nvPr/>
        </p:nvSpPr>
        <p:spPr>
          <a:xfrm>
            <a:off x="2502713" y="1756562"/>
            <a:ext cx="15544800" cy="4572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7" name="Shape 38"/>
          <p:cNvSpPr/>
          <p:nvPr/>
        </p:nvSpPr>
        <p:spPr>
          <a:xfrm>
            <a:off x="2502713" y="1756562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8" name="Shape 39"/>
          <p:cNvSpPr/>
          <p:nvPr/>
        </p:nvSpPr>
        <p:spPr>
          <a:xfrm>
            <a:off x="2502713" y="2328062"/>
            <a:ext cx="15544800" cy="4572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9" name="Shape 40"/>
          <p:cNvSpPr/>
          <p:nvPr/>
        </p:nvSpPr>
        <p:spPr>
          <a:xfrm>
            <a:off x="2502713" y="2328062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50" name="Shape 41"/>
          <p:cNvSpPr/>
          <p:nvPr/>
        </p:nvSpPr>
        <p:spPr>
          <a:xfrm>
            <a:off x="2502713" y="2899562"/>
            <a:ext cx="15544800" cy="4572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51" name="Shape 42"/>
          <p:cNvSpPr/>
          <p:nvPr/>
        </p:nvSpPr>
        <p:spPr>
          <a:xfrm>
            <a:off x="2502713" y="2899562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2655418" y="1318565"/>
            <a:ext cx="4677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Basic: Count orders per customer, sorted by most orders first</a:t>
            </a:r>
            <a:endParaRPr lang="en-US" sz="1200" dirty="0"/>
          </a:p>
        </p:txBody>
      </p:sp>
      <p:sp>
        <p:nvSpPr>
          <p:cNvPr id="53" name="Text 44"/>
          <p:cNvSpPr txBox="1"/>
          <p:nvPr/>
        </p:nvSpPr>
        <p:spPr>
          <a:xfrm>
            <a:off x="2655418" y="1890065"/>
            <a:ext cx="4448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Intermediate: Calculate total revenue by product category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2655418" y="2461565"/>
            <a:ext cx="4543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Advanced: Find customers with no orders using LEFT JOIN</a:t>
            </a:r>
            <a:endParaRPr lang="en-US" sz="1200" dirty="0"/>
          </a:p>
        </p:txBody>
      </p:sp>
      <p:sp>
        <p:nvSpPr>
          <p:cNvPr id="55" name="Text 46"/>
          <p:cNvSpPr txBox="1"/>
          <p:nvPr/>
        </p:nvSpPr>
        <p:spPr>
          <a:xfrm>
            <a:off x="2655418" y="3033065"/>
            <a:ext cx="5582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Challenge: Top 5 customers by total spend using GROUP BY + ORDER BY</a:t>
            </a:r>
            <a:endParaRPr lang="en-US" sz="12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10"/>
          <a:srcRect t="-1310" b="-1310"/>
          <a:stretch/>
        </p:blipFill>
        <p:spPr>
          <a:xfrm>
            <a:off x="2502713" y="3653942"/>
            <a:ext cx="209398" cy="171907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2788920" y="3642055"/>
            <a:ext cx="11640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47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 Code</a:t>
            </a:r>
            <a:endParaRPr lang="en-US" sz="1300" dirty="0"/>
          </a:p>
        </p:txBody>
      </p:sp>
      <p:sp>
        <p:nvSpPr>
          <p:cNvPr id="58" name="Text 48"/>
          <p:cNvSpPr txBox="1"/>
          <p:nvPr/>
        </p:nvSpPr>
        <p:spPr>
          <a:xfrm>
            <a:off x="2702966" y="4612234"/>
            <a:ext cx="4782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47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Tips</a:t>
            </a:r>
            <a:endParaRPr lang="en-US" sz="1300" dirty="0"/>
          </a:p>
        </p:txBody>
      </p:sp>
      <p:sp>
        <p:nvSpPr>
          <p:cNvPr id="59" name="Shape 49"/>
          <p:cNvSpPr/>
          <p:nvPr/>
        </p:nvSpPr>
        <p:spPr>
          <a:xfrm>
            <a:off x="2502713" y="4017874"/>
            <a:ext cx="15544800" cy="428854"/>
          </a:xfrm>
          <a:prstGeom prst="roundRect">
            <a:avLst>
              <a:gd name="adj" fmla="val 18953"/>
            </a:avLst>
          </a:prstGeom>
          <a:solidFill>
            <a:srgbClr val="252830"/>
          </a:solidFill>
          <a:ln/>
        </p:spPr>
      </p:sp>
      <p:sp>
        <p:nvSpPr>
          <p:cNvPr id="60" name="Text 50"/>
          <p:cNvSpPr txBox="1"/>
          <p:nvPr/>
        </p:nvSpPr>
        <p:spPr>
          <a:xfrm>
            <a:off x="2617013" y="4141318"/>
            <a:ext cx="297454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Orders per customer (starter code)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5491886" y="4141318"/>
            <a:ext cx="56418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7668158" y="4141318"/>
            <a:ext cx="7260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9144914" y="4141318"/>
            <a:ext cx="2596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64" name="Text 54"/>
          <p:cNvSpPr txBox="1"/>
          <p:nvPr/>
        </p:nvSpPr>
        <p:spPr>
          <a:xfrm>
            <a:off x="9766706" y="4141318"/>
            <a:ext cx="4114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65" name="Text 55"/>
          <p:cNvSpPr txBox="1"/>
          <p:nvPr/>
        </p:nvSpPr>
        <p:spPr>
          <a:xfrm>
            <a:off x="10931652" y="4141318"/>
            <a:ext cx="80284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12252960" y="4141318"/>
            <a:ext cx="2596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67" name="Text 57"/>
          <p:cNvSpPr txBox="1"/>
          <p:nvPr/>
        </p:nvSpPr>
        <p:spPr>
          <a:xfrm>
            <a:off x="14662404" y="4141318"/>
            <a:ext cx="7260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68" name="Text 58"/>
          <p:cNvSpPr txBox="1"/>
          <p:nvPr/>
        </p:nvSpPr>
        <p:spPr>
          <a:xfrm>
            <a:off x="16449142" y="4141318"/>
            <a:ext cx="7260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69" name="Text 59"/>
          <p:cNvSpPr txBox="1"/>
          <p:nvPr/>
        </p:nvSpPr>
        <p:spPr>
          <a:xfrm>
            <a:off x="17537278" y="4141318"/>
            <a:ext cx="4114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70" name="Text 60"/>
          <p:cNvSpPr txBox="1"/>
          <p:nvPr/>
        </p:nvSpPr>
        <p:spPr>
          <a:xfrm>
            <a:off x="5958230" y="4141318"/>
            <a:ext cx="13450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c.CUSTOMER_NAME,</a:t>
            </a:r>
            <a:endParaRPr lang="en-US" sz="1000" dirty="0"/>
          </a:p>
        </p:txBody>
      </p:sp>
      <p:sp>
        <p:nvSpPr>
          <p:cNvPr id="71" name="Text 61"/>
          <p:cNvSpPr txBox="1"/>
          <p:nvPr/>
        </p:nvSpPr>
        <p:spPr>
          <a:xfrm>
            <a:off x="7590434" y="4141318"/>
            <a:ext cx="1828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72" name="Text 62"/>
          <p:cNvSpPr txBox="1"/>
          <p:nvPr/>
        </p:nvSpPr>
        <p:spPr>
          <a:xfrm>
            <a:off x="8289950" y="4141318"/>
            <a:ext cx="9546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o.ORDER_ID)</a:t>
            </a:r>
            <a:endParaRPr lang="en-US" sz="1000" dirty="0"/>
          </a:p>
        </p:txBody>
      </p:sp>
      <p:sp>
        <p:nvSpPr>
          <p:cNvPr id="73" name="Text 63"/>
          <p:cNvSpPr txBox="1"/>
          <p:nvPr/>
        </p:nvSpPr>
        <p:spPr>
          <a:xfrm>
            <a:off x="9300362" y="4141318"/>
            <a:ext cx="56418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74" name="Text 64"/>
          <p:cNvSpPr txBox="1"/>
          <p:nvPr/>
        </p:nvSpPr>
        <p:spPr>
          <a:xfrm>
            <a:off x="10077602" y="4141318"/>
            <a:ext cx="9546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</a:t>
            </a:r>
            <a:endParaRPr lang="en-US" sz="1000" dirty="0"/>
          </a:p>
        </p:txBody>
      </p:sp>
      <p:sp>
        <p:nvSpPr>
          <p:cNvPr id="75" name="Text 65"/>
          <p:cNvSpPr txBox="1"/>
          <p:nvPr/>
        </p:nvSpPr>
        <p:spPr>
          <a:xfrm>
            <a:off x="11631168" y="4141318"/>
            <a:ext cx="7260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000" dirty="0"/>
          </a:p>
        </p:txBody>
      </p:sp>
      <p:sp>
        <p:nvSpPr>
          <p:cNvPr id="76" name="Text 66"/>
          <p:cNvSpPr txBox="1"/>
          <p:nvPr/>
        </p:nvSpPr>
        <p:spPr>
          <a:xfrm>
            <a:off x="12408408" y="4141318"/>
            <a:ext cx="23545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 = o.CUSTOMER_ID</a:t>
            </a:r>
            <a:endParaRPr lang="en-US" sz="1000" dirty="0"/>
          </a:p>
        </p:txBody>
      </p:sp>
      <p:sp>
        <p:nvSpPr>
          <p:cNvPr id="77" name="Text 67"/>
          <p:cNvSpPr txBox="1"/>
          <p:nvPr/>
        </p:nvSpPr>
        <p:spPr>
          <a:xfrm>
            <a:off x="15283282" y="4141318"/>
            <a:ext cx="126918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c.CUSTOMER_NAME</a:t>
            </a:r>
            <a:endParaRPr lang="en-US" sz="1000" dirty="0"/>
          </a:p>
        </p:txBody>
      </p:sp>
      <p:sp>
        <p:nvSpPr>
          <p:cNvPr id="78" name="Text 68"/>
          <p:cNvSpPr txBox="1"/>
          <p:nvPr/>
        </p:nvSpPr>
        <p:spPr>
          <a:xfrm>
            <a:off x="17070934" y="4141318"/>
            <a:ext cx="56418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79" name="Text 69"/>
          <p:cNvSpPr txBox="1"/>
          <p:nvPr/>
        </p:nvSpPr>
        <p:spPr>
          <a:xfrm>
            <a:off x="17848174" y="4141318"/>
            <a:ext cx="1828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80" name="Text 70"/>
          <p:cNvSpPr txBox="1"/>
          <p:nvPr/>
        </p:nvSpPr>
        <p:spPr>
          <a:xfrm>
            <a:off x="7201814" y="4141318"/>
            <a:ext cx="488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000" dirty="0"/>
          </a:p>
        </p:txBody>
      </p:sp>
      <p:pic>
        <p:nvPicPr>
          <p:cNvPr id="81" name="Image 8" descr="preencoded.png"/>
          <p:cNvPicPr>
            <a:picLocks noChangeAspect="1"/>
          </p:cNvPicPr>
          <p:nvPr/>
        </p:nvPicPr>
        <p:blipFill>
          <a:blip r:embed="rId11"/>
          <a:srcRect t="-2222" b="-2222"/>
          <a:stretch/>
        </p:blipFill>
        <p:spPr>
          <a:xfrm>
            <a:off x="2502713" y="4623206"/>
            <a:ext cx="123444" cy="171907"/>
          </a:xfrm>
          <a:prstGeom prst="rect">
            <a:avLst/>
          </a:prstGeom>
        </p:spPr>
      </p:pic>
      <p:sp>
        <p:nvSpPr>
          <p:cNvPr id="82" name="Text 71"/>
          <p:cNvSpPr txBox="1"/>
          <p:nvPr/>
        </p:nvSpPr>
        <p:spPr>
          <a:xfrm>
            <a:off x="2692908" y="4958791"/>
            <a:ext cx="4362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row counts after each join to verify expected results</a:t>
            </a:r>
            <a:endParaRPr lang="en-US" sz="1200" dirty="0"/>
          </a:p>
        </p:txBody>
      </p:sp>
      <p:sp>
        <p:nvSpPr>
          <p:cNvPr id="83" name="Text 72"/>
          <p:cNvSpPr txBox="1"/>
          <p:nvPr/>
        </p:nvSpPr>
        <p:spPr>
          <a:xfrm>
            <a:off x="2692908" y="5187391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DESCRIBE TABLE to view column details</a:t>
            </a:r>
            <a:endParaRPr lang="en-US" sz="1200" dirty="0"/>
          </a:p>
        </p:txBody>
      </p:sp>
      <p:sp>
        <p:nvSpPr>
          <p:cNvPr id="84" name="Text 73"/>
          <p:cNvSpPr txBox="1"/>
          <p:nvPr/>
        </p:nvSpPr>
        <p:spPr>
          <a:xfrm>
            <a:off x="2692908" y="5415991"/>
            <a:ext cx="4401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 nulls appear when no match exists in outer joins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Shape 2"/>
          <p:cNvSpPr/>
          <p:nvPr/>
        </p:nvSpPr>
        <p:spPr>
          <a:xfrm>
            <a:off x="10668305" y="5333695"/>
            <a:ext cx="1524305" cy="1524305"/>
          </a:xfrm>
          <a:prstGeom prst="roundRect">
            <a:avLst>
              <a:gd name="adj" fmla="val 59988"/>
            </a:avLst>
          </a:prstGeom>
          <a:solidFill>
            <a:srgbClr val="0747A6">
              <a:alpha val="7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448056"/>
            <a:ext cx="517733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Subqueries: Types and Use Cases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1047902"/>
            <a:ext cx="2124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 of Subqueries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0507" y="1429207"/>
            <a:ext cx="1390802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6402" y="1457554"/>
            <a:ext cx="13414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74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 subquery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4228" y="1429207"/>
            <a:ext cx="1800454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01038" y="1457554"/>
            <a:ext cx="1751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74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/ EXISTS subquery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60343" y="1429207"/>
            <a:ext cx="1228954" cy="247802"/>
          </a:xfrm>
          <a:prstGeom prst="roundRect">
            <a:avLst>
              <a:gd name="adj" fmla="val 56770"/>
            </a:avLst>
          </a:prstGeom>
          <a:solidFill>
            <a:srgbClr val="E0E7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36238" y="1457554"/>
            <a:ext cx="11795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74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Derived table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01038"/>
            <a:ext cx="114300" cy="114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66598" y="1853489"/>
            <a:ext cx="45820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Scalar: Returns a single value. Used in SELECT, WHERE, HAVING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224735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66598" y="2177186"/>
            <a:ext cx="45153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IN/EXISTS: Tests set membership or existence. Used in WHERE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549347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6598" y="2501798"/>
            <a:ext cx="43534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Derived table: Returns a full result set. Used in FROM clause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81305" y="2968142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Use Cases</a:t>
            </a:r>
            <a:endParaRPr lang="en-US" sz="15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349447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5002" y="3339389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filtering based on aggregations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673145"/>
            <a:ext cx="15270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5002" y="3663086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Comparing values to group statistics (min, max, avg)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996842"/>
            <a:ext cx="152705" cy="1527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5002" y="3987698"/>
            <a:ext cx="33915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 rows with relationships in other tables</a:t>
            </a:r>
            <a:endParaRPr lang="en-US" sz="12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4320540"/>
            <a:ext cx="152705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05002" y="4311396"/>
            <a:ext cx="40297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Breaking down complex queries into manageable parts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4644238"/>
            <a:ext cx="152705" cy="1527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05002" y="4635094"/>
            <a:ext cx="34957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note: Can be slow if not optimized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6248095" y="1028700"/>
            <a:ext cx="5562295" cy="5029200"/>
          </a:xfrm>
          <a:prstGeom prst="roundRect">
            <a:avLst>
              <a:gd name="adj" fmla="val 207"/>
            </a:avLst>
          </a:prstGeom>
          <a:solidFill>
            <a:srgbClr val="1E293B"/>
          </a:solidFill>
          <a:ln/>
        </p:spPr>
      </p:sp>
      <p:sp>
        <p:nvSpPr>
          <p:cNvPr id="31" name="Shape 21"/>
          <p:cNvSpPr/>
          <p:nvPr/>
        </p:nvSpPr>
        <p:spPr>
          <a:xfrm>
            <a:off x="6248095" y="1028700"/>
            <a:ext cx="5562295" cy="362102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6400800" y="1141171"/>
            <a:ext cx="171907" cy="13350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648602" y="1114654"/>
            <a:ext cx="147492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Subquery Examples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6400800" y="1548994"/>
            <a:ext cx="36713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Scalar: compare to average order total</a:t>
            </a:r>
            <a:endParaRPr lang="en-US" sz="1100" dirty="0"/>
          </a:p>
        </p:txBody>
      </p:sp>
      <p:sp>
        <p:nvSpPr>
          <p:cNvPr id="35" name="Text 24"/>
          <p:cNvSpPr txBox="1"/>
          <p:nvPr/>
        </p:nvSpPr>
        <p:spPr>
          <a:xfrm>
            <a:off x="9960559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36" name="Text 25"/>
          <p:cNvSpPr txBox="1"/>
          <p:nvPr/>
        </p:nvSpPr>
        <p:spPr>
          <a:xfrm>
            <a:off x="10480853" y="1548994"/>
            <a:ext cx="19376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ORDER_ID, ORDER_TOTAL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12304166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38" name="Text 27"/>
          <p:cNvSpPr txBox="1"/>
          <p:nvPr/>
        </p:nvSpPr>
        <p:spPr>
          <a:xfrm>
            <a:off x="12651638" y="1548994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</p:txBody>
      </p:sp>
      <p:sp>
        <p:nvSpPr>
          <p:cNvPr id="39" name="Text 28"/>
          <p:cNvSpPr txBox="1"/>
          <p:nvPr/>
        </p:nvSpPr>
        <p:spPr>
          <a:xfrm>
            <a:off x="12738506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40" name="Text 29"/>
          <p:cNvSpPr txBox="1"/>
          <p:nvPr/>
        </p:nvSpPr>
        <p:spPr>
          <a:xfrm>
            <a:off x="13259714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o.ORDER_ID,</a:t>
            </a:r>
            <a:endParaRPr lang="en-US" sz="1100" dirty="0"/>
          </a:p>
        </p:txBody>
      </p:sp>
      <p:sp>
        <p:nvSpPr>
          <p:cNvPr id="41" name="Text 30"/>
          <p:cNvSpPr txBox="1"/>
          <p:nvPr/>
        </p:nvSpPr>
        <p:spPr>
          <a:xfrm>
            <a:off x="14214348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42" name="Text 31"/>
          <p:cNvSpPr txBox="1"/>
          <p:nvPr/>
        </p:nvSpPr>
        <p:spPr>
          <a:xfrm>
            <a:off x="14474952" y="1548994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16992295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44" name="Text 33"/>
          <p:cNvSpPr txBox="1"/>
          <p:nvPr/>
        </p:nvSpPr>
        <p:spPr>
          <a:xfrm>
            <a:off x="17166031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</a:t>
            </a:r>
            <a:endParaRPr lang="en-US" sz="1100" dirty="0"/>
          </a:p>
        </p:txBody>
      </p:sp>
      <p:sp>
        <p:nvSpPr>
          <p:cNvPr id="45" name="Text 34"/>
          <p:cNvSpPr txBox="1"/>
          <p:nvPr/>
        </p:nvSpPr>
        <p:spPr>
          <a:xfrm>
            <a:off x="18121579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46" name="Text 35"/>
          <p:cNvSpPr txBox="1"/>
          <p:nvPr/>
        </p:nvSpPr>
        <p:spPr>
          <a:xfrm>
            <a:off x="18468137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</p:txBody>
      </p:sp>
      <p:sp>
        <p:nvSpPr>
          <p:cNvPr id="47" name="Text 36"/>
          <p:cNvSpPr txBox="1"/>
          <p:nvPr/>
        </p:nvSpPr>
        <p:spPr>
          <a:xfrm>
            <a:off x="19163081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48" name="Text 37"/>
          <p:cNvSpPr txBox="1"/>
          <p:nvPr/>
        </p:nvSpPr>
        <p:spPr>
          <a:xfrm>
            <a:off x="19510553" y="1548994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49" name="Text 38"/>
          <p:cNvSpPr txBox="1"/>
          <p:nvPr/>
        </p:nvSpPr>
        <p:spPr>
          <a:xfrm>
            <a:off x="20725790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50" name="Text 39"/>
          <p:cNvSpPr txBox="1"/>
          <p:nvPr/>
        </p:nvSpPr>
        <p:spPr>
          <a:xfrm>
            <a:off x="20899526" y="1548994"/>
            <a:ext cx="2194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100" dirty="0"/>
          </a:p>
        </p:txBody>
      </p:sp>
      <p:sp>
        <p:nvSpPr>
          <p:cNvPr id="51" name="Text 40"/>
          <p:cNvSpPr txBox="1"/>
          <p:nvPr/>
        </p:nvSpPr>
        <p:spPr>
          <a:xfrm>
            <a:off x="22983444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52" name="Text 41"/>
          <p:cNvSpPr txBox="1"/>
          <p:nvPr/>
        </p:nvSpPr>
        <p:spPr>
          <a:xfrm>
            <a:off x="6400800" y="1548994"/>
            <a:ext cx="1825416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t</a:t>
            </a:r>
            <a:endParaRPr lang="en-US" sz="1100" dirty="0"/>
          </a:p>
        </p:txBody>
      </p:sp>
      <p:sp>
        <p:nvSpPr>
          <p:cNvPr id="53" name="Text 42"/>
          <p:cNvSpPr txBox="1"/>
          <p:nvPr/>
        </p:nvSpPr>
        <p:spPr>
          <a:xfrm>
            <a:off x="6661404" y="1765706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100" dirty="0"/>
          </a:p>
        </p:txBody>
      </p:sp>
      <p:sp>
        <p:nvSpPr>
          <p:cNvPr id="54" name="Text 43"/>
          <p:cNvSpPr txBox="1"/>
          <p:nvPr/>
        </p:nvSpPr>
        <p:spPr>
          <a:xfrm>
            <a:off x="7095744" y="1765706"/>
            <a:ext cx="14136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 &gt; (</a:t>
            </a:r>
            <a:endParaRPr lang="en-US" sz="1100" dirty="0"/>
          </a:p>
        </p:txBody>
      </p:sp>
      <p:sp>
        <p:nvSpPr>
          <p:cNvPr id="55" name="Text 44"/>
          <p:cNvSpPr txBox="1"/>
          <p:nvPr/>
        </p:nvSpPr>
        <p:spPr>
          <a:xfrm>
            <a:off x="8397850" y="1765706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56" name="Text 45"/>
          <p:cNvSpPr txBox="1"/>
          <p:nvPr/>
        </p:nvSpPr>
        <p:spPr>
          <a:xfrm>
            <a:off x="8918143" y="1765706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endParaRPr lang="en-US" sz="1100" dirty="0"/>
          </a:p>
        </p:txBody>
      </p:sp>
      <p:sp>
        <p:nvSpPr>
          <p:cNvPr id="57" name="Text 46"/>
          <p:cNvSpPr txBox="1"/>
          <p:nvPr/>
        </p:nvSpPr>
        <p:spPr>
          <a:xfrm>
            <a:off x="9178747" y="1765706"/>
            <a:ext cx="12426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(ORDER_TOTAL)</a:t>
            </a:r>
            <a:endParaRPr lang="en-US" sz="1100" dirty="0"/>
          </a:p>
        </p:txBody>
      </p:sp>
      <p:sp>
        <p:nvSpPr>
          <p:cNvPr id="58" name="Text 47"/>
          <p:cNvSpPr txBox="1"/>
          <p:nvPr/>
        </p:nvSpPr>
        <p:spPr>
          <a:xfrm>
            <a:off x="10307117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59" name="Text 48"/>
          <p:cNvSpPr txBox="1"/>
          <p:nvPr/>
        </p:nvSpPr>
        <p:spPr>
          <a:xfrm>
            <a:off x="10654589" y="1765706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</p:txBody>
      </p:sp>
      <p:sp>
        <p:nvSpPr>
          <p:cNvPr id="60" name="Text 49"/>
          <p:cNvSpPr txBox="1"/>
          <p:nvPr/>
        </p:nvSpPr>
        <p:spPr>
          <a:xfrm>
            <a:off x="10741457" y="1765706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61" name="Text 50"/>
          <p:cNvSpPr txBox="1"/>
          <p:nvPr/>
        </p:nvSpPr>
        <p:spPr>
          <a:xfrm>
            <a:off x="11262665" y="1765706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62" name="Text 51"/>
          <p:cNvSpPr txBox="1"/>
          <p:nvPr/>
        </p:nvSpPr>
        <p:spPr>
          <a:xfrm>
            <a:off x="11523269" y="1765706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</a:t>
            </a:r>
            <a:endParaRPr lang="en-US" sz="1100" dirty="0"/>
          </a:p>
        </p:txBody>
      </p:sp>
      <p:sp>
        <p:nvSpPr>
          <p:cNvPr id="63" name="Text 52"/>
          <p:cNvSpPr txBox="1"/>
          <p:nvPr/>
        </p:nvSpPr>
        <p:spPr>
          <a:xfrm>
            <a:off x="14040612" y="1765706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64" name="Text 53"/>
          <p:cNvSpPr txBox="1"/>
          <p:nvPr/>
        </p:nvSpPr>
        <p:spPr>
          <a:xfrm>
            <a:off x="14214348" y="1765706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</a:t>
            </a:r>
            <a:endParaRPr lang="en-US" sz="1100" dirty="0"/>
          </a:p>
        </p:txBody>
      </p:sp>
      <p:sp>
        <p:nvSpPr>
          <p:cNvPr id="65" name="Text 54"/>
          <p:cNvSpPr txBox="1"/>
          <p:nvPr/>
        </p:nvSpPr>
        <p:spPr>
          <a:xfrm>
            <a:off x="15169896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66" name="Text 55"/>
          <p:cNvSpPr txBox="1"/>
          <p:nvPr/>
        </p:nvSpPr>
        <p:spPr>
          <a:xfrm>
            <a:off x="15516454" y="1765706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</p:txBody>
      </p:sp>
      <p:sp>
        <p:nvSpPr>
          <p:cNvPr id="67" name="Text 56"/>
          <p:cNvSpPr txBox="1"/>
          <p:nvPr/>
        </p:nvSpPr>
        <p:spPr>
          <a:xfrm>
            <a:off x="16211398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68" name="Text 57"/>
          <p:cNvSpPr txBox="1"/>
          <p:nvPr/>
        </p:nvSpPr>
        <p:spPr>
          <a:xfrm>
            <a:off x="16558870" y="1765706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69" name="Text 58"/>
          <p:cNvSpPr txBox="1"/>
          <p:nvPr/>
        </p:nvSpPr>
        <p:spPr>
          <a:xfrm>
            <a:off x="17774107" y="1765706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70" name="Text 59"/>
          <p:cNvSpPr txBox="1"/>
          <p:nvPr/>
        </p:nvSpPr>
        <p:spPr>
          <a:xfrm>
            <a:off x="17947843" y="1765706"/>
            <a:ext cx="2194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100" dirty="0"/>
          </a:p>
        </p:txBody>
      </p:sp>
      <p:sp>
        <p:nvSpPr>
          <p:cNvPr id="71" name="Text 60"/>
          <p:cNvSpPr txBox="1"/>
          <p:nvPr/>
        </p:nvSpPr>
        <p:spPr>
          <a:xfrm>
            <a:off x="20031761" y="1765706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72" name="Text 61"/>
          <p:cNvSpPr txBox="1"/>
          <p:nvPr/>
        </p:nvSpPr>
        <p:spPr>
          <a:xfrm>
            <a:off x="6400800" y="1765706"/>
            <a:ext cx="1531071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73" name="Text 62"/>
          <p:cNvSpPr txBox="1"/>
          <p:nvPr/>
        </p:nvSpPr>
        <p:spPr>
          <a:xfrm>
            <a:off x="6574536" y="2200046"/>
            <a:ext cx="39383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IN: customers who bought in 'Accessories'</a:t>
            </a:r>
            <a:endParaRPr lang="en-US" sz="1100" dirty="0"/>
          </a:p>
        </p:txBody>
      </p:sp>
      <p:sp>
        <p:nvSpPr>
          <p:cNvPr id="74" name="Text 63"/>
          <p:cNvSpPr txBox="1"/>
          <p:nvPr/>
        </p:nvSpPr>
        <p:spPr>
          <a:xfrm>
            <a:off x="10393985" y="2200046"/>
            <a:ext cx="14136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</a:t>
            </a:r>
            <a:endParaRPr lang="en-US" sz="1100" dirty="0"/>
          </a:p>
        </p:txBody>
      </p:sp>
      <p:sp>
        <p:nvSpPr>
          <p:cNvPr id="75" name="Text 64"/>
          <p:cNvSpPr txBox="1"/>
          <p:nvPr/>
        </p:nvSpPr>
        <p:spPr>
          <a:xfrm>
            <a:off x="11696090" y="2200046"/>
            <a:ext cx="27185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c.CUSTOMER_ID, c.CUSTOMER_NAME</a:t>
            </a:r>
            <a:endParaRPr lang="en-US" sz="1100" dirty="0"/>
          </a:p>
        </p:txBody>
      </p:sp>
      <p:sp>
        <p:nvSpPr>
          <p:cNvPr id="76" name="Text 65"/>
          <p:cNvSpPr txBox="1"/>
          <p:nvPr/>
        </p:nvSpPr>
        <p:spPr>
          <a:xfrm>
            <a:off x="14300302" y="220004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77" name="Text 66"/>
          <p:cNvSpPr txBox="1"/>
          <p:nvPr/>
        </p:nvSpPr>
        <p:spPr>
          <a:xfrm>
            <a:off x="14647774" y="2200046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</a:t>
            </a:r>
            <a:endParaRPr lang="en-US" sz="1100" dirty="0"/>
          </a:p>
        </p:txBody>
      </p:sp>
      <p:sp>
        <p:nvSpPr>
          <p:cNvPr id="78" name="Text 67"/>
          <p:cNvSpPr txBox="1"/>
          <p:nvPr/>
        </p:nvSpPr>
        <p:spPr>
          <a:xfrm>
            <a:off x="15603322" y="2200046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100" dirty="0"/>
          </a:p>
        </p:txBody>
      </p:sp>
      <p:sp>
        <p:nvSpPr>
          <p:cNvPr id="79" name="Text 68"/>
          <p:cNvSpPr txBox="1"/>
          <p:nvPr/>
        </p:nvSpPr>
        <p:spPr>
          <a:xfrm>
            <a:off x="16037662" y="2200046"/>
            <a:ext cx="12426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</a:t>
            </a:r>
            <a:endParaRPr lang="en-US" sz="1100" dirty="0"/>
          </a:p>
        </p:txBody>
      </p:sp>
      <p:sp>
        <p:nvSpPr>
          <p:cNvPr id="80" name="Text 69"/>
          <p:cNvSpPr txBox="1"/>
          <p:nvPr/>
        </p:nvSpPr>
        <p:spPr>
          <a:xfrm>
            <a:off x="17166031" y="2200046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100" dirty="0"/>
          </a:p>
        </p:txBody>
      </p:sp>
      <p:sp>
        <p:nvSpPr>
          <p:cNvPr id="81" name="Text 70"/>
          <p:cNvSpPr txBox="1"/>
          <p:nvPr/>
        </p:nvSpPr>
        <p:spPr>
          <a:xfrm>
            <a:off x="17339767" y="2200046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</p:txBody>
      </p:sp>
      <p:sp>
        <p:nvSpPr>
          <p:cNvPr id="82" name="Text 71"/>
          <p:cNvSpPr txBox="1"/>
          <p:nvPr/>
        </p:nvSpPr>
        <p:spPr>
          <a:xfrm>
            <a:off x="17426635" y="2200046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83" name="Text 72"/>
          <p:cNvSpPr txBox="1"/>
          <p:nvPr/>
        </p:nvSpPr>
        <p:spPr>
          <a:xfrm>
            <a:off x="17946929" y="2200046"/>
            <a:ext cx="12426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</a:t>
            </a:r>
            <a:endParaRPr lang="en-US" sz="1100" dirty="0"/>
          </a:p>
        </p:txBody>
      </p:sp>
      <p:sp>
        <p:nvSpPr>
          <p:cNvPr id="84" name="Text 73"/>
          <p:cNvSpPr txBox="1"/>
          <p:nvPr/>
        </p:nvSpPr>
        <p:spPr>
          <a:xfrm>
            <a:off x="19076213" y="220004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85" name="Text 74"/>
          <p:cNvSpPr txBox="1"/>
          <p:nvPr/>
        </p:nvSpPr>
        <p:spPr>
          <a:xfrm>
            <a:off x="19423685" y="2200046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</p:txBody>
      </p:sp>
      <p:sp>
        <p:nvSpPr>
          <p:cNvPr id="86" name="Text 75"/>
          <p:cNvSpPr txBox="1"/>
          <p:nvPr/>
        </p:nvSpPr>
        <p:spPr>
          <a:xfrm>
            <a:off x="20117714" y="220004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87" name="Text 76"/>
          <p:cNvSpPr txBox="1"/>
          <p:nvPr/>
        </p:nvSpPr>
        <p:spPr>
          <a:xfrm>
            <a:off x="20465186" y="2200046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88" name="Text 77"/>
          <p:cNvSpPr txBox="1"/>
          <p:nvPr/>
        </p:nvSpPr>
        <p:spPr>
          <a:xfrm>
            <a:off x="21680424" y="2200046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89" name="Text 78"/>
          <p:cNvSpPr txBox="1"/>
          <p:nvPr/>
        </p:nvSpPr>
        <p:spPr>
          <a:xfrm>
            <a:off x="21854160" y="2200046"/>
            <a:ext cx="2194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100" dirty="0"/>
          </a:p>
        </p:txBody>
      </p:sp>
      <p:sp>
        <p:nvSpPr>
          <p:cNvPr id="90" name="Text 79"/>
          <p:cNvSpPr txBox="1"/>
          <p:nvPr/>
        </p:nvSpPr>
        <p:spPr>
          <a:xfrm>
            <a:off x="23938078" y="220004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91" name="Text 80"/>
          <p:cNvSpPr txBox="1"/>
          <p:nvPr/>
        </p:nvSpPr>
        <p:spPr>
          <a:xfrm>
            <a:off x="24285550" y="2200046"/>
            <a:ext cx="9857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p</a:t>
            </a:r>
            <a:endParaRPr lang="en-US" sz="1100" dirty="0"/>
          </a:p>
        </p:txBody>
      </p:sp>
      <p:sp>
        <p:nvSpPr>
          <p:cNvPr id="92" name="Text 81"/>
          <p:cNvSpPr txBox="1"/>
          <p:nvPr/>
        </p:nvSpPr>
        <p:spPr>
          <a:xfrm>
            <a:off x="25153315" y="2200046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93" name="Text 82"/>
          <p:cNvSpPr txBox="1"/>
          <p:nvPr/>
        </p:nvSpPr>
        <p:spPr>
          <a:xfrm>
            <a:off x="25327051" y="2200046"/>
            <a:ext cx="25475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oi.PRODUCT_ID = p.PRODUCT_ID</a:t>
            </a:r>
            <a:endParaRPr lang="en-US" sz="1100" dirty="0"/>
          </a:p>
        </p:txBody>
      </p:sp>
      <p:sp>
        <p:nvSpPr>
          <p:cNvPr id="94" name="Text 83"/>
          <p:cNvSpPr txBox="1"/>
          <p:nvPr/>
        </p:nvSpPr>
        <p:spPr>
          <a:xfrm>
            <a:off x="27757526" y="2200046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100" dirty="0"/>
          </a:p>
        </p:txBody>
      </p:sp>
      <p:sp>
        <p:nvSpPr>
          <p:cNvPr id="95" name="Text 84"/>
          <p:cNvSpPr txBox="1"/>
          <p:nvPr/>
        </p:nvSpPr>
        <p:spPr>
          <a:xfrm>
            <a:off x="6400800" y="2200046"/>
            <a:ext cx="2415936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p.CATEGORY = 'Accessories'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96" name="Shape 85"/>
          <p:cNvSpPr/>
          <p:nvPr/>
        </p:nvSpPr>
        <p:spPr>
          <a:xfrm>
            <a:off x="0" y="6439205"/>
            <a:ext cx="12191695" cy="4187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7" name="Text 86"/>
          <p:cNvSpPr txBox="1"/>
          <p:nvPr/>
        </p:nvSpPr>
        <p:spPr>
          <a:xfrm>
            <a:off x="381305" y="6553505"/>
            <a:ext cx="21003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&amp; Snowflake Training Series</a:t>
            </a:r>
            <a:endParaRPr lang="en-US" sz="1000" dirty="0"/>
          </a:p>
        </p:txBody>
      </p:sp>
      <p:pic>
        <p:nvPicPr>
          <p:cNvPr id="98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48472" y="6579108"/>
            <a:ext cx="133502" cy="133502"/>
          </a:xfrm>
          <a:prstGeom prst="rect">
            <a:avLst/>
          </a:prstGeom>
        </p:spPr>
      </p:pic>
      <p:sp>
        <p:nvSpPr>
          <p:cNvPr id="99" name="Text 87"/>
          <p:cNvSpPr txBox="1"/>
          <p:nvPr/>
        </p:nvSpPr>
        <p:spPr>
          <a:xfrm>
            <a:off x="8519465" y="6553505"/>
            <a:ext cx="28913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Subqueries must be enclosed in parentheses</a:t>
            </a:r>
            <a:endParaRPr lang="en-US" sz="1000" dirty="0"/>
          </a:p>
        </p:txBody>
      </p:sp>
      <p:sp>
        <p:nvSpPr>
          <p:cNvPr id="100" name="Text 88"/>
          <p:cNvSpPr txBox="1"/>
          <p:nvPr/>
        </p:nvSpPr>
        <p:spPr>
          <a:xfrm>
            <a:off x="11462004" y="6553505"/>
            <a:ext cx="4526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488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Shape 2"/>
          <p:cNvSpPr/>
          <p:nvPr/>
        </p:nvSpPr>
        <p:spPr>
          <a:xfrm>
            <a:off x="10668305" y="6724498"/>
            <a:ext cx="1524305" cy="1524305"/>
          </a:xfrm>
          <a:prstGeom prst="roundRect">
            <a:avLst>
              <a:gd name="adj" fmla="val 59988"/>
            </a:avLst>
          </a:prstGeom>
          <a:solidFill>
            <a:srgbClr val="0747A6">
              <a:alpha val="7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448056"/>
            <a:ext cx="60158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Nested &amp; Correlated Queries + Practice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1047902"/>
            <a:ext cx="2343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Correlated Subqueries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1419149"/>
            <a:ext cx="5458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Subquery that references columns from the outer query, executed once for each row processed by the outer query.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000707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5002" y="1990649"/>
            <a:ext cx="44577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Inner query depends on outer query and cannot be executed independently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553005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5002" y="2542946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be performance-intensive with large datasets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57200" y="2876702"/>
            <a:ext cx="114300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6598" y="2866644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Often used for row-by-row comparisons against aggregates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81305" y="3333902"/>
            <a:ext cx="153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 Tasks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381305" y="3696005"/>
            <a:ext cx="5486400" cy="609905"/>
          </a:xfrm>
          <a:prstGeom prst="roundRect">
            <a:avLst>
              <a:gd name="adj" fmla="val 9370"/>
            </a:avLst>
          </a:prstGeom>
          <a:solidFill>
            <a:srgbClr val="EFF6FF"/>
          </a:solidFill>
          <a:ln/>
        </p:spPr>
      </p:sp>
      <p:sp>
        <p:nvSpPr>
          <p:cNvPr id="16" name="Shape 11"/>
          <p:cNvSpPr/>
          <p:nvPr/>
        </p:nvSpPr>
        <p:spPr>
          <a:xfrm>
            <a:off x="381305" y="3696005"/>
            <a:ext cx="38405" cy="6099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33095" y="3781044"/>
            <a:ext cx="23911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Find products never ordered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33095" y="4038905"/>
            <a:ext cx="53108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NOT EXISTS to identify products with no corresponding entries in ORDER_ITEMS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81305" y="4381805"/>
            <a:ext cx="5486400" cy="800100"/>
          </a:xfrm>
          <a:prstGeom prst="roundRect">
            <a:avLst>
              <a:gd name="adj" fmla="val 5442"/>
            </a:avLst>
          </a:prstGeom>
          <a:solidFill>
            <a:srgbClr val="EFF6FF"/>
          </a:solidFill>
          <a:ln/>
        </p:spPr>
      </p:sp>
      <p:sp>
        <p:nvSpPr>
          <p:cNvPr id="20" name="Shape 15"/>
          <p:cNvSpPr/>
          <p:nvPr/>
        </p:nvSpPr>
        <p:spPr>
          <a:xfrm>
            <a:off x="381305" y="4381805"/>
            <a:ext cx="38405" cy="8001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33095" y="4466844"/>
            <a:ext cx="33631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Customers above segment-average spend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33095" y="4724705"/>
            <a:ext cx="48536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each segment, list customers whose total spend exceeds their segment's average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81305" y="5257800"/>
            <a:ext cx="5486400" cy="609905"/>
          </a:xfrm>
          <a:prstGeom prst="roundRect">
            <a:avLst>
              <a:gd name="adj" fmla="val 9370"/>
            </a:avLst>
          </a:prstGeom>
          <a:solidFill>
            <a:srgbClr val="EFF6FF"/>
          </a:solidFill>
          <a:ln/>
        </p:spPr>
      </p:sp>
      <p:sp>
        <p:nvSpPr>
          <p:cNvPr id="24" name="Shape 19"/>
          <p:cNvSpPr/>
          <p:nvPr/>
        </p:nvSpPr>
        <p:spPr>
          <a:xfrm>
            <a:off x="381305" y="5257800"/>
            <a:ext cx="38405" cy="6099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33095" y="5343754"/>
            <a:ext cx="23436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Top 3 categories by revenue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33095" y="5600700"/>
            <a:ext cx="48435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 derived table to calculate revenue by category, then ORDER BY + LIMIT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381305" y="6115507"/>
            <a:ext cx="1877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5C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Tips</a:t>
            </a:r>
            <a:endParaRPr lang="en-US" sz="15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6495898"/>
            <a:ext cx="152705" cy="15270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05002" y="6486754"/>
            <a:ext cx="43918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row counts at each step to avoid multiplication effects</a:t>
            </a:r>
            <a:endParaRPr lang="en-US" sz="12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6819595"/>
            <a:ext cx="152705" cy="152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05002" y="6810451"/>
            <a:ext cx="45153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filters in subqueries before joining to reduce processing</a:t>
            </a:r>
            <a:endParaRPr lang="en-US" sz="12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457200" y="7144207"/>
            <a:ext cx="133502" cy="152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5800" y="7134149"/>
            <a:ext cx="47247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 rewriting as JOIN when possible for better performance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248095" y="1028700"/>
            <a:ext cx="5562295" cy="6420002"/>
          </a:xfrm>
          <a:prstGeom prst="roundRect">
            <a:avLst>
              <a:gd name="adj" fmla="val 169"/>
            </a:avLst>
          </a:prstGeom>
          <a:solidFill>
            <a:srgbClr val="1E293B"/>
          </a:solidFill>
          <a:ln/>
        </p:spPr>
      </p:sp>
      <p:sp>
        <p:nvSpPr>
          <p:cNvPr id="35" name="Shape 27"/>
          <p:cNvSpPr/>
          <p:nvPr/>
        </p:nvSpPr>
        <p:spPr>
          <a:xfrm>
            <a:off x="6248095" y="1028700"/>
            <a:ext cx="5562295" cy="362102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6400800" y="1141171"/>
            <a:ext cx="171907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648602" y="1114654"/>
            <a:ext cx="37892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whose total spend exceeds overall average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6400800" y="1548994"/>
            <a:ext cx="48051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Customers whose total spend exceeds overall average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11088929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11609222" y="1548994"/>
            <a:ext cx="27185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c.CUSTOMER_ID, c.CUSTOMER_NAME</a:t>
            </a:r>
            <a:endParaRPr lang="en-US" sz="1100" dirty="0"/>
          </a:p>
        </p:txBody>
      </p:sp>
      <p:sp>
        <p:nvSpPr>
          <p:cNvPr id="41" name="Text 32"/>
          <p:cNvSpPr txBox="1"/>
          <p:nvPr/>
        </p:nvSpPr>
        <p:spPr>
          <a:xfrm>
            <a:off x="14213434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14560906" y="154899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15516454" y="1548994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15950794" y="1548994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16037662" y="154899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16557955" y="154899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47" name="Text 38"/>
          <p:cNvSpPr txBox="1"/>
          <p:nvPr/>
        </p:nvSpPr>
        <p:spPr>
          <a:xfrm>
            <a:off x="16818559" y="1548994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19335902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49" name="Text 40"/>
          <p:cNvSpPr txBox="1"/>
          <p:nvPr/>
        </p:nvSpPr>
        <p:spPr>
          <a:xfrm>
            <a:off x="19683374" y="1548994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20378318" y="154899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51" name="Text 42"/>
          <p:cNvSpPr txBox="1"/>
          <p:nvPr/>
        </p:nvSpPr>
        <p:spPr>
          <a:xfrm>
            <a:off x="20725790" y="1548994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52" name="Text 43"/>
          <p:cNvSpPr txBox="1"/>
          <p:nvPr/>
        </p:nvSpPr>
        <p:spPr>
          <a:xfrm>
            <a:off x="21941028" y="154899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53" name="Text 44"/>
          <p:cNvSpPr txBox="1"/>
          <p:nvPr/>
        </p:nvSpPr>
        <p:spPr>
          <a:xfrm>
            <a:off x="22114764" y="1548994"/>
            <a:ext cx="2194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100" dirty="0"/>
          </a:p>
        </p:txBody>
      </p:sp>
      <p:sp>
        <p:nvSpPr>
          <p:cNvPr id="54" name="Text 45"/>
          <p:cNvSpPr txBox="1"/>
          <p:nvPr/>
        </p:nvSpPr>
        <p:spPr>
          <a:xfrm>
            <a:off x="24198682" y="1548994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100" dirty="0"/>
          </a:p>
        </p:txBody>
      </p:sp>
      <p:sp>
        <p:nvSpPr>
          <p:cNvPr id="55" name="Text 46"/>
          <p:cNvSpPr txBox="1"/>
          <p:nvPr/>
        </p:nvSpPr>
        <p:spPr>
          <a:xfrm>
            <a:off x="6400800" y="1548994"/>
            <a:ext cx="2086386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 = c.CUSTOMER_ID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&gt; (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6835140" y="1765706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7355434" y="1765706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7616038" y="1765706"/>
            <a:ext cx="11567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(CUST_TOTAL)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8658454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9005011" y="1765706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9092794" y="1765706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9613087" y="1765706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o.CUSTOMER_ID,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10828325" y="1765706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64" name="Text 55"/>
          <p:cNvSpPr txBox="1"/>
          <p:nvPr/>
        </p:nvSpPr>
        <p:spPr>
          <a:xfrm>
            <a:off x="11088929" y="1765706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</a:t>
            </a:r>
            <a:endParaRPr lang="en-US" sz="1100" dirty="0"/>
          </a:p>
        </p:txBody>
      </p:sp>
      <p:sp>
        <p:nvSpPr>
          <p:cNvPr id="65" name="Text 56"/>
          <p:cNvSpPr txBox="1"/>
          <p:nvPr/>
        </p:nvSpPr>
        <p:spPr>
          <a:xfrm>
            <a:off x="13607186" y="1765706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66" name="Text 57"/>
          <p:cNvSpPr txBox="1"/>
          <p:nvPr/>
        </p:nvSpPr>
        <p:spPr>
          <a:xfrm>
            <a:off x="13780008" y="1765706"/>
            <a:ext cx="9857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CUST_TOTAL</a:t>
            </a:r>
            <a:endParaRPr lang="en-US" sz="1100" dirty="0"/>
          </a:p>
        </p:txBody>
      </p:sp>
      <p:sp>
        <p:nvSpPr>
          <p:cNvPr id="67" name="Text 58"/>
          <p:cNvSpPr txBox="1"/>
          <p:nvPr/>
        </p:nvSpPr>
        <p:spPr>
          <a:xfrm>
            <a:off x="14648688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68" name="Text 59"/>
          <p:cNvSpPr txBox="1"/>
          <p:nvPr/>
        </p:nvSpPr>
        <p:spPr>
          <a:xfrm>
            <a:off x="14996160" y="1765706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</p:txBody>
      </p:sp>
      <p:sp>
        <p:nvSpPr>
          <p:cNvPr id="69" name="Text 60"/>
          <p:cNvSpPr txBox="1"/>
          <p:nvPr/>
        </p:nvSpPr>
        <p:spPr>
          <a:xfrm>
            <a:off x="15690190" y="176570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70" name="Text 61"/>
          <p:cNvSpPr txBox="1"/>
          <p:nvPr/>
        </p:nvSpPr>
        <p:spPr>
          <a:xfrm>
            <a:off x="16037662" y="1765706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71" name="Text 62"/>
          <p:cNvSpPr txBox="1"/>
          <p:nvPr/>
        </p:nvSpPr>
        <p:spPr>
          <a:xfrm>
            <a:off x="17252899" y="1765706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72" name="Text 63"/>
          <p:cNvSpPr txBox="1"/>
          <p:nvPr/>
        </p:nvSpPr>
        <p:spPr>
          <a:xfrm>
            <a:off x="17426635" y="1765706"/>
            <a:ext cx="2194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100" dirty="0"/>
          </a:p>
        </p:txBody>
      </p:sp>
      <p:sp>
        <p:nvSpPr>
          <p:cNvPr id="73" name="Text 64"/>
          <p:cNvSpPr txBox="1"/>
          <p:nvPr/>
        </p:nvSpPr>
        <p:spPr>
          <a:xfrm>
            <a:off x="19510553" y="1765706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74" name="Text 65"/>
          <p:cNvSpPr txBox="1"/>
          <p:nvPr/>
        </p:nvSpPr>
        <p:spPr>
          <a:xfrm>
            <a:off x="6400800" y="1765706"/>
            <a:ext cx="1504462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75" name="Text 66"/>
          <p:cNvSpPr txBox="1"/>
          <p:nvPr/>
        </p:nvSpPr>
        <p:spPr>
          <a:xfrm>
            <a:off x="6574536" y="2200046"/>
            <a:ext cx="36713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Alternative approach using WITH clause</a:t>
            </a:r>
            <a:endParaRPr lang="en-US" sz="1100" dirty="0"/>
          </a:p>
        </p:txBody>
      </p:sp>
      <p:sp>
        <p:nvSpPr>
          <p:cNvPr id="76" name="Text 67"/>
          <p:cNvSpPr txBox="1"/>
          <p:nvPr/>
        </p:nvSpPr>
        <p:spPr>
          <a:xfrm>
            <a:off x="10134295" y="220004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100" dirty="0"/>
          </a:p>
        </p:txBody>
      </p:sp>
      <p:sp>
        <p:nvSpPr>
          <p:cNvPr id="77" name="Text 68"/>
          <p:cNvSpPr txBox="1"/>
          <p:nvPr/>
        </p:nvSpPr>
        <p:spPr>
          <a:xfrm>
            <a:off x="10480853" y="2200046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customer_spend</a:t>
            </a:r>
            <a:endParaRPr lang="en-US" sz="1100" dirty="0"/>
          </a:p>
        </p:txBody>
      </p:sp>
      <p:sp>
        <p:nvSpPr>
          <p:cNvPr id="78" name="Text 69"/>
          <p:cNvSpPr txBox="1"/>
          <p:nvPr/>
        </p:nvSpPr>
        <p:spPr>
          <a:xfrm>
            <a:off x="11697005" y="2200046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79" name="Text 70"/>
          <p:cNvSpPr txBox="1"/>
          <p:nvPr/>
        </p:nvSpPr>
        <p:spPr>
          <a:xfrm>
            <a:off x="11870741" y="2200046"/>
            <a:ext cx="2039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</p:txBody>
      </p:sp>
      <p:sp>
        <p:nvSpPr>
          <p:cNvPr id="80" name="Text 71"/>
          <p:cNvSpPr txBox="1"/>
          <p:nvPr/>
        </p:nvSpPr>
        <p:spPr>
          <a:xfrm>
            <a:off x="11957609" y="2200046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81" name="Text 72"/>
          <p:cNvSpPr txBox="1"/>
          <p:nvPr/>
        </p:nvSpPr>
        <p:spPr>
          <a:xfrm>
            <a:off x="12477902" y="2200046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o.CUSTOMER_ID,</a:t>
            </a:r>
            <a:endParaRPr lang="en-US" sz="1100" dirty="0"/>
          </a:p>
        </p:txBody>
      </p:sp>
      <p:sp>
        <p:nvSpPr>
          <p:cNvPr id="82" name="Text 73"/>
          <p:cNvSpPr txBox="1"/>
          <p:nvPr/>
        </p:nvSpPr>
        <p:spPr>
          <a:xfrm>
            <a:off x="13694054" y="2200046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100" dirty="0"/>
          </a:p>
        </p:txBody>
      </p:sp>
      <p:sp>
        <p:nvSpPr>
          <p:cNvPr id="83" name="Text 74"/>
          <p:cNvSpPr txBox="1"/>
          <p:nvPr/>
        </p:nvSpPr>
        <p:spPr>
          <a:xfrm>
            <a:off x="13953744" y="2200046"/>
            <a:ext cx="2633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oi.UNIT_PRICE)</a:t>
            </a:r>
            <a:endParaRPr lang="en-US" sz="1100" dirty="0"/>
          </a:p>
        </p:txBody>
      </p:sp>
      <p:sp>
        <p:nvSpPr>
          <p:cNvPr id="84" name="Text 75"/>
          <p:cNvSpPr txBox="1"/>
          <p:nvPr/>
        </p:nvSpPr>
        <p:spPr>
          <a:xfrm>
            <a:off x="16472002" y="2200046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100" dirty="0"/>
          </a:p>
        </p:txBody>
      </p:sp>
      <p:sp>
        <p:nvSpPr>
          <p:cNvPr id="85" name="Text 76"/>
          <p:cNvSpPr txBox="1"/>
          <p:nvPr/>
        </p:nvSpPr>
        <p:spPr>
          <a:xfrm>
            <a:off x="16645738" y="2200046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100" dirty="0"/>
          </a:p>
        </p:txBody>
      </p:sp>
      <p:sp>
        <p:nvSpPr>
          <p:cNvPr id="86" name="Text 77"/>
          <p:cNvSpPr txBox="1"/>
          <p:nvPr/>
        </p:nvSpPr>
        <p:spPr>
          <a:xfrm>
            <a:off x="17079163" y="220004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87" name="Text 78"/>
          <p:cNvSpPr txBox="1"/>
          <p:nvPr/>
        </p:nvSpPr>
        <p:spPr>
          <a:xfrm>
            <a:off x="17426635" y="2200046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</p:txBody>
      </p:sp>
      <p:sp>
        <p:nvSpPr>
          <p:cNvPr id="88" name="Text 79"/>
          <p:cNvSpPr txBox="1"/>
          <p:nvPr/>
        </p:nvSpPr>
        <p:spPr>
          <a:xfrm>
            <a:off x="18121579" y="2200046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89" name="Text 80"/>
          <p:cNvSpPr txBox="1"/>
          <p:nvPr/>
        </p:nvSpPr>
        <p:spPr>
          <a:xfrm>
            <a:off x="18469051" y="2200046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 oi</a:t>
            </a:r>
            <a:endParaRPr lang="en-US" sz="1100" dirty="0"/>
          </a:p>
        </p:txBody>
      </p:sp>
      <p:sp>
        <p:nvSpPr>
          <p:cNvPr id="90" name="Text 81"/>
          <p:cNvSpPr txBox="1"/>
          <p:nvPr/>
        </p:nvSpPr>
        <p:spPr>
          <a:xfrm>
            <a:off x="19684289" y="2200046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91" name="Text 82"/>
          <p:cNvSpPr txBox="1"/>
          <p:nvPr/>
        </p:nvSpPr>
        <p:spPr>
          <a:xfrm>
            <a:off x="19858025" y="2200046"/>
            <a:ext cx="2194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100" dirty="0"/>
          </a:p>
        </p:txBody>
      </p:sp>
      <p:sp>
        <p:nvSpPr>
          <p:cNvPr id="92" name="Text 83"/>
          <p:cNvSpPr txBox="1"/>
          <p:nvPr/>
        </p:nvSpPr>
        <p:spPr>
          <a:xfrm>
            <a:off x="21941942" y="2200046"/>
            <a:ext cx="804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100" dirty="0"/>
          </a:p>
        </p:txBody>
      </p:sp>
      <p:sp>
        <p:nvSpPr>
          <p:cNvPr id="93" name="Text 84"/>
          <p:cNvSpPr txBox="1"/>
          <p:nvPr/>
        </p:nvSpPr>
        <p:spPr>
          <a:xfrm>
            <a:off x="6400800" y="2200046"/>
            <a:ext cx="1747327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94" name="Text 85"/>
          <p:cNvSpPr txBox="1"/>
          <p:nvPr/>
        </p:nvSpPr>
        <p:spPr>
          <a:xfrm>
            <a:off x="6487668" y="241767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95" name="Text 86"/>
          <p:cNvSpPr txBox="1"/>
          <p:nvPr/>
        </p:nvSpPr>
        <p:spPr>
          <a:xfrm>
            <a:off x="7008876" y="2417674"/>
            <a:ext cx="35853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c.CUSTOMER_ID, c.CUSTOMER_NAME, cs.total</a:t>
            </a:r>
            <a:endParaRPr lang="en-US" sz="1100" dirty="0"/>
          </a:p>
        </p:txBody>
      </p:sp>
      <p:sp>
        <p:nvSpPr>
          <p:cNvPr id="96" name="Text 87"/>
          <p:cNvSpPr txBox="1"/>
          <p:nvPr/>
        </p:nvSpPr>
        <p:spPr>
          <a:xfrm>
            <a:off x="10480853" y="241767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97" name="Text 88"/>
          <p:cNvSpPr txBox="1"/>
          <p:nvPr/>
        </p:nvSpPr>
        <p:spPr>
          <a:xfrm>
            <a:off x="10828325" y="2417674"/>
            <a:ext cx="10707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</a:t>
            </a:r>
            <a:endParaRPr lang="en-US" sz="1100" dirty="0"/>
          </a:p>
        </p:txBody>
      </p:sp>
      <p:sp>
        <p:nvSpPr>
          <p:cNvPr id="98" name="Text 89"/>
          <p:cNvSpPr txBox="1"/>
          <p:nvPr/>
        </p:nvSpPr>
        <p:spPr>
          <a:xfrm>
            <a:off x="11783873" y="241767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00" dirty="0"/>
          </a:p>
        </p:txBody>
      </p:sp>
      <p:sp>
        <p:nvSpPr>
          <p:cNvPr id="99" name="Text 90"/>
          <p:cNvSpPr txBox="1"/>
          <p:nvPr/>
        </p:nvSpPr>
        <p:spPr>
          <a:xfrm>
            <a:off x="12130430" y="2417674"/>
            <a:ext cx="15855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customer_spend cs</a:t>
            </a:r>
            <a:endParaRPr lang="en-US" sz="1100" dirty="0"/>
          </a:p>
        </p:txBody>
      </p:sp>
      <p:sp>
        <p:nvSpPr>
          <p:cNvPr id="100" name="Text 91"/>
          <p:cNvSpPr txBox="1"/>
          <p:nvPr/>
        </p:nvSpPr>
        <p:spPr>
          <a:xfrm>
            <a:off x="13607186" y="2417674"/>
            <a:ext cx="2898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101" name="Text 92"/>
          <p:cNvSpPr txBox="1"/>
          <p:nvPr/>
        </p:nvSpPr>
        <p:spPr>
          <a:xfrm>
            <a:off x="13780008" y="2417674"/>
            <a:ext cx="27185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 = cs.CUSTOMER_ID</a:t>
            </a:r>
            <a:endParaRPr lang="en-US" sz="1100" dirty="0"/>
          </a:p>
        </p:txBody>
      </p:sp>
      <p:sp>
        <p:nvSpPr>
          <p:cNvPr id="102" name="Text 93"/>
          <p:cNvSpPr txBox="1"/>
          <p:nvPr/>
        </p:nvSpPr>
        <p:spPr>
          <a:xfrm>
            <a:off x="16385134" y="2417674"/>
            <a:ext cx="5468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100" dirty="0"/>
          </a:p>
        </p:txBody>
      </p:sp>
      <p:sp>
        <p:nvSpPr>
          <p:cNvPr id="103" name="Text 94"/>
          <p:cNvSpPr txBox="1"/>
          <p:nvPr/>
        </p:nvSpPr>
        <p:spPr>
          <a:xfrm>
            <a:off x="16818559" y="2417674"/>
            <a:ext cx="11567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cs.total &gt; (</a:t>
            </a:r>
            <a:endParaRPr lang="en-US" sz="1100" dirty="0"/>
          </a:p>
        </p:txBody>
      </p:sp>
      <p:sp>
        <p:nvSpPr>
          <p:cNvPr id="104" name="Text 95"/>
          <p:cNvSpPr txBox="1"/>
          <p:nvPr/>
        </p:nvSpPr>
        <p:spPr>
          <a:xfrm>
            <a:off x="17860975" y="2417674"/>
            <a:ext cx="6327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105" name="Text 96"/>
          <p:cNvSpPr txBox="1"/>
          <p:nvPr/>
        </p:nvSpPr>
        <p:spPr>
          <a:xfrm>
            <a:off x="18381269" y="2417674"/>
            <a:ext cx="3758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endParaRPr lang="en-US" sz="1100" dirty="0"/>
          </a:p>
        </p:txBody>
      </p:sp>
      <p:sp>
        <p:nvSpPr>
          <p:cNvPr id="106" name="Text 97"/>
          <p:cNvSpPr txBox="1"/>
          <p:nvPr/>
        </p:nvSpPr>
        <p:spPr>
          <a:xfrm>
            <a:off x="18641873" y="2417674"/>
            <a:ext cx="7187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(total)</a:t>
            </a:r>
            <a:endParaRPr lang="en-US" sz="1100" dirty="0"/>
          </a:p>
        </p:txBody>
      </p:sp>
      <p:sp>
        <p:nvSpPr>
          <p:cNvPr id="107" name="Text 98"/>
          <p:cNvSpPr txBox="1"/>
          <p:nvPr/>
        </p:nvSpPr>
        <p:spPr>
          <a:xfrm>
            <a:off x="19249949" y="2417674"/>
            <a:ext cx="4617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108" name="Text 99"/>
          <p:cNvSpPr txBox="1"/>
          <p:nvPr/>
        </p:nvSpPr>
        <p:spPr>
          <a:xfrm>
            <a:off x="19597421" y="2417674"/>
            <a:ext cx="14996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customer_spend);</a:t>
            </a:r>
            <a:endParaRPr lang="en-US" sz="1100" dirty="0"/>
          </a:p>
        </p:txBody>
      </p:sp>
      <p:sp>
        <p:nvSpPr>
          <p:cNvPr id="109" name="Shape 100"/>
          <p:cNvSpPr/>
          <p:nvPr/>
        </p:nvSpPr>
        <p:spPr>
          <a:xfrm>
            <a:off x="0" y="7830007"/>
            <a:ext cx="12191695" cy="4187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0" name="Text 101"/>
          <p:cNvSpPr txBox="1"/>
          <p:nvPr/>
        </p:nvSpPr>
        <p:spPr>
          <a:xfrm>
            <a:off x="381305" y="7944307"/>
            <a:ext cx="21003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&amp; Snowflake Training Series</a:t>
            </a:r>
            <a:endParaRPr lang="en-US" sz="1000" dirty="0"/>
          </a:p>
        </p:txBody>
      </p:sp>
      <p:pic>
        <p:nvPicPr>
          <p:cNvPr id="111" name="Image 7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8815730" y="7969910"/>
            <a:ext cx="114300" cy="133502"/>
          </a:xfrm>
          <a:prstGeom prst="rect">
            <a:avLst/>
          </a:prstGeom>
        </p:spPr>
      </p:pic>
      <p:sp>
        <p:nvSpPr>
          <p:cNvPr id="112" name="Text 102"/>
          <p:cNvSpPr txBox="1"/>
          <p:nvPr/>
        </p:nvSpPr>
        <p:spPr>
          <a:xfrm>
            <a:off x="8968435" y="7944307"/>
            <a:ext cx="1843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2: Advanced SQL Topics</a:t>
            </a:r>
            <a:endParaRPr lang="en-US" sz="1000" dirty="0"/>
          </a:p>
        </p:txBody>
      </p:sp>
      <p:pic>
        <p:nvPicPr>
          <p:cNvPr id="113" name="Image 8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10859414" y="7969910"/>
            <a:ext cx="114300" cy="133502"/>
          </a:xfrm>
          <a:prstGeom prst="rect">
            <a:avLst/>
          </a:prstGeom>
        </p:spPr>
      </p:pic>
      <p:sp>
        <p:nvSpPr>
          <p:cNvPr id="114" name="Text 103"/>
          <p:cNvSpPr txBox="1"/>
          <p:nvPr/>
        </p:nvSpPr>
        <p:spPr>
          <a:xfrm>
            <a:off x="11012119" y="7944307"/>
            <a:ext cx="9006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Module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1840</Words>
  <Application>Microsoft Office PowerPoint</Application>
  <PresentationFormat>Widescreen</PresentationFormat>
  <Paragraphs>559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Courier New</vt:lpstr>
      <vt:lpstr>Inter</vt:lpstr>
      <vt:lpstr>Montserrat</vt:lpstr>
      <vt:lpstr>Open Sans</vt:lpstr>
      <vt:lpstr>Roboto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KITS</cp:lastModifiedBy>
  <cp:revision>2</cp:revision>
  <dcterms:created xsi:type="dcterms:W3CDTF">2025-11-16T19:41:53Z</dcterms:created>
  <dcterms:modified xsi:type="dcterms:W3CDTF">2025-11-19T03:20:02Z</dcterms:modified>
</cp:coreProperties>
</file>