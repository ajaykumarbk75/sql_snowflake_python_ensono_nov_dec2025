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00454"/>
          </a:xfrm>
          <a:prstGeom prst="rect">
            <a:avLst/>
          </a:prstGeom>
          <a:solidFill>
            <a:srgbClr val="0747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107" r="-107" t="0" b="0"/>
          <a:stretch/>
        </p:blipFill>
        <p:spPr>
          <a:xfrm>
            <a:off x="11734495" y="256946"/>
            <a:ext cx="267005" cy="3044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86177" y="428854"/>
            <a:ext cx="693023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3: Intermediate SQL (Part 1)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3327502" y="1104595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Table Expressions &amp; Window Functions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2124151"/>
            <a:ext cx="15270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2085746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Duration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2409444"/>
            <a:ext cx="3162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 hours (including hands-on exercises)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761695" y="2885846"/>
            <a:ext cx="171907" cy="1527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33602" y="2848356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3172054"/>
            <a:ext cx="1619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1–2 completion: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90295" y="3400654"/>
            <a:ext cx="2334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basics (SELECT, WHERE)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90295" y="3629254"/>
            <a:ext cx="2572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 joins (INNER, LEFT, RIGHT)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90295" y="3857854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Aggregations (GROUP BY, ORDER BY)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1695" y="4334256"/>
            <a:ext cx="152705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4400" y="4295851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Today's Topics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990295" y="4619549"/>
            <a:ext cx="27340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Table Expressions (CTEs)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990295" y="4848149"/>
            <a:ext cx="4286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Functions (RANK, ROW_NUMBER, LEAD/LAG)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5076749"/>
            <a:ext cx="2229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Best Practices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6286500" y="2124151"/>
            <a:ext cx="190195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76695" y="2085746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515100" y="2409444"/>
            <a:ext cx="3448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readable, modular queries using CTEs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515100" y="2638044"/>
            <a:ext cx="4372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window functions for ranking and analytical tasks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515100" y="2866644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running metrics and period-over-period changes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515100" y="3095244"/>
            <a:ext cx="3534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queries for Snowflake performance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515100" y="3323844"/>
            <a:ext cx="4506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techniques to solve complex business problems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6286500" y="3800246"/>
            <a:ext cx="171907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58407" y="37627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Agenda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295644" y="4095598"/>
            <a:ext cx="972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9:00 - 10:00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7839151" y="4095598"/>
            <a:ext cx="1877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CTEs: Theory &amp; Practice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295644" y="4343400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10:00 - 10:30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839151" y="4343400"/>
            <a:ext cx="2486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Hands-on: Writing CTE Queries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295644" y="4591202"/>
            <a:ext cx="914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10:30 - 11:15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839151" y="4591202"/>
            <a:ext cx="1562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295644" y="4839005"/>
            <a:ext cx="866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11:15 - 11:45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839151" y="4839005"/>
            <a:ext cx="1877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Combined Approaches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6295644" y="5086807"/>
            <a:ext cx="962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11:45 - 12:00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839151" y="5086807"/>
            <a:ext cx="2229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Best Practices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0" y="6344107"/>
            <a:ext cx="12191695" cy="51480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571500" y="6505956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0885932" y="6505956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31912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CTEs: What &amp; Why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1380744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238451"/>
            <a:ext cx="21479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 vs Subqueries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3866998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Syntax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5400446"/>
            <a:ext cx="17675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Comparison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1628546"/>
            <a:ext cx="57342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CTE is a named, temporary result set defined within a query using WITH ... AS (...) that exists only for the duration of the query.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15100" y="2572207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Readability: Clean, modular code structure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5100" y="2800807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Reusability: Use the same result set multiple times in a query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5100" y="3029407"/>
            <a:ext cx="4372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Debugging: Easier to test and troubleshoot step by step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5100" y="3258007"/>
            <a:ext cx="4067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Maintenance: Cleaner structure for complex queries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15100" y="3486607"/>
            <a:ext cx="3743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Recursion: Enables hierarchical data processing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86500" y="4200754"/>
            <a:ext cx="5619902" cy="1028700"/>
          </a:xfrm>
          <a:prstGeom prst="roundRect">
            <a:avLst>
              <a:gd name="adj" fmla="val 4115"/>
            </a:avLst>
          </a:prstGeom>
          <a:solidFill>
            <a:srgbClr val="282C3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0" y="4324198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43241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601407" y="43241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361627" y="4324198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724705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81267" y="49240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92404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001914" y="4924044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4324198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cte_name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520940" y="43241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81467" y="4324198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column1, column2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724705"/>
            <a:ext cx="12243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961327" y="492404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492404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cte_name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01507" y="4924044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column1 &gt; 100;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4524451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86500" y="5715000"/>
            <a:ext cx="5619902" cy="3429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362395" y="5800954"/>
            <a:ext cx="786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Subquery: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362395" y="6143854"/>
            <a:ext cx="3858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CTE: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664501" y="5800954"/>
            <a:ext cx="1996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* FROM (SELECT ...) t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664501" y="6143854"/>
            <a:ext cx="27011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t AS (SELECT ...) SELECT * FROM t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6687007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71500" y="6801307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0885932" y="6801307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5143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 Syntax &amp; Simple Examples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2471623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17099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CTE Syntax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829154"/>
            <a:ext cx="19769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CTEs Syntax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4962449"/>
            <a:ext cx="32909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1: Total Sales per Customer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6896405"/>
            <a:ext cx="23765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2: Monthly Sales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86500" y="1628546"/>
            <a:ext cx="6877202" cy="1028700"/>
          </a:xfrm>
          <a:prstGeom prst="roundRect">
            <a:avLst>
              <a:gd name="adj" fmla="val 4115"/>
            </a:avLst>
          </a:prstGeom>
          <a:solidFill>
            <a:srgbClr val="282C34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3161995"/>
            <a:ext cx="6877202" cy="1628546"/>
          </a:xfrm>
          <a:prstGeom prst="roundRect">
            <a:avLst>
              <a:gd name="adj" fmla="val 1642"/>
            </a:avLst>
          </a:prstGeom>
          <a:solidFill>
            <a:srgbClr val="282C34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5296205"/>
            <a:ext cx="6877202" cy="1429207"/>
          </a:xfrm>
          <a:prstGeom prst="roundRect">
            <a:avLst>
              <a:gd name="adj" fmla="val 2133"/>
            </a:avLst>
          </a:prstGeom>
          <a:solidFill>
            <a:srgbClr val="282C34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0" y="7229246"/>
            <a:ext cx="6877202" cy="1028700"/>
          </a:xfrm>
          <a:prstGeom prst="roundRect">
            <a:avLst>
              <a:gd name="adj" fmla="val 4115"/>
            </a:avLst>
          </a:prstGeom>
          <a:solidFill>
            <a:srgbClr val="282C3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17529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17529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601407" y="17529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361627" y="17529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152498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81267" y="23527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3527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2863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281367" y="32863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520940" y="328635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802014" y="32863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961327" y="38862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200900" y="38862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81974" y="38862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2867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81367" y="4286707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481267" y="4486046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040880" y="44860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5419649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54196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921447" y="5419649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362542" y="5419649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242194" y="54196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122762" y="5419649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0" y="5820156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481267" y="601949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201607" y="601949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42702" y="601949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481267" y="6420002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921447" y="64200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9442094" y="64200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0" y="73536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281367" y="7353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520940" y="73536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8001914" y="7353605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482682" y="7353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1122762" y="7353605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2003329" y="7353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2723876" y="73536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400800" y="7753198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481267" y="79534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8081467" y="79534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8962034" y="79534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6720840" y="17529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cte_name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520940" y="17529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8081467" y="1752905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column1, column2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0" y="2152498"/>
            <a:ext cx="12243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6961327" y="23527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7360920" y="2352751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cte_name;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720840" y="328635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cte_one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441387" y="32863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8001914" y="3286354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col1, col2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0" y="3685946"/>
            <a:ext cx="6620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cte_two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7121347" y="38862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7681874" y="388620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col1, col3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720840" y="4286707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cte_one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6400800" y="4286707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(col1)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6961327" y="448604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360920" y="4486046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cte_two;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6720840" y="5419649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order_totals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7841894" y="5419649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8401507" y="5419649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9602114" y="541964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0403129" y="5419649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total_amt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400800" y="5820156"/>
            <a:ext cx="16248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6961327" y="6019495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c.customer_name, o.total_amt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9521647" y="6019495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order_totals o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6400800" y="64200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6880860" y="64200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(customer_id)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8561527" y="6420002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o.total_amt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9762134" y="64200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6720840" y="7353605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7441387" y="73536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8802014" y="7353605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('month', order_date)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10642702" y="73536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11363249" y="73536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12163349" y="7353605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6400800" y="7753198"/>
            <a:ext cx="8247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6961327" y="7953451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 revenue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8401507" y="7953451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9602114" y="79534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month;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6400800" y="1952244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6400800" y="3486607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table1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6400800" y="408645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table2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6400800" y="56199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6400800" y="6219749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6400800" y="75529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6286500" y="8372246"/>
            <a:ext cx="5953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 We'll add Year-To-Date calculations using window functions later today</a:t>
            </a:r>
            <a:endParaRPr lang="en-US" sz="1200" dirty="0"/>
          </a:p>
        </p:txBody>
      </p:sp>
      <p:sp>
        <p:nvSpPr>
          <p:cNvPr id="101" name="Shape 98"/>
          <p:cNvSpPr/>
          <p:nvPr/>
        </p:nvSpPr>
        <p:spPr>
          <a:xfrm>
            <a:off x="0" y="8867851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571500" y="8982151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103" name="Text 100"/>
          <p:cNvSpPr txBox="1"/>
          <p:nvPr/>
        </p:nvSpPr>
        <p:spPr>
          <a:xfrm>
            <a:off x="10885932" y="8982151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3972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CTE Patterns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3062326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14054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Chaining CTEs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3333902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Recursive CTEs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5572354"/>
            <a:ext cx="29297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Customers Example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8305495"/>
            <a:ext cx="1386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1628546"/>
            <a:ext cx="4963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multi-step data transformations with a clear, logical flow: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286500" y="3666744"/>
            <a:ext cx="4467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hierarchies, series, and graph-like data structures: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6500" y="1933956"/>
            <a:ext cx="11753698" cy="1228954"/>
          </a:xfrm>
          <a:prstGeom prst="roundRect">
            <a:avLst>
              <a:gd name="adj" fmla="val 2884"/>
            </a:avLst>
          </a:prstGeom>
          <a:solidFill>
            <a:srgbClr val="282C34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0" y="3972154"/>
            <a:ext cx="11753698" cy="1429207"/>
          </a:xfrm>
          <a:prstGeom prst="roundRect">
            <a:avLst>
              <a:gd name="adj" fmla="val 2133"/>
            </a:avLst>
          </a:prstGeom>
          <a:solidFill>
            <a:srgbClr val="282C34"/>
          </a:solidFill>
          <a:ln/>
        </p:spPr>
      </p:sp>
      <p:sp>
        <p:nvSpPr>
          <p:cNvPr id="13" name="Shape 10"/>
          <p:cNvSpPr/>
          <p:nvPr/>
        </p:nvSpPr>
        <p:spPr>
          <a:xfrm>
            <a:off x="6286500" y="5905195"/>
            <a:ext cx="11753698" cy="2229307"/>
          </a:xfrm>
          <a:prstGeom prst="roundRect">
            <a:avLst>
              <a:gd name="adj" fmla="val 876"/>
            </a:avLst>
          </a:prstGeom>
          <a:solidFill>
            <a:srgbClr val="282C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562234" y="20574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802722" y="20574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362334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457907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2002414" y="2457907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242902" y="2457907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3683996" y="2457907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4564563" y="2457907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5124176" y="24579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6405250" y="24579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001707" y="265724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2194" y="2657246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882274" y="2657246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2643409" y="26572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3363956" y="26572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4484096" y="2657246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4724583" y="265724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5444216" y="26572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481267" y="28575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040880" y="28575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0" y="4095598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561527" y="4095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442802" y="4095598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3763549" y="40955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4324076" y="4095598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0" y="4496105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601407" y="4496105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161020" y="4496105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2002414" y="44961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5604236" y="44961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481267" y="4895698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001000" y="4895698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481267" y="50959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040880" y="50959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400800" y="60295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081467" y="60295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321954" y="602955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9522562" y="6029554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1203229" y="60295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2242902" y="60295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400800" y="6429146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601407" y="68296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41894" y="682965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082174" y="6829654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11683289" y="68296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12963449" y="68296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6481267" y="72292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481267" y="76297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962034" y="76297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0962742" y="76297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3123469" y="76297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481267" y="7830007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7040880" y="78300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8561527" y="7830007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10722254" y="78300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12483389" y="78300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6720840" y="2057400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Step 1: Clean and filter raw data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8241487" y="2457907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Step 2: Aggregate the cleaned data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6560820" y="2657246"/>
            <a:ext cx="29864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Step 3: Add business logic/labels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8802014" y="4095598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Anchor member (starting point)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8881567" y="4496105"/>
            <a:ext cx="3225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Recursive member (references itself)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9602114" y="20574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cleaned_data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10722254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1282782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6801307" y="24579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8081467" y="2457907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11202314" y="2457907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aggregated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12163349" y="24579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12722962" y="2457907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13923569" y="24579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14724583" y="2457907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15444216" y="2457907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cleaned_data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6400800" y="2457907"/>
            <a:ext cx="116256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9442094" y="2657246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labeled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10161727" y="265724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10722254" y="265724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11602822" y="2657246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&gt; 10000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14884603" y="2657246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6400800" y="2657246"/>
            <a:ext cx="102732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6961327" y="28575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7360920" y="28575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labeled;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7520940" y="4095598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org_hierarchy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8721547" y="40955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11922862" y="4095598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manager_id, 0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13923569" y="4095598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6801307" y="4496105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manager_id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12483389" y="4496105"/>
            <a:ext cx="3225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e.id, e.name, e.manager_id, h.depth + 1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6400800" y="48956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00" dirty="0"/>
          </a:p>
        </p:txBody>
      </p:sp>
      <p:sp>
        <p:nvSpPr>
          <p:cNvPr id="103" name="Text 100"/>
          <p:cNvSpPr txBox="1"/>
          <p:nvPr/>
        </p:nvSpPr>
        <p:spPr>
          <a:xfrm>
            <a:off x="6801307" y="4895698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org_hierarchy h</a:t>
            </a:r>
            <a:endParaRPr lang="en-US" sz="10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0" y="4895698"/>
            <a:ext cx="33869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e.manager_id = h.id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6961327" y="5095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106" name="Text 103"/>
          <p:cNvSpPr txBox="1"/>
          <p:nvPr/>
        </p:nvSpPr>
        <p:spPr>
          <a:xfrm>
            <a:off x="7360920" y="5095951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org_hierarchy;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6720840" y="602955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order_items_total</a:t>
            </a:r>
            <a:endParaRPr lang="en-US" sz="1000" dirty="0"/>
          </a:p>
        </p:txBody>
      </p:sp>
      <p:sp>
        <p:nvSpPr>
          <p:cNvPr id="108" name="Text 105"/>
          <p:cNvSpPr txBox="1"/>
          <p:nvPr/>
        </p:nvSpPr>
        <p:spPr>
          <a:xfrm>
            <a:off x="8241487" y="60295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8802014" y="6029554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9762134" y="6029554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(quantity * price)</a:t>
            </a:r>
            <a:endParaRPr lang="en-US" sz="1000" dirty="0"/>
          </a:p>
        </p:txBody>
      </p:sp>
      <p:sp>
        <p:nvSpPr>
          <p:cNvPr id="111" name="Text 108"/>
          <p:cNvSpPr txBox="1"/>
          <p:nvPr/>
        </p:nvSpPr>
        <p:spPr>
          <a:xfrm>
            <a:off x="11363249" y="6029554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000" dirty="0"/>
          </a:p>
        </p:txBody>
      </p:sp>
      <p:sp>
        <p:nvSpPr>
          <p:cNvPr id="112" name="Text 109"/>
          <p:cNvSpPr txBox="1"/>
          <p:nvPr/>
        </p:nvSpPr>
        <p:spPr>
          <a:xfrm>
            <a:off x="6400800" y="6429146"/>
            <a:ext cx="138623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customer_totals</a:t>
            </a:r>
            <a:endParaRPr lang="en-US" sz="1000" dirty="0"/>
          </a:p>
        </p:txBody>
      </p:sp>
      <p:sp>
        <p:nvSpPr>
          <p:cNvPr id="113" name="Text 110"/>
          <p:cNvSpPr txBox="1"/>
          <p:nvPr/>
        </p:nvSpPr>
        <p:spPr>
          <a:xfrm>
            <a:off x="7761427" y="68296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14" name="Text 111"/>
          <p:cNvSpPr txBox="1"/>
          <p:nvPr/>
        </p:nvSpPr>
        <p:spPr>
          <a:xfrm>
            <a:off x="8321954" y="6829654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c.name,</a:t>
            </a:r>
            <a:endParaRPr lang="en-US" sz="1000" dirty="0"/>
          </a:p>
        </p:txBody>
      </p:sp>
      <p:sp>
        <p:nvSpPr>
          <p:cNvPr id="115" name="Text 112"/>
          <p:cNvSpPr txBox="1"/>
          <p:nvPr/>
        </p:nvSpPr>
        <p:spPr>
          <a:xfrm>
            <a:off x="10322662" y="6829654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(oit.order_total)</a:t>
            </a:r>
            <a:endParaRPr lang="en-US" sz="1000" dirty="0"/>
          </a:p>
        </p:txBody>
      </p:sp>
      <p:sp>
        <p:nvSpPr>
          <p:cNvPr id="116" name="Text 113"/>
          <p:cNvSpPr txBox="1"/>
          <p:nvPr/>
        </p:nvSpPr>
        <p:spPr>
          <a:xfrm>
            <a:off x="11843309" y="6829654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lifetime_value</a:t>
            </a:r>
            <a:endParaRPr lang="en-US" sz="1000" dirty="0"/>
          </a:p>
        </p:txBody>
      </p:sp>
      <p:sp>
        <p:nvSpPr>
          <p:cNvPr id="117" name="Text 114"/>
          <p:cNvSpPr txBox="1"/>
          <p:nvPr/>
        </p:nvSpPr>
        <p:spPr>
          <a:xfrm>
            <a:off x="6400800" y="722924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18" name="Text 115"/>
          <p:cNvSpPr txBox="1"/>
          <p:nvPr/>
        </p:nvSpPr>
        <p:spPr>
          <a:xfrm>
            <a:off x="6400800" y="76297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000" dirty="0"/>
          </a:p>
        </p:txBody>
      </p:sp>
      <p:sp>
        <p:nvSpPr>
          <p:cNvPr id="119" name="Text 116"/>
          <p:cNvSpPr txBox="1"/>
          <p:nvPr/>
        </p:nvSpPr>
        <p:spPr>
          <a:xfrm>
            <a:off x="6641287" y="7629754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</a:t>
            </a:r>
            <a:endParaRPr lang="en-US" sz="1000" dirty="0"/>
          </a:p>
        </p:txBody>
      </p:sp>
      <p:sp>
        <p:nvSpPr>
          <p:cNvPr id="120" name="Text 117"/>
          <p:cNvSpPr txBox="1"/>
          <p:nvPr/>
        </p:nvSpPr>
        <p:spPr>
          <a:xfrm>
            <a:off x="9282074" y="7629754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order_items_total oit</a:t>
            </a:r>
            <a:endParaRPr lang="en-US" sz="1000" dirty="0"/>
          </a:p>
        </p:txBody>
      </p:sp>
      <p:sp>
        <p:nvSpPr>
          <p:cNvPr id="121" name="Text 118"/>
          <p:cNvSpPr txBox="1"/>
          <p:nvPr/>
        </p:nvSpPr>
        <p:spPr>
          <a:xfrm>
            <a:off x="11122762" y="7629754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oit.order_id</a:t>
            </a:r>
            <a:endParaRPr lang="en-US" sz="1000" dirty="0"/>
          </a:p>
        </p:txBody>
      </p:sp>
      <p:sp>
        <p:nvSpPr>
          <p:cNvPr id="122" name="Text 119"/>
          <p:cNvSpPr txBox="1"/>
          <p:nvPr/>
        </p:nvSpPr>
        <p:spPr>
          <a:xfrm>
            <a:off x="6400800" y="7629754"/>
            <a:ext cx="91494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c.customer_id, c.name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3" name="Text 120"/>
          <p:cNvSpPr txBox="1"/>
          <p:nvPr/>
        </p:nvSpPr>
        <p:spPr>
          <a:xfrm>
            <a:off x="6961327" y="78300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124" name="Text 121"/>
          <p:cNvSpPr txBox="1"/>
          <p:nvPr/>
        </p:nvSpPr>
        <p:spPr>
          <a:xfrm>
            <a:off x="7360920" y="7830007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customer_totals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8962034" y="7830007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lifetime_value &gt; 10000</a:t>
            </a:r>
            <a:endParaRPr lang="en-US" sz="1000" dirty="0"/>
          </a:p>
        </p:txBody>
      </p:sp>
      <p:sp>
        <p:nvSpPr>
          <p:cNvPr id="126" name="Text 123"/>
          <p:cNvSpPr txBox="1"/>
          <p:nvPr/>
        </p:nvSpPr>
        <p:spPr>
          <a:xfrm>
            <a:off x="11363249" y="7830007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lifetime_value</a:t>
            </a:r>
            <a:endParaRPr lang="en-US" sz="1000" dirty="0"/>
          </a:p>
        </p:txBody>
      </p:sp>
      <p:sp>
        <p:nvSpPr>
          <p:cNvPr id="127" name="Text 124"/>
          <p:cNvSpPr txBox="1"/>
          <p:nvPr/>
        </p:nvSpPr>
        <p:spPr>
          <a:xfrm>
            <a:off x="12803429" y="78300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28" name="Text 125"/>
          <p:cNvSpPr txBox="1"/>
          <p:nvPr/>
        </p:nvSpPr>
        <p:spPr>
          <a:xfrm>
            <a:off x="6400800" y="22576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</a:t>
            </a:r>
            <a:endParaRPr lang="en-US" sz="1000" dirty="0"/>
          </a:p>
        </p:txBody>
      </p:sp>
      <p:sp>
        <p:nvSpPr>
          <p:cNvPr id="129" name="Text 126"/>
          <p:cNvSpPr txBox="1"/>
          <p:nvPr/>
        </p:nvSpPr>
        <p:spPr>
          <a:xfrm>
            <a:off x="6400800" y="4295851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30" name="Text 127"/>
          <p:cNvSpPr txBox="1"/>
          <p:nvPr/>
        </p:nvSpPr>
        <p:spPr>
          <a:xfrm>
            <a:off x="6400800" y="4695444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131" name="Text 128"/>
          <p:cNvSpPr txBox="1"/>
          <p:nvPr/>
        </p:nvSpPr>
        <p:spPr>
          <a:xfrm>
            <a:off x="6400800" y="6229807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32" name="Text 129"/>
          <p:cNvSpPr txBox="1"/>
          <p:nvPr/>
        </p:nvSpPr>
        <p:spPr>
          <a:xfrm>
            <a:off x="6400800" y="7029907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3" name="Text 130"/>
          <p:cNvSpPr txBox="1"/>
          <p:nvPr/>
        </p:nvSpPr>
        <p:spPr>
          <a:xfrm>
            <a:off x="6400800" y="74295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7441387" y="24579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'active'</a:t>
            </a:r>
            <a:endParaRPr lang="en-US" sz="1000" dirty="0"/>
          </a:p>
        </p:txBody>
      </p:sp>
      <p:sp>
        <p:nvSpPr>
          <p:cNvPr id="135" name="Text 132"/>
          <p:cNvSpPr txBox="1"/>
          <p:nvPr/>
        </p:nvSpPr>
        <p:spPr>
          <a:xfrm>
            <a:off x="12963449" y="2657246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'VIP'</a:t>
            </a:r>
            <a:endParaRPr lang="en-US" sz="1000" dirty="0"/>
          </a:p>
        </p:txBody>
      </p:sp>
      <p:sp>
        <p:nvSpPr>
          <p:cNvPr id="136" name="Text 133"/>
          <p:cNvSpPr txBox="1"/>
          <p:nvPr/>
        </p:nvSpPr>
        <p:spPr>
          <a:xfrm>
            <a:off x="13683996" y="265724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'Standard'</a:t>
            </a:r>
            <a:endParaRPr lang="en-US" sz="1000" dirty="0"/>
          </a:p>
        </p:txBody>
      </p:sp>
      <p:sp>
        <p:nvSpPr>
          <p:cNvPr id="137" name="Text 134"/>
          <p:cNvSpPr txBox="1"/>
          <p:nvPr/>
        </p:nvSpPr>
        <p:spPr>
          <a:xfrm>
            <a:off x="6515100" y="8639251"/>
            <a:ext cx="36868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Meaningful names: Use descriptive CTE names</a:t>
            </a:r>
            <a:endParaRPr lang="en-US" sz="1200" dirty="0"/>
          </a:p>
        </p:txBody>
      </p:sp>
      <p:sp>
        <p:nvSpPr>
          <p:cNvPr id="138" name="Text 135"/>
          <p:cNvSpPr txBox="1"/>
          <p:nvPr/>
        </p:nvSpPr>
        <p:spPr>
          <a:xfrm>
            <a:off x="6515100" y="8867851"/>
            <a:ext cx="4153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Focused purpose: Each CTE should do one thing well</a:t>
            </a:r>
            <a:endParaRPr lang="en-US" sz="1200" dirty="0"/>
          </a:p>
        </p:txBody>
      </p:sp>
      <p:sp>
        <p:nvSpPr>
          <p:cNvPr id="139" name="Text 136"/>
          <p:cNvSpPr txBox="1"/>
          <p:nvPr/>
        </p:nvSpPr>
        <p:spPr>
          <a:xfrm>
            <a:off x="6515100" y="9096451"/>
            <a:ext cx="3982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Depth control: Avoid excessive nesting (&gt;3-4 levels)</a:t>
            </a:r>
            <a:endParaRPr lang="en-US" sz="1200" dirty="0"/>
          </a:p>
        </p:txBody>
      </p:sp>
      <p:sp>
        <p:nvSpPr>
          <p:cNvPr id="140" name="Text 137"/>
          <p:cNvSpPr txBox="1"/>
          <p:nvPr/>
        </p:nvSpPr>
        <p:spPr>
          <a:xfrm>
            <a:off x="6515100" y="9325051"/>
            <a:ext cx="4429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Comments: Explain complex logic with inline comments</a:t>
            </a:r>
            <a:endParaRPr lang="en-US" sz="1200" dirty="0"/>
          </a:p>
        </p:txBody>
      </p:sp>
      <p:sp>
        <p:nvSpPr>
          <p:cNvPr id="141" name="Text 138"/>
          <p:cNvSpPr txBox="1"/>
          <p:nvPr/>
        </p:nvSpPr>
        <p:spPr>
          <a:xfrm>
            <a:off x="6515100" y="9553651"/>
            <a:ext cx="4772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note: CTEs are inlined by default (not materialized)</a:t>
            </a:r>
            <a:endParaRPr lang="en-US" sz="1200" dirty="0"/>
          </a:p>
        </p:txBody>
      </p:sp>
      <p:sp>
        <p:nvSpPr>
          <p:cNvPr id="142" name="Shape 139"/>
          <p:cNvSpPr/>
          <p:nvPr/>
        </p:nvSpPr>
        <p:spPr>
          <a:xfrm>
            <a:off x="0" y="10049256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571500" y="10163556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144" name="Text 141"/>
          <p:cNvSpPr txBox="1"/>
          <p:nvPr/>
        </p:nvSpPr>
        <p:spPr>
          <a:xfrm>
            <a:off x="10885932" y="10163556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6020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Hands-on: Write Queries Using CTEs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4914900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19910" y="9763049"/>
            <a:ext cx="23481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Structure &amp; Relationships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1295705"/>
            <a:ext cx="18909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3000146"/>
            <a:ext cx="36630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1: Products Sold in Last 30 Days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5639105"/>
            <a:ext cx="32817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2: Customer Lifetime Value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8876995"/>
            <a:ext cx="33576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3: Monthly Revenue Growth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86500" y="11115446"/>
            <a:ext cx="32817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4: Top Regions by Revenue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86500" y="1628546"/>
            <a:ext cx="5477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with a retail sales dataset containing 4 interconnected tables: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5100" y="1933956"/>
            <a:ext cx="4010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- Customer demographic information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5100" y="2162556"/>
            <a:ext cx="3963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 - Order header data with dates and totals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15100" y="2391156"/>
            <a:ext cx="4668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ORDER_ITEMS - Line item details with quantities and prices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15100" y="2619756"/>
            <a:ext cx="3572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PRODUCTS - Product catalog with categories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6500" y="3314700"/>
            <a:ext cx="38405" cy="2152498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6500" y="5952744"/>
            <a:ext cx="38405" cy="2752344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8" name="Shape 15"/>
          <p:cNvSpPr/>
          <p:nvPr/>
        </p:nvSpPr>
        <p:spPr>
          <a:xfrm>
            <a:off x="6286500" y="9191549"/>
            <a:ext cx="38405" cy="1752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9" name="Shape 16"/>
          <p:cNvSpPr/>
          <p:nvPr/>
        </p:nvSpPr>
        <p:spPr>
          <a:xfrm>
            <a:off x="6286500" y="11430000"/>
            <a:ext cx="38405" cy="2152498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39205" y="3333902"/>
            <a:ext cx="5229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products sold in the last 30 days with quantities and revenue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39205" y="5971946"/>
            <a:ext cx="3896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total lifetime spend for each customer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39205" y="9210751"/>
            <a:ext cx="4553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Calculate monthly revenue (setup for window functions)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39205" y="11449202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B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top revenue-generating regions (prep for ranking)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39205" y="3638398"/>
            <a:ext cx="5467198" cy="1828800"/>
          </a:xfrm>
          <a:prstGeom prst="roundRect">
            <a:avLst>
              <a:gd name="adj" fmla="val 1302"/>
            </a:avLst>
          </a:prstGeom>
          <a:solidFill>
            <a:srgbClr val="282C34"/>
          </a:solidFill>
          <a:ln/>
        </p:spPr>
      </p:sp>
      <p:sp>
        <p:nvSpPr>
          <p:cNvPr id="25" name="Shape 22"/>
          <p:cNvSpPr/>
          <p:nvPr/>
        </p:nvSpPr>
        <p:spPr>
          <a:xfrm>
            <a:off x="6439205" y="6277356"/>
            <a:ext cx="5467198" cy="2428646"/>
          </a:xfrm>
          <a:prstGeom prst="roundRect">
            <a:avLst>
              <a:gd name="adj" fmla="val 738"/>
            </a:avLst>
          </a:prstGeom>
          <a:solidFill>
            <a:srgbClr val="282C34"/>
          </a:solidFill>
          <a:ln/>
        </p:spPr>
      </p:sp>
      <p:sp>
        <p:nvSpPr>
          <p:cNvPr id="26" name="Shape 23"/>
          <p:cNvSpPr/>
          <p:nvPr/>
        </p:nvSpPr>
        <p:spPr>
          <a:xfrm>
            <a:off x="6439205" y="9515246"/>
            <a:ext cx="5467198" cy="1429207"/>
          </a:xfrm>
          <a:prstGeom prst="roundRect">
            <a:avLst>
              <a:gd name="adj" fmla="val 2133"/>
            </a:avLst>
          </a:prstGeom>
          <a:solidFill>
            <a:srgbClr val="282C34"/>
          </a:solidFill>
          <a:ln/>
        </p:spPr>
      </p:sp>
      <p:sp>
        <p:nvSpPr>
          <p:cNvPr id="27" name="Shape 24"/>
          <p:cNvSpPr/>
          <p:nvPr/>
        </p:nvSpPr>
        <p:spPr>
          <a:xfrm>
            <a:off x="6439205" y="11753698"/>
            <a:ext cx="5467198" cy="1828800"/>
          </a:xfrm>
          <a:prstGeom prst="roundRect">
            <a:avLst>
              <a:gd name="adj" fmla="val 1302"/>
            </a:avLst>
          </a:prstGeom>
          <a:solidFill>
            <a:srgbClr val="282C3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53505" y="376275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913218" y="376275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153705" y="3762756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714232" y="376275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53505" y="4162349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993685" y="4162349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DATEADD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514332" y="4162349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CURRENT_DATE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633058" y="43626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313725" y="43626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594799" y="43626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5386" y="43626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2796114" y="43626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3515746" y="43626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5116861" y="43626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713525" y="476219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874252" y="476219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633058" y="51627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9034272" y="51627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0794492" y="51627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1995099" y="51627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6553505" y="64008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7833665" y="64008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0314432" y="64008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2555626" y="6400800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4236294" y="64008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5356434" y="64008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633058" y="68013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713525" y="72009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8793785" y="72009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513625" y="7601407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54412" y="7601407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8554212" y="7800746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9034272" y="7800746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10634472" y="780074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11755526" y="7800746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13355726" y="780074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4636801" y="78007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6157448" y="780074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633058" y="82012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9194292" y="82012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6633058" y="8401507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7193585" y="84015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8473745" y="8401507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234879" y="8401507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6553505" y="96396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8074152" y="9639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8313725" y="96396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8794699" y="9639605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1275466" y="9639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11915546" y="9639605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4076274" y="96396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14796821" y="96396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6633058" y="10039198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6713525" y="104397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8793785" y="104397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9434779" y="10439705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6633058" y="106390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8234172" y="1063904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9754819" y="1063904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6553505" y="1187805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7833665" y="1187805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074152" y="11878056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9274759" y="11878056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11435486" y="1187805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12636094" y="1187805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6633058" y="12277649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6633058" y="12678156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9113825" y="12678156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6713525" y="130777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8793785" y="1307774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6633058" y="132780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8793785" y="132780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10074859" y="132780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11755526" y="132780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6873545" y="3762756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recent_orders</a:t>
            </a:r>
            <a:endParaRPr lang="en-US" sz="1000" dirty="0"/>
          </a:p>
        </p:txBody>
      </p:sp>
      <p:sp>
        <p:nvSpPr>
          <p:cNvPr id="103" name="Text 100"/>
          <p:cNvSpPr txBox="1"/>
          <p:nvPr/>
        </p:nvSpPr>
        <p:spPr>
          <a:xfrm>
            <a:off x="8074152" y="376275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04" name="Text 101"/>
          <p:cNvSpPr txBox="1"/>
          <p:nvPr/>
        </p:nvSpPr>
        <p:spPr>
          <a:xfrm>
            <a:off x="8633765" y="376275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6953098" y="4162349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 &gt;=</a:t>
            </a:r>
            <a:endParaRPr lang="en-US" sz="1000" dirty="0"/>
          </a:p>
        </p:txBody>
      </p:sp>
      <p:sp>
        <p:nvSpPr>
          <p:cNvPr id="106" name="Text 103"/>
          <p:cNvSpPr txBox="1"/>
          <p:nvPr/>
        </p:nvSpPr>
        <p:spPr>
          <a:xfrm>
            <a:off x="8554212" y="4162349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('day', -30,</a:t>
            </a:r>
            <a:endParaRPr lang="en-US" sz="1000" dirty="0"/>
          </a:p>
        </p:txBody>
      </p:sp>
      <p:sp>
        <p:nvSpPr>
          <p:cNvPr id="107" name="Text 104"/>
          <p:cNvSpPr txBox="1"/>
          <p:nvPr/>
        </p:nvSpPr>
        <p:spPr>
          <a:xfrm>
            <a:off x="6553505" y="4162349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08" name="Text 105"/>
          <p:cNvSpPr txBox="1"/>
          <p:nvPr/>
        </p:nvSpPr>
        <p:spPr>
          <a:xfrm>
            <a:off x="7113118" y="436260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p.product_name,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8554212" y="43626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(oi.quantity)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9754819" y="4362602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units_sold,</a:t>
            </a:r>
            <a:endParaRPr lang="en-US" sz="1000" dirty="0"/>
          </a:p>
        </p:txBody>
      </p:sp>
      <p:sp>
        <p:nvSpPr>
          <p:cNvPr id="111" name="Text 108"/>
          <p:cNvSpPr txBox="1"/>
          <p:nvPr/>
        </p:nvSpPr>
        <p:spPr>
          <a:xfrm>
            <a:off x="10874959" y="4362602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oi.price)</a:t>
            </a:r>
            <a:endParaRPr lang="en-US" sz="1000" dirty="0"/>
          </a:p>
        </p:txBody>
      </p:sp>
      <p:sp>
        <p:nvSpPr>
          <p:cNvPr id="112" name="Text 109"/>
          <p:cNvSpPr txBox="1"/>
          <p:nvPr/>
        </p:nvSpPr>
        <p:spPr>
          <a:xfrm>
            <a:off x="12956134" y="43626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113" name="Text 110"/>
          <p:cNvSpPr txBox="1"/>
          <p:nvPr/>
        </p:nvSpPr>
        <p:spPr>
          <a:xfrm>
            <a:off x="13836701" y="4362602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recent_orders ro</a:t>
            </a:r>
            <a:endParaRPr lang="en-US" sz="1000" dirty="0"/>
          </a:p>
        </p:txBody>
      </p:sp>
      <p:sp>
        <p:nvSpPr>
          <p:cNvPr id="114" name="Text 111"/>
          <p:cNvSpPr txBox="1"/>
          <p:nvPr/>
        </p:nvSpPr>
        <p:spPr>
          <a:xfrm>
            <a:off x="6553505" y="476219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</a:t>
            </a:r>
            <a:endParaRPr lang="en-US" sz="1000" dirty="0"/>
          </a:p>
        </p:txBody>
      </p:sp>
      <p:sp>
        <p:nvSpPr>
          <p:cNvPr id="115" name="Text 112"/>
          <p:cNvSpPr txBox="1"/>
          <p:nvPr/>
        </p:nvSpPr>
        <p:spPr>
          <a:xfrm>
            <a:off x="6873545" y="4762195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ro.order_id = oi.order_id</a:t>
            </a:r>
            <a:endParaRPr lang="en-US" sz="1000" dirty="0"/>
          </a:p>
        </p:txBody>
      </p:sp>
      <p:sp>
        <p:nvSpPr>
          <p:cNvPr id="116" name="Text 113"/>
          <p:cNvSpPr txBox="1"/>
          <p:nvPr/>
        </p:nvSpPr>
        <p:spPr>
          <a:xfrm>
            <a:off x="6553505" y="51627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000" dirty="0"/>
          </a:p>
        </p:txBody>
      </p:sp>
      <p:sp>
        <p:nvSpPr>
          <p:cNvPr id="117" name="Text 114"/>
          <p:cNvSpPr txBox="1"/>
          <p:nvPr/>
        </p:nvSpPr>
        <p:spPr>
          <a:xfrm>
            <a:off x="6793078" y="5162702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oi.product_id = p.product_id</a:t>
            </a:r>
            <a:endParaRPr lang="en-US" sz="1000" dirty="0"/>
          </a:p>
        </p:txBody>
      </p:sp>
      <p:sp>
        <p:nvSpPr>
          <p:cNvPr id="118" name="Text 115"/>
          <p:cNvSpPr txBox="1"/>
          <p:nvPr/>
        </p:nvSpPr>
        <p:spPr>
          <a:xfrm>
            <a:off x="9674352" y="5162702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p.product_name</a:t>
            </a:r>
            <a:endParaRPr lang="en-US" sz="1000" dirty="0"/>
          </a:p>
        </p:txBody>
      </p:sp>
      <p:sp>
        <p:nvSpPr>
          <p:cNvPr id="119" name="Text 116"/>
          <p:cNvSpPr txBox="1"/>
          <p:nvPr/>
        </p:nvSpPr>
        <p:spPr>
          <a:xfrm>
            <a:off x="11435486" y="51627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120" name="Text 117"/>
          <p:cNvSpPr txBox="1"/>
          <p:nvPr/>
        </p:nvSpPr>
        <p:spPr>
          <a:xfrm>
            <a:off x="12315139" y="51627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21" name="Text 118"/>
          <p:cNvSpPr txBox="1"/>
          <p:nvPr/>
        </p:nvSpPr>
        <p:spPr>
          <a:xfrm>
            <a:off x="6873545" y="64008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order_totals</a:t>
            </a:r>
            <a:endParaRPr lang="en-US" sz="1000" dirty="0"/>
          </a:p>
        </p:txBody>
      </p:sp>
      <p:sp>
        <p:nvSpPr>
          <p:cNvPr id="122" name="Text 119"/>
          <p:cNvSpPr txBox="1"/>
          <p:nvPr/>
        </p:nvSpPr>
        <p:spPr>
          <a:xfrm>
            <a:off x="7993685" y="64008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23" name="Text 120"/>
          <p:cNvSpPr txBox="1"/>
          <p:nvPr/>
        </p:nvSpPr>
        <p:spPr>
          <a:xfrm>
            <a:off x="10795406" y="6400800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customer_id,</a:t>
            </a:r>
            <a:endParaRPr lang="en-US" sz="1000" dirty="0"/>
          </a:p>
        </p:txBody>
      </p:sp>
      <p:sp>
        <p:nvSpPr>
          <p:cNvPr id="124" name="Text 121"/>
          <p:cNvSpPr txBox="1"/>
          <p:nvPr/>
        </p:nvSpPr>
        <p:spPr>
          <a:xfrm>
            <a:off x="12796114" y="6400800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(quantity * price)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14396314" y="64008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order_amount</a:t>
            </a:r>
            <a:endParaRPr lang="en-US" sz="1000" dirty="0"/>
          </a:p>
        </p:txBody>
      </p:sp>
      <p:sp>
        <p:nvSpPr>
          <p:cNvPr id="126" name="Text 123"/>
          <p:cNvSpPr txBox="1"/>
          <p:nvPr/>
        </p:nvSpPr>
        <p:spPr>
          <a:xfrm>
            <a:off x="6553505" y="68013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000" dirty="0"/>
          </a:p>
        </p:txBody>
      </p:sp>
      <p:sp>
        <p:nvSpPr>
          <p:cNvPr id="127" name="Text 124"/>
          <p:cNvSpPr txBox="1"/>
          <p:nvPr/>
        </p:nvSpPr>
        <p:spPr>
          <a:xfrm>
            <a:off x="6553505" y="72009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</a:t>
            </a:r>
            <a:endParaRPr lang="en-US" sz="1000" dirty="0"/>
          </a:p>
        </p:txBody>
      </p:sp>
      <p:sp>
        <p:nvSpPr>
          <p:cNvPr id="128" name="Text 125"/>
          <p:cNvSpPr txBox="1"/>
          <p:nvPr/>
        </p:nvSpPr>
        <p:spPr>
          <a:xfrm>
            <a:off x="6873545" y="7200900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000" dirty="0"/>
          </a:p>
        </p:txBody>
      </p:sp>
      <p:sp>
        <p:nvSpPr>
          <p:cNvPr id="129" name="Text 126"/>
          <p:cNvSpPr txBox="1"/>
          <p:nvPr/>
        </p:nvSpPr>
        <p:spPr>
          <a:xfrm>
            <a:off x="6553505" y="7200900"/>
            <a:ext cx="466252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order_id, customer_id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customer_ltv</a:t>
            </a:r>
            <a:endParaRPr lang="en-US" sz="1000" dirty="0"/>
          </a:p>
        </p:txBody>
      </p:sp>
      <p:sp>
        <p:nvSpPr>
          <p:cNvPr id="130" name="Text 127"/>
          <p:cNvSpPr txBox="1"/>
          <p:nvPr/>
        </p:nvSpPr>
        <p:spPr>
          <a:xfrm>
            <a:off x="7673645" y="76014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31" name="Text 128"/>
          <p:cNvSpPr txBox="1"/>
          <p:nvPr/>
        </p:nvSpPr>
        <p:spPr>
          <a:xfrm>
            <a:off x="6553505" y="7601407"/>
            <a:ext cx="53867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ot.customer_id,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c.customer_name,</a:t>
            </a:r>
            <a:endParaRPr lang="en-US" sz="1000" dirty="0"/>
          </a:p>
        </p:txBody>
      </p:sp>
      <p:sp>
        <p:nvSpPr>
          <p:cNvPr id="132" name="Text 129"/>
          <p:cNvSpPr txBox="1"/>
          <p:nvPr/>
        </p:nvSpPr>
        <p:spPr>
          <a:xfrm>
            <a:off x="8953805" y="780074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33" name="Text 130"/>
          <p:cNvSpPr txBox="1"/>
          <p:nvPr/>
        </p:nvSpPr>
        <p:spPr>
          <a:xfrm>
            <a:off x="9674352" y="7800746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ot.order_id)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10795406" y="7800746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order_count,</a:t>
            </a:r>
            <a:endParaRPr lang="en-US" sz="1000" dirty="0"/>
          </a:p>
        </p:txBody>
      </p:sp>
      <p:sp>
        <p:nvSpPr>
          <p:cNvPr id="135" name="Text 132"/>
          <p:cNvSpPr txBox="1"/>
          <p:nvPr/>
        </p:nvSpPr>
        <p:spPr>
          <a:xfrm>
            <a:off x="11995099" y="7800746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(ot.order_amount)</a:t>
            </a:r>
            <a:endParaRPr lang="en-US" sz="1000" dirty="0"/>
          </a:p>
        </p:txBody>
      </p:sp>
      <p:sp>
        <p:nvSpPr>
          <p:cNvPr id="136" name="Text 133"/>
          <p:cNvSpPr txBox="1"/>
          <p:nvPr/>
        </p:nvSpPr>
        <p:spPr>
          <a:xfrm>
            <a:off x="13515746" y="7800746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lifetime_value</a:t>
            </a:r>
            <a:endParaRPr lang="en-US" sz="1000" dirty="0"/>
          </a:p>
        </p:txBody>
      </p:sp>
      <p:sp>
        <p:nvSpPr>
          <p:cNvPr id="137" name="Text 134"/>
          <p:cNvSpPr txBox="1"/>
          <p:nvPr/>
        </p:nvSpPr>
        <p:spPr>
          <a:xfrm>
            <a:off x="14956841" y="7800746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order_totals ot</a:t>
            </a:r>
            <a:endParaRPr lang="en-US" sz="1000" dirty="0"/>
          </a:p>
        </p:txBody>
      </p:sp>
      <p:sp>
        <p:nvSpPr>
          <p:cNvPr id="138" name="Text 135"/>
          <p:cNvSpPr txBox="1"/>
          <p:nvPr/>
        </p:nvSpPr>
        <p:spPr>
          <a:xfrm>
            <a:off x="6553505" y="82012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39" name="Text 136"/>
          <p:cNvSpPr txBox="1"/>
          <p:nvPr/>
        </p:nvSpPr>
        <p:spPr>
          <a:xfrm>
            <a:off x="6793078" y="8201254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ot.customer_id = c.customer_id</a:t>
            </a:r>
            <a:endParaRPr lang="en-US" sz="1000" dirty="0"/>
          </a:p>
        </p:txBody>
      </p:sp>
      <p:sp>
        <p:nvSpPr>
          <p:cNvPr id="140" name="Text 137"/>
          <p:cNvSpPr txBox="1"/>
          <p:nvPr/>
        </p:nvSpPr>
        <p:spPr>
          <a:xfrm>
            <a:off x="6553505" y="8201254"/>
            <a:ext cx="58631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ot.customer_id, c.customer_name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1" name="Text 138"/>
          <p:cNvSpPr txBox="1"/>
          <p:nvPr/>
        </p:nvSpPr>
        <p:spPr>
          <a:xfrm>
            <a:off x="7113118" y="84015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142" name="Text 139"/>
          <p:cNvSpPr txBox="1"/>
          <p:nvPr/>
        </p:nvSpPr>
        <p:spPr>
          <a:xfrm>
            <a:off x="7513625" y="8401507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customer_ltv</a:t>
            </a:r>
            <a:endParaRPr lang="en-US" sz="1000" dirty="0"/>
          </a:p>
        </p:txBody>
      </p:sp>
      <p:sp>
        <p:nvSpPr>
          <p:cNvPr id="143" name="Text 140"/>
          <p:cNvSpPr txBox="1"/>
          <p:nvPr/>
        </p:nvSpPr>
        <p:spPr>
          <a:xfrm>
            <a:off x="9114739" y="8401507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lifetime_value</a:t>
            </a:r>
            <a:endParaRPr lang="en-US" sz="1000" dirty="0"/>
          </a:p>
        </p:txBody>
      </p:sp>
      <p:sp>
        <p:nvSpPr>
          <p:cNvPr id="144" name="Text 141"/>
          <p:cNvSpPr txBox="1"/>
          <p:nvPr/>
        </p:nvSpPr>
        <p:spPr>
          <a:xfrm>
            <a:off x="10554919" y="8401507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45" name="Text 142"/>
          <p:cNvSpPr txBox="1"/>
          <p:nvPr/>
        </p:nvSpPr>
        <p:spPr>
          <a:xfrm>
            <a:off x="6873545" y="9639605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monthly_revenue</a:t>
            </a:r>
            <a:endParaRPr lang="en-US" sz="1000" dirty="0"/>
          </a:p>
        </p:txBody>
      </p:sp>
      <p:sp>
        <p:nvSpPr>
          <p:cNvPr id="146" name="Text 143"/>
          <p:cNvSpPr txBox="1"/>
          <p:nvPr/>
        </p:nvSpPr>
        <p:spPr>
          <a:xfrm>
            <a:off x="8234172" y="96396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47" name="Text 144"/>
          <p:cNvSpPr txBox="1"/>
          <p:nvPr/>
        </p:nvSpPr>
        <p:spPr>
          <a:xfrm>
            <a:off x="9594799" y="9639605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('month', order_date)</a:t>
            </a:r>
            <a:endParaRPr lang="en-US" sz="1000" dirty="0"/>
          </a:p>
        </p:txBody>
      </p:sp>
      <p:sp>
        <p:nvSpPr>
          <p:cNvPr id="148" name="Text 145"/>
          <p:cNvSpPr txBox="1"/>
          <p:nvPr/>
        </p:nvSpPr>
        <p:spPr>
          <a:xfrm>
            <a:off x="11435486" y="96396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</a:t>
            </a:r>
            <a:endParaRPr lang="en-US" sz="1000" dirty="0"/>
          </a:p>
        </p:txBody>
      </p:sp>
      <p:sp>
        <p:nvSpPr>
          <p:cNvPr id="149" name="Text 146"/>
          <p:cNvSpPr txBox="1"/>
          <p:nvPr/>
        </p:nvSpPr>
        <p:spPr>
          <a:xfrm>
            <a:off x="12156034" y="9639605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oi.price)</a:t>
            </a:r>
            <a:endParaRPr lang="en-US" sz="1000" dirty="0"/>
          </a:p>
        </p:txBody>
      </p:sp>
      <p:sp>
        <p:nvSpPr>
          <p:cNvPr id="150" name="Text 147"/>
          <p:cNvSpPr txBox="1"/>
          <p:nvPr/>
        </p:nvSpPr>
        <p:spPr>
          <a:xfrm>
            <a:off x="14236294" y="9639605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151" name="Text 148"/>
          <p:cNvSpPr txBox="1"/>
          <p:nvPr/>
        </p:nvSpPr>
        <p:spPr>
          <a:xfrm>
            <a:off x="6553505" y="100391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000" dirty="0"/>
          </a:p>
        </p:txBody>
      </p:sp>
      <p:sp>
        <p:nvSpPr>
          <p:cNvPr id="152" name="Text 149"/>
          <p:cNvSpPr txBox="1"/>
          <p:nvPr/>
        </p:nvSpPr>
        <p:spPr>
          <a:xfrm>
            <a:off x="6553505" y="104397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</a:t>
            </a:r>
            <a:endParaRPr lang="en-US" sz="1000" dirty="0"/>
          </a:p>
        </p:txBody>
      </p:sp>
      <p:sp>
        <p:nvSpPr>
          <p:cNvPr id="153" name="Text 150"/>
          <p:cNvSpPr txBox="1"/>
          <p:nvPr/>
        </p:nvSpPr>
        <p:spPr>
          <a:xfrm>
            <a:off x="6873545" y="10439705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000" dirty="0"/>
          </a:p>
        </p:txBody>
      </p:sp>
      <p:sp>
        <p:nvSpPr>
          <p:cNvPr id="154" name="Text 151"/>
          <p:cNvSpPr txBox="1"/>
          <p:nvPr/>
        </p:nvSpPr>
        <p:spPr>
          <a:xfrm>
            <a:off x="6553505" y="10439705"/>
            <a:ext cx="54626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('month', order_date)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5" name="Text 152"/>
          <p:cNvSpPr txBox="1"/>
          <p:nvPr/>
        </p:nvSpPr>
        <p:spPr>
          <a:xfrm>
            <a:off x="7113118" y="10639044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 revenue</a:t>
            </a:r>
            <a:endParaRPr lang="en-US" sz="1000" dirty="0"/>
          </a:p>
        </p:txBody>
      </p:sp>
      <p:sp>
        <p:nvSpPr>
          <p:cNvPr id="156" name="Text 153"/>
          <p:cNvSpPr txBox="1"/>
          <p:nvPr/>
        </p:nvSpPr>
        <p:spPr>
          <a:xfrm>
            <a:off x="8554212" y="10639044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monthly_revenue</a:t>
            </a:r>
            <a:endParaRPr lang="en-US" sz="1000" dirty="0"/>
          </a:p>
        </p:txBody>
      </p:sp>
      <p:sp>
        <p:nvSpPr>
          <p:cNvPr id="157" name="Text 154"/>
          <p:cNvSpPr txBox="1"/>
          <p:nvPr/>
        </p:nvSpPr>
        <p:spPr>
          <a:xfrm>
            <a:off x="10394899" y="106390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month;</a:t>
            </a:r>
            <a:endParaRPr lang="en-US" sz="1000" dirty="0"/>
          </a:p>
        </p:txBody>
      </p:sp>
      <p:sp>
        <p:nvSpPr>
          <p:cNvPr id="158" name="Text 155"/>
          <p:cNvSpPr txBox="1"/>
          <p:nvPr/>
        </p:nvSpPr>
        <p:spPr>
          <a:xfrm>
            <a:off x="6873545" y="11878056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region_sales</a:t>
            </a:r>
            <a:endParaRPr lang="en-US" sz="1000" dirty="0"/>
          </a:p>
        </p:txBody>
      </p:sp>
      <p:sp>
        <p:nvSpPr>
          <p:cNvPr id="159" name="Text 156"/>
          <p:cNvSpPr txBox="1"/>
          <p:nvPr/>
        </p:nvSpPr>
        <p:spPr>
          <a:xfrm>
            <a:off x="7993685" y="1187805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160" name="Text 157"/>
          <p:cNvSpPr txBox="1"/>
          <p:nvPr/>
        </p:nvSpPr>
        <p:spPr>
          <a:xfrm>
            <a:off x="8554212" y="11878056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c.region,</a:t>
            </a:r>
            <a:endParaRPr lang="en-US" sz="1000" dirty="0"/>
          </a:p>
        </p:txBody>
      </p:sp>
      <p:sp>
        <p:nvSpPr>
          <p:cNvPr id="161" name="Text 158"/>
          <p:cNvSpPr txBox="1"/>
          <p:nvPr/>
        </p:nvSpPr>
        <p:spPr>
          <a:xfrm>
            <a:off x="9514332" y="11878056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(oi.quantity * oi.price)</a:t>
            </a:r>
            <a:endParaRPr lang="en-US" sz="1000" dirty="0"/>
          </a:p>
        </p:txBody>
      </p:sp>
      <p:sp>
        <p:nvSpPr>
          <p:cNvPr id="162" name="Text 159"/>
          <p:cNvSpPr txBox="1"/>
          <p:nvPr/>
        </p:nvSpPr>
        <p:spPr>
          <a:xfrm>
            <a:off x="11595506" y="11878056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</a:t>
            </a:r>
            <a:endParaRPr lang="en-US" sz="1000" dirty="0"/>
          </a:p>
        </p:txBody>
      </p:sp>
      <p:sp>
        <p:nvSpPr>
          <p:cNvPr id="163" name="Text 160"/>
          <p:cNvSpPr txBox="1"/>
          <p:nvPr/>
        </p:nvSpPr>
        <p:spPr>
          <a:xfrm>
            <a:off x="6553505" y="12277649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64" name="Text 161"/>
          <p:cNvSpPr txBox="1"/>
          <p:nvPr/>
        </p:nvSpPr>
        <p:spPr>
          <a:xfrm>
            <a:off x="6553505" y="12678156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000" dirty="0"/>
          </a:p>
        </p:txBody>
      </p:sp>
      <p:sp>
        <p:nvSpPr>
          <p:cNvPr id="165" name="Text 162"/>
          <p:cNvSpPr txBox="1"/>
          <p:nvPr/>
        </p:nvSpPr>
        <p:spPr>
          <a:xfrm>
            <a:off x="6793078" y="12678156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c.customer_id = o.customer_id</a:t>
            </a:r>
            <a:endParaRPr lang="en-US" sz="1000" dirty="0"/>
          </a:p>
        </p:txBody>
      </p:sp>
      <p:sp>
        <p:nvSpPr>
          <p:cNvPr id="166" name="Text 163"/>
          <p:cNvSpPr txBox="1"/>
          <p:nvPr/>
        </p:nvSpPr>
        <p:spPr>
          <a:xfrm>
            <a:off x="6553505" y="130777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oi</a:t>
            </a:r>
            <a:endParaRPr lang="en-US" sz="1000" dirty="0"/>
          </a:p>
        </p:txBody>
      </p:sp>
      <p:sp>
        <p:nvSpPr>
          <p:cNvPr id="167" name="Text 164"/>
          <p:cNvSpPr txBox="1"/>
          <p:nvPr/>
        </p:nvSpPr>
        <p:spPr>
          <a:xfrm>
            <a:off x="6873545" y="13077749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o.order_id = oi.order_id</a:t>
            </a:r>
            <a:endParaRPr lang="en-US" sz="1000" dirty="0"/>
          </a:p>
        </p:txBody>
      </p:sp>
      <p:sp>
        <p:nvSpPr>
          <p:cNvPr id="168" name="Text 165"/>
          <p:cNvSpPr txBox="1"/>
          <p:nvPr/>
        </p:nvSpPr>
        <p:spPr>
          <a:xfrm>
            <a:off x="6553505" y="13077749"/>
            <a:ext cx="36246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c.region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9" name="Text 166"/>
          <p:cNvSpPr txBox="1"/>
          <p:nvPr/>
        </p:nvSpPr>
        <p:spPr>
          <a:xfrm>
            <a:off x="7113118" y="13278002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region, total_revenue</a:t>
            </a:r>
            <a:endParaRPr lang="en-US" sz="1000" dirty="0"/>
          </a:p>
        </p:txBody>
      </p:sp>
      <p:sp>
        <p:nvSpPr>
          <p:cNvPr id="170" name="Text 167"/>
          <p:cNvSpPr txBox="1"/>
          <p:nvPr/>
        </p:nvSpPr>
        <p:spPr>
          <a:xfrm>
            <a:off x="9113825" y="1327800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region_sales</a:t>
            </a:r>
            <a:endParaRPr lang="en-US" sz="1000" dirty="0"/>
          </a:p>
        </p:txBody>
      </p:sp>
      <p:sp>
        <p:nvSpPr>
          <p:cNvPr id="171" name="Text 168"/>
          <p:cNvSpPr txBox="1"/>
          <p:nvPr/>
        </p:nvSpPr>
        <p:spPr>
          <a:xfrm>
            <a:off x="10714939" y="132780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</a:t>
            </a:r>
            <a:endParaRPr lang="en-US" sz="1000" dirty="0"/>
          </a:p>
        </p:txBody>
      </p:sp>
      <p:sp>
        <p:nvSpPr>
          <p:cNvPr id="172" name="Text 169"/>
          <p:cNvSpPr txBox="1"/>
          <p:nvPr/>
        </p:nvSpPr>
        <p:spPr>
          <a:xfrm>
            <a:off x="12075566" y="132780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73" name="Text 170"/>
          <p:cNvSpPr txBox="1"/>
          <p:nvPr/>
        </p:nvSpPr>
        <p:spPr>
          <a:xfrm>
            <a:off x="6553505" y="396209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74" name="Text 171"/>
          <p:cNvSpPr txBox="1"/>
          <p:nvPr/>
        </p:nvSpPr>
        <p:spPr>
          <a:xfrm>
            <a:off x="6553505" y="4562856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75" name="Text 172"/>
          <p:cNvSpPr txBox="1"/>
          <p:nvPr/>
        </p:nvSpPr>
        <p:spPr>
          <a:xfrm>
            <a:off x="6553505" y="496244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76" name="Text 173"/>
          <p:cNvSpPr txBox="1"/>
          <p:nvPr/>
        </p:nvSpPr>
        <p:spPr>
          <a:xfrm>
            <a:off x="6553505" y="660105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77" name="Text 174"/>
          <p:cNvSpPr txBox="1"/>
          <p:nvPr/>
        </p:nvSpPr>
        <p:spPr>
          <a:xfrm>
            <a:off x="6553505" y="7000646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78" name="Text 175"/>
          <p:cNvSpPr txBox="1"/>
          <p:nvPr/>
        </p:nvSpPr>
        <p:spPr>
          <a:xfrm>
            <a:off x="6553505" y="8001000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9" name="Text 176"/>
          <p:cNvSpPr txBox="1"/>
          <p:nvPr/>
        </p:nvSpPr>
        <p:spPr>
          <a:xfrm>
            <a:off x="6553505" y="98389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80" name="Text 177"/>
          <p:cNvSpPr txBox="1"/>
          <p:nvPr/>
        </p:nvSpPr>
        <p:spPr>
          <a:xfrm>
            <a:off x="6553505" y="102394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81" name="Text 178"/>
          <p:cNvSpPr txBox="1"/>
          <p:nvPr/>
        </p:nvSpPr>
        <p:spPr>
          <a:xfrm>
            <a:off x="6553505" y="12077395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82" name="Text 179"/>
          <p:cNvSpPr txBox="1"/>
          <p:nvPr/>
        </p:nvSpPr>
        <p:spPr>
          <a:xfrm>
            <a:off x="6553505" y="124779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83" name="Text 180"/>
          <p:cNvSpPr txBox="1"/>
          <p:nvPr/>
        </p:nvSpPr>
        <p:spPr>
          <a:xfrm>
            <a:off x="6553505" y="12877495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000" dirty="0"/>
          </a:p>
        </p:txBody>
      </p:sp>
      <p:sp>
        <p:nvSpPr>
          <p:cNvPr id="184" name="Text 181"/>
          <p:cNvSpPr txBox="1"/>
          <p:nvPr/>
        </p:nvSpPr>
        <p:spPr>
          <a:xfrm>
            <a:off x="8074152" y="6400800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Calculate total per order</a:t>
            </a:r>
            <a:endParaRPr lang="en-US" sz="1000" dirty="0"/>
          </a:p>
        </p:txBody>
      </p:sp>
      <p:sp>
        <p:nvSpPr>
          <p:cNvPr id="185" name="Text 182"/>
          <p:cNvSpPr txBox="1"/>
          <p:nvPr/>
        </p:nvSpPr>
        <p:spPr>
          <a:xfrm>
            <a:off x="7754112" y="7601407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Aggregate to customer level</a:t>
            </a:r>
            <a:endParaRPr lang="en-US" sz="1000" dirty="0"/>
          </a:p>
        </p:txBody>
      </p:sp>
      <p:sp>
        <p:nvSpPr>
          <p:cNvPr id="186" name="Text 183"/>
          <p:cNvSpPr txBox="1"/>
          <p:nvPr/>
        </p:nvSpPr>
        <p:spPr>
          <a:xfrm>
            <a:off x="10874959" y="10639044"/>
            <a:ext cx="37106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Later: Add window functions for MoM growth</a:t>
            </a:r>
            <a:endParaRPr lang="en-US" sz="1000" dirty="0"/>
          </a:p>
        </p:txBody>
      </p:sp>
      <p:sp>
        <p:nvSpPr>
          <p:cNvPr id="187" name="Text 184"/>
          <p:cNvSpPr txBox="1"/>
          <p:nvPr/>
        </p:nvSpPr>
        <p:spPr>
          <a:xfrm>
            <a:off x="12155119" y="13278002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Later: Add RANK() to handle ties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0" y="14020495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571500" y="14134795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190" name="Text 187"/>
          <p:cNvSpPr txBox="1"/>
          <p:nvPr/>
        </p:nvSpPr>
        <p:spPr>
          <a:xfrm>
            <a:off x="10885932" y="14134795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64392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Functions: Concepts &amp; OVER()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2300630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27962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Are Window Functions?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238451"/>
            <a:ext cx="25767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OVER() Clause Components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3409798"/>
            <a:ext cx="21479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 vs. GROUP BY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4581144"/>
            <a:ext cx="1252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Syntax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6515100"/>
            <a:ext cx="18909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Use Cases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86500" y="1628546"/>
            <a:ext cx="67821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 that perform calculations across a set of table rows related to the current row without collapsing those rows like GROUP BY does.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5100" y="2572207"/>
            <a:ext cx="4019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PARTITION BY: Divides rows into groups (partitions)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5100" y="2800807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BY: Defines the logical order of rows in each partition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5100" y="3029407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 clause: ROWS/RANGE BETWEEN ... AND ... (optional)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86500" y="3724351"/>
            <a:ext cx="6953098" cy="3429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62395" y="3810305"/>
            <a:ext cx="833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BY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62395" y="4153205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827264" y="3810305"/>
            <a:ext cx="28154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Collapses rows into fewer summary rows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827264" y="4153205"/>
            <a:ext cx="32433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Preserves all rows while calculating aggregates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86500" y="4914900"/>
            <a:ext cx="6953098" cy="1429207"/>
          </a:xfrm>
          <a:prstGeom prst="roundRect">
            <a:avLst>
              <a:gd name="adj" fmla="val 2133"/>
            </a:avLst>
          </a:prstGeom>
          <a:solidFill>
            <a:srgbClr val="282C3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0" y="5038344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22054" y="54388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521647" y="54388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762842" y="54388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801307" y="56391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56391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5038344"/>
            <a:ext cx="1948586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product_category,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sale_date,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sales_amount,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5438851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(sales_amount)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442094" y="54388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482682" y="5438851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product_category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5438851"/>
            <a:ext cx="68250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sale_date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61327" y="5639105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running_total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6038698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761427" y="5438851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0" y="5838444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15100" y="6848856"/>
            <a:ext cx="3857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Rankings (ROW_NUMBER, RANK, DENSE_RANK)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515100" y="7077456"/>
            <a:ext cx="2924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totals and moving averages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515100" y="7306056"/>
            <a:ext cx="3505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Period-over-period comparisons (LEAD/LAG)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15100" y="7534656"/>
            <a:ext cx="2305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Percentiles and distributions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515100" y="7763256"/>
            <a:ext cx="2057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First/last values in groups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286500" y="8058607"/>
            <a:ext cx="48728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Tip: Use QUALIFY to filter on window function results directly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8524951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71500" y="8639251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885932" y="8639251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99925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 Functions: ROW_NUMBER vs RANK vs DENSE_RANK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1709928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11009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467051"/>
            <a:ext cx="20436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 Comparison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4524451"/>
            <a:ext cx="33677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Top 3 Orders Per Customer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5857646"/>
            <a:ext cx="1386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15100" y="1628546"/>
            <a:ext cx="4886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ROW_NUMBER(): Assigns unique sequential numbers (no ties)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15100" y="1857146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RANK(): Assigns same number for ties, skips next ranks (1,1,3)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5100" y="2085746"/>
            <a:ext cx="4715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DENSE_RANK(): Assigns same number for ties, no gaps (1,1,2)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5100" y="6191402"/>
            <a:ext cx="6124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tie-breakers for consistent results (e.g., ORDER BY amount DESC, order_id)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5100" y="6420002"/>
            <a:ext cx="4763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QUALIFY in Snowflake to filter on window results directly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86500" y="3185770"/>
            <a:ext cx="18478195" cy="3904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6500" y="3967582"/>
            <a:ext cx="18478195" cy="3904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286500" y="2800807"/>
            <a:ext cx="4315054" cy="3904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10592410" y="2800807"/>
            <a:ext cx="2829154" cy="3904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13417906" y="2800807"/>
            <a:ext cx="3676802" cy="3904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17093794" y="2800807"/>
            <a:ext cx="7677302" cy="39044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62395" y="2895905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668305" y="2895905"/>
            <a:ext cx="428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493801" y="2895905"/>
            <a:ext cx="514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7170603" y="2895905"/>
            <a:ext cx="829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86500" y="3185770"/>
            <a:ext cx="43150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2"/>
          <p:cNvSpPr/>
          <p:nvPr/>
        </p:nvSpPr>
        <p:spPr>
          <a:xfrm>
            <a:off x="10592410" y="3185770"/>
            <a:ext cx="28291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3417906" y="3185770"/>
            <a:ext cx="36768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17093794" y="3185770"/>
            <a:ext cx="76773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5"/>
          <p:cNvSpPr/>
          <p:nvPr/>
        </p:nvSpPr>
        <p:spPr>
          <a:xfrm>
            <a:off x="6286500" y="3576218"/>
            <a:ext cx="43150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0592410" y="3576218"/>
            <a:ext cx="28291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7"/>
          <p:cNvSpPr/>
          <p:nvPr/>
        </p:nvSpPr>
        <p:spPr>
          <a:xfrm>
            <a:off x="13417906" y="3576218"/>
            <a:ext cx="36768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7093794" y="3576218"/>
            <a:ext cx="76773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86500" y="3967582"/>
            <a:ext cx="43150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92410" y="3967582"/>
            <a:ext cx="2829154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3417906" y="3967582"/>
            <a:ext cx="36768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2"/>
          <p:cNvSpPr/>
          <p:nvPr/>
        </p:nvSpPr>
        <p:spPr>
          <a:xfrm>
            <a:off x="17093794" y="3967582"/>
            <a:ext cx="767730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362395" y="3286354"/>
            <a:ext cx="1420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ROW_NUMBER()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668305" y="3286354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ties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3493801" y="3286354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gaps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7170603" y="3286354"/>
            <a:ext cx="2267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Pagination, unique ordering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6362395" y="3676802"/>
            <a:ext cx="667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RANK()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0668305" y="3676802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ties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3493801" y="3676802"/>
            <a:ext cx="12097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 after ties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7170603" y="3676802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competitions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6362395" y="4067251"/>
            <a:ext cx="1305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DENSE_RANK()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10668305" y="4067251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ties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3493801" y="4067251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gaps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7170603" y="4067251"/>
            <a:ext cx="2553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Percentile bands, top-N analysis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286500" y="4858207"/>
            <a:ext cx="18478195" cy="828446"/>
          </a:xfrm>
          <a:prstGeom prst="roundRect">
            <a:avLst>
              <a:gd name="adj" fmla="val 6343"/>
            </a:avLst>
          </a:prstGeom>
          <a:solidFill>
            <a:srgbClr val="282C34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6400800" y="49816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0242194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642702" y="49816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2483389" y="49816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3603529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4004036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4884603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5284196" y="49816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7125798" y="49816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8245938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18646445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20086625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20487132" y="49816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22327819" y="49816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23447959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23848466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24328526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0" y="5381244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6880860" y="4981651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order_id, amount,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10082174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10562234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11602822" y="49816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3123469" y="49816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13923569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14164056" y="4981651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rn,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14724583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5204643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6245230" y="49816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17765878" y="49816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8565978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18806465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rnk,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19926605" y="49816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20406665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21447252" y="49816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22967899" y="49816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23767999" y="49816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24008486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drnk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6961327" y="5381244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rnk &lt;= 3;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9282074" y="4981651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14404543" y="49816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19126505" y="4981651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6400800" y="51819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6515100" y="6648602"/>
            <a:ext cx="3886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 performance impact on large result sets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6286500" y="6867144"/>
            <a:ext cx="8463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05F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 Use RANK when traditional ranking (with gaps) is needed; use DENSE_RANK when you need continuous rank numbers.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0" y="7343546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571500" y="7457846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95" name="Text 92"/>
          <p:cNvSpPr txBox="1"/>
          <p:nvPr/>
        </p:nvSpPr>
        <p:spPr>
          <a:xfrm>
            <a:off x="10885932" y="7457846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55915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Analytical Functions: LEAD &amp; LAG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286207" y="1957730"/>
            <a:ext cx="5715000" cy="4953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16815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Syntax &amp; Purpose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533802"/>
            <a:ext cx="33393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Month-over-Month Growth Example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4267505"/>
            <a:ext cx="19860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Use Cases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6400800"/>
            <a:ext cx="17199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Cases &amp; Tips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1628546"/>
            <a:ext cx="4905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Navigate to previous or future rows without joins or subqueries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6500" y="1933956"/>
            <a:ext cx="15678302" cy="428854"/>
          </a:xfrm>
          <a:prstGeom prst="roundRect">
            <a:avLst>
              <a:gd name="adj" fmla="val 23691"/>
            </a:avLst>
          </a:prstGeom>
          <a:solidFill>
            <a:srgbClr val="282C34"/>
          </a:solidFill>
          <a:ln/>
        </p:spPr>
      </p:sp>
      <p:sp>
        <p:nvSpPr>
          <p:cNvPr id="11" name="Shape 8"/>
          <p:cNvSpPr/>
          <p:nvPr/>
        </p:nvSpPr>
        <p:spPr>
          <a:xfrm>
            <a:off x="6286500" y="2866644"/>
            <a:ext cx="15678302" cy="1228954"/>
          </a:xfrm>
          <a:prstGeom prst="roundRect">
            <a:avLst>
              <a:gd name="adj" fmla="val 2884"/>
            </a:avLst>
          </a:prstGeom>
          <a:solidFill>
            <a:srgbClr val="282C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0" y="2057400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481974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882482" y="20574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83089" y="20574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43209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203936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3604443" y="20574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805050" y="20574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29910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761427" y="29910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29910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962742" y="29910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2483389" y="29910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3203936" y="29910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339059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200900" y="339059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00900" y="3590849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61934" y="3590849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561527" y="3590849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682582" y="3590849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281367" y="37911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41487" y="37911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641994" y="37911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762134" y="37911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2163349" y="37911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3124383" y="37911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3523976" y="37911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5445130" y="37911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6406165" y="37911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6805758" y="37911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8406872" y="37911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9366992" y="3791102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20727619" y="37911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641287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040880" y="20574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7681874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8321954" y="20574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802014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842602" y="2057400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723169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363249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1763756" y="20574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[,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2403836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3043916" y="20574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3524890" y="20574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4564563" y="2057400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5445130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6720840" y="29910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monthly_sales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921447" y="29910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9282074" y="29910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9922154" y="29910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order_date)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11122762" y="29910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1843309" y="2991002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2643409" y="29910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7121347" y="339059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6400800" y="3390595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revenue,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7441387" y="3590849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(revenue)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8481974" y="3590849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9201607" y="3590849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month)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6400800" y="3590849"/>
            <a:ext cx="44247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prev_month,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revenue -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520940" y="379110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(revenue)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8561527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9282074" y="37911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month)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9922154" y="37911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change,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10883189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11203229" y="379110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(revenue -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2403836" y="379110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(revenue)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13444423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14164970" y="379110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month)) /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15365578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15685618" y="3791102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(revenue)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16726205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17445838" y="37911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month),</a:t>
            </a:r>
            <a:endParaRPr lang="en-US" sz="1000" dirty="0"/>
          </a:p>
        </p:txBody>
      </p:sp>
      <p:sp>
        <p:nvSpPr>
          <p:cNvPr id="85" name="Text 82"/>
          <p:cNvSpPr txBox="1"/>
          <p:nvPr/>
        </p:nvSpPr>
        <p:spPr>
          <a:xfrm>
            <a:off x="18086832" y="3791102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18326405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18566892" y="3791102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pct_change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19687032" y="379110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monthly_sales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21367699" y="37911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month;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6720840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11443716" y="20574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7200900" y="20574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endParaRPr lang="en-US" sz="1000" dirty="0"/>
          </a:p>
        </p:txBody>
      </p:sp>
      <p:sp>
        <p:nvSpPr>
          <p:cNvPr id="93" name="Text 90"/>
          <p:cNvSpPr txBox="1"/>
          <p:nvPr/>
        </p:nvSpPr>
        <p:spPr>
          <a:xfrm>
            <a:off x="11923776" y="20574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endParaRPr lang="en-US" sz="1000" dirty="0"/>
          </a:p>
        </p:txBody>
      </p:sp>
      <p:sp>
        <p:nvSpPr>
          <p:cNvPr id="94" name="Text 91"/>
          <p:cNvSpPr txBox="1"/>
          <p:nvPr/>
        </p:nvSpPr>
        <p:spPr>
          <a:xfrm>
            <a:off x="7040880" y="339059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10962742" y="37911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18006365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18246852" y="3791102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98" name="Text 95"/>
          <p:cNvSpPr txBox="1"/>
          <p:nvPr/>
        </p:nvSpPr>
        <p:spPr>
          <a:xfrm>
            <a:off x="7761427" y="20574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12484303" y="20574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9361627" y="2991002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'month'</a:t>
            </a:r>
            <a:endParaRPr lang="en-US" sz="1000" dirty="0"/>
          </a:p>
        </p:txBody>
      </p:sp>
      <p:sp>
        <p:nvSpPr>
          <p:cNvPr id="101" name="Text 98"/>
          <p:cNvSpPr txBox="1"/>
          <p:nvPr/>
        </p:nvSpPr>
        <p:spPr>
          <a:xfrm>
            <a:off x="8481974" y="2991002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DATE_TRUNC</a:t>
            </a:r>
            <a:endParaRPr lang="en-US" sz="1000" dirty="0"/>
          </a:p>
        </p:txBody>
      </p:sp>
      <p:sp>
        <p:nvSpPr>
          <p:cNvPr id="102" name="Text 99"/>
          <p:cNvSpPr txBox="1"/>
          <p:nvPr/>
        </p:nvSpPr>
        <p:spPr>
          <a:xfrm>
            <a:off x="11602822" y="2991002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103" name="Text 100"/>
          <p:cNvSpPr txBox="1"/>
          <p:nvPr/>
        </p:nvSpPr>
        <p:spPr>
          <a:xfrm>
            <a:off x="10482682" y="3791102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1000" dirty="0"/>
          </a:p>
        </p:txBody>
      </p:sp>
      <p:sp>
        <p:nvSpPr>
          <p:cNvPr id="104" name="Text 101"/>
          <p:cNvSpPr txBox="1"/>
          <p:nvPr/>
        </p:nvSpPr>
        <p:spPr>
          <a:xfrm>
            <a:off x="14884603" y="3791102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6400800" y="3191256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6286500" y="4581144"/>
            <a:ext cx="6219749" cy="352044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2500762" y="4581144"/>
            <a:ext cx="9467698" cy="352044"/>
          </a:xfrm>
          <a:prstGeom prst="rect">
            <a:avLst/>
          </a:prstGeom>
          <a:solidFill>
            <a:srgbClr val="F1F5FA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6362395" y="4667098"/>
            <a:ext cx="7287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12577572" y="4667098"/>
            <a:ext cx="700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6286500" y="5248656"/>
            <a:ext cx="6219749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1" name="Shape 108"/>
          <p:cNvSpPr/>
          <p:nvPr/>
        </p:nvSpPr>
        <p:spPr>
          <a:xfrm>
            <a:off x="12500762" y="5248656"/>
            <a:ext cx="9467698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2" name="Shape 109"/>
          <p:cNvSpPr/>
          <p:nvPr/>
        </p:nvSpPr>
        <p:spPr>
          <a:xfrm>
            <a:off x="6286500" y="5567782"/>
            <a:ext cx="6219749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3" name="Shape 110"/>
          <p:cNvSpPr/>
          <p:nvPr/>
        </p:nvSpPr>
        <p:spPr>
          <a:xfrm>
            <a:off x="12500762" y="5567782"/>
            <a:ext cx="9467698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4" name="Shape 111"/>
          <p:cNvSpPr/>
          <p:nvPr/>
        </p:nvSpPr>
        <p:spPr>
          <a:xfrm>
            <a:off x="6286500" y="5891479"/>
            <a:ext cx="6219749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2500762" y="5891479"/>
            <a:ext cx="9467698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6" name="Shape 113"/>
          <p:cNvSpPr/>
          <p:nvPr/>
        </p:nvSpPr>
        <p:spPr>
          <a:xfrm>
            <a:off x="6286500" y="6215177"/>
            <a:ext cx="6219749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7" name="Shape 114"/>
          <p:cNvSpPr/>
          <p:nvPr/>
        </p:nvSpPr>
        <p:spPr>
          <a:xfrm>
            <a:off x="12500762" y="6215177"/>
            <a:ext cx="9467698" cy="9144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6362395" y="5000854"/>
            <a:ext cx="13770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Detecting changes</a:t>
            </a:r>
            <a:endParaRPr lang="en-US" sz="1000" dirty="0"/>
          </a:p>
        </p:txBody>
      </p:sp>
      <p:sp>
        <p:nvSpPr>
          <p:cNvPr id="119" name="Text 116"/>
          <p:cNvSpPr txBox="1"/>
          <p:nvPr/>
        </p:nvSpPr>
        <p:spPr>
          <a:xfrm>
            <a:off x="12577572" y="5000854"/>
            <a:ext cx="2367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changes, price movements</a:t>
            </a:r>
            <a:endParaRPr lang="en-US" sz="1000" dirty="0"/>
          </a:p>
        </p:txBody>
      </p:sp>
      <p:sp>
        <p:nvSpPr>
          <p:cNvPr id="120" name="Text 117"/>
          <p:cNvSpPr txBox="1"/>
          <p:nvPr/>
        </p:nvSpPr>
        <p:spPr>
          <a:xfrm>
            <a:off x="6362395" y="5324551"/>
            <a:ext cx="15389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between events</a:t>
            </a:r>
            <a:endParaRPr lang="en-US" sz="1000" dirty="0"/>
          </a:p>
        </p:txBody>
      </p:sp>
      <p:sp>
        <p:nvSpPr>
          <p:cNvPr id="121" name="Text 118"/>
          <p:cNvSpPr txBox="1"/>
          <p:nvPr/>
        </p:nvSpPr>
        <p:spPr>
          <a:xfrm>
            <a:off x="12577572" y="5324551"/>
            <a:ext cx="14721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since last order</a:t>
            </a:r>
            <a:endParaRPr lang="en-US" sz="1000" dirty="0"/>
          </a:p>
        </p:txBody>
      </p:sp>
      <p:sp>
        <p:nvSpPr>
          <p:cNvPr id="122" name="Text 119"/>
          <p:cNvSpPr txBox="1"/>
          <p:nvPr/>
        </p:nvSpPr>
        <p:spPr>
          <a:xfrm>
            <a:off x="6362395" y="5648249"/>
            <a:ext cx="10533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detection</a:t>
            </a:r>
            <a:endParaRPr lang="en-US" sz="1000" dirty="0"/>
          </a:p>
        </p:txBody>
      </p:sp>
      <p:sp>
        <p:nvSpPr>
          <p:cNvPr id="123" name="Text 120"/>
          <p:cNvSpPr txBox="1"/>
          <p:nvPr/>
        </p:nvSpPr>
        <p:spPr>
          <a:xfrm>
            <a:off x="12577572" y="5648249"/>
            <a:ext cx="2110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dates, inventory levels</a:t>
            </a:r>
            <a:endParaRPr lang="en-US" sz="1000" dirty="0"/>
          </a:p>
        </p:txBody>
      </p:sp>
      <p:sp>
        <p:nvSpPr>
          <p:cNvPr id="124" name="Text 121"/>
          <p:cNvSpPr txBox="1"/>
          <p:nvPr/>
        </p:nvSpPr>
        <p:spPr>
          <a:xfrm>
            <a:off x="6362395" y="5971946"/>
            <a:ext cx="12335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averages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12577572" y="5971946"/>
            <a:ext cx="1929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Trailing metrics, smoothing</a:t>
            </a:r>
            <a:endParaRPr lang="en-US" sz="1000" dirty="0"/>
          </a:p>
        </p:txBody>
      </p:sp>
      <p:sp>
        <p:nvSpPr>
          <p:cNvPr id="126" name="Text 123"/>
          <p:cNvSpPr txBox="1"/>
          <p:nvPr/>
        </p:nvSpPr>
        <p:spPr>
          <a:xfrm>
            <a:off x="6515100" y="6734556"/>
            <a:ext cx="5315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handling: First/last rows return NULL; use DEFAULT parameter</a:t>
            </a:r>
            <a:endParaRPr lang="en-US" sz="1200" dirty="0"/>
          </a:p>
        </p:txBody>
      </p:sp>
      <p:sp>
        <p:nvSpPr>
          <p:cNvPr id="127" name="Text 124"/>
          <p:cNvSpPr txBox="1"/>
          <p:nvPr/>
        </p:nvSpPr>
        <p:spPr>
          <a:xfrm>
            <a:off x="6515100" y="7000646"/>
            <a:ext cx="4486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Ties in ORDER BY: Results may be unpredictable with ties</a:t>
            </a:r>
            <a:endParaRPr lang="en-US" sz="1200" dirty="0"/>
          </a:p>
        </p:txBody>
      </p:sp>
      <p:sp>
        <p:nvSpPr>
          <p:cNvPr id="128" name="Text 125"/>
          <p:cNvSpPr txBox="1"/>
          <p:nvPr/>
        </p:nvSpPr>
        <p:spPr>
          <a:xfrm>
            <a:off x="6515100" y="7267651"/>
            <a:ext cx="4114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periods: LAG/LEAD only access existing rows</a:t>
            </a:r>
            <a:endParaRPr lang="en-US" sz="1200" dirty="0"/>
          </a:p>
        </p:txBody>
      </p:sp>
      <p:sp>
        <p:nvSpPr>
          <p:cNvPr id="129" name="Text 126"/>
          <p:cNvSpPr txBox="1"/>
          <p:nvPr/>
        </p:nvSpPr>
        <p:spPr>
          <a:xfrm>
            <a:off x="6515100" y="7534656"/>
            <a:ext cx="6315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Performance: Window functions process after WHERE but before final ORDER BY</a:t>
            </a:r>
            <a:endParaRPr lang="en-US" sz="1200" dirty="0"/>
          </a:p>
        </p:txBody>
      </p:sp>
      <p:sp>
        <p:nvSpPr>
          <p:cNvPr id="130" name="Shape 127"/>
          <p:cNvSpPr/>
          <p:nvPr/>
        </p:nvSpPr>
        <p:spPr>
          <a:xfrm>
            <a:off x="0" y="8029346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71500" y="8143646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132" name="Text 129"/>
          <p:cNvSpPr txBox="1"/>
          <p:nvPr/>
        </p:nvSpPr>
        <p:spPr>
          <a:xfrm>
            <a:off x="10885932" y="8143646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62773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Combining CTEs &amp; Window Functions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286207" y="1914754"/>
            <a:ext cx="5715000" cy="4762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86500" y="1295705"/>
            <a:ext cx="31290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Pattern: Stage → Window → Filter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86500" y="2695651"/>
            <a:ext cx="41961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Rolling 7-day Revenue with Ranking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86500" y="4629607"/>
            <a:ext cx="15480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Tips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86500" y="6467551"/>
            <a:ext cx="17199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Exercises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86500" y="1628546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Powerful pattern for complex analysis: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15100" y="1857146"/>
            <a:ext cx="3048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data with CTEs (clean, filter, join)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15100" y="2085746"/>
            <a:ext cx="2924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window functions for analytics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5100" y="2314346"/>
            <a:ext cx="3448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results with QUALIFY or outer WHERE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15100" y="6801307"/>
            <a:ext cx="3829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 example for category-level rolling revenue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15100" y="7029907"/>
            <a:ext cx="4677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customers with consistently increasing monthly spend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15100" y="7258507"/>
            <a:ext cx="400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3 products per category with price comparison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6500" y="3029407"/>
            <a:ext cx="10477195" cy="1429207"/>
          </a:xfrm>
          <a:prstGeom prst="roundRect">
            <a:avLst>
              <a:gd name="adj" fmla="val 2133"/>
            </a:avLst>
          </a:prstGeom>
          <a:solidFill>
            <a:srgbClr val="282C3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0" y="31528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121347" y="31528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31528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162642" y="31528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363249" y="31528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763756" y="31528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355244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720840" y="39529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61327" y="39529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282074" y="39529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682582" y="39529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523269" y="39529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2243816" y="3952951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BETWEEN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3284403" y="3952951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PRECEDING AND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4324076" y="39529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ROW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5284196" y="39529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5925190" y="3952951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481267" y="41532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601407" y="41532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001914" y="41532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122054" y="41532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522562" y="41532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763049" y="41532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403129" y="4153205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720840" y="3152851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281367" y="31528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841894" y="3152851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order_date::date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0322662" y="3152851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d,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723169" y="3152851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(amount)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1523269" y="3152851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0" y="3552444"/>
            <a:ext cx="106253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6880860" y="3952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7441387" y="3952951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customer_id, d,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882482" y="3952951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(rev)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9602114" y="3952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642702" y="3952951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2163349" y="3952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3203936" y="3952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5204643" y="3952951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5445130" y="3952951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rev_7d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400800" y="3952951"/>
            <a:ext cx="103491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6961327" y="41532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7441387" y="41532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921447" y="41532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8641994" y="41532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rev_7d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9442094" y="41532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9682582" y="4153205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0083089" y="41532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0962742" y="41532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&lt;= 10;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10482682" y="3152851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8641994" y="3952951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7121347" y="4153205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6400800" y="33531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11603736" y="4153205"/>
            <a:ext cx="3148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Top 10 customers by rolling revenue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6286500" y="4962449"/>
            <a:ext cx="10477195" cy="1333195"/>
          </a:xfrm>
          <a:prstGeom prst="rect">
            <a:avLst/>
          </a:prstGeom>
          <a:solidFill>
            <a:srgbClr val="E6EFFC"/>
          </a:solidFill>
          <a:ln/>
        </p:spPr>
      </p:sp>
      <p:sp>
        <p:nvSpPr>
          <p:cNvPr id="72" name="Shape 69"/>
          <p:cNvSpPr/>
          <p:nvPr/>
        </p:nvSpPr>
        <p:spPr>
          <a:xfrm>
            <a:off x="6286500" y="4962449"/>
            <a:ext cx="38405" cy="13331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6648602" y="5076749"/>
            <a:ext cx="4114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Materialize steps temporarily: CREATE TEMP TABLE...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6648602" y="5305349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row counts at each step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6648602" y="5533949"/>
            <a:ext cx="2981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window functions separately first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6648602" y="5762549"/>
            <a:ext cx="3419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for NULLs in partition/order columns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6648602" y="5991149"/>
            <a:ext cx="2905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Inspect Query Profile for bottlenecks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0" y="7753198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571500" y="7867498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10885932" y="7867498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85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71500" y="228600"/>
            <a:ext cx="66394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&amp; Efficiency Best Practices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1500" y="1028700"/>
            <a:ext cx="3581705" cy="30577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028700"/>
            <a:ext cx="38405" cy="3057754"/>
          </a:xfrm>
          <a:prstGeom prst="rect">
            <a:avLst/>
          </a:prstGeom>
          <a:solidFill>
            <a:srgbClr val="0747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1172" r="-21172" t="0" b="0"/>
          <a:stretch/>
        </p:blipFill>
        <p:spPr>
          <a:xfrm>
            <a:off x="752551" y="1209751"/>
            <a:ext cx="190195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04995" y="1028700"/>
            <a:ext cx="3581705" cy="305775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304995" y="1028700"/>
            <a:ext cx="38405" cy="3057754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9" name="Shape 6"/>
          <p:cNvSpPr/>
          <p:nvPr/>
        </p:nvSpPr>
        <p:spPr>
          <a:xfrm>
            <a:off x="8039405" y="1028700"/>
            <a:ext cx="3581705" cy="3715207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8039405" y="1028700"/>
            <a:ext cx="38405" cy="3715207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42746" y="117134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 Usage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81151" y="1514246"/>
            <a:ext cx="3143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CTEs are inlined by default in Snowflake (not materialized)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81151" y="1971446"/>
            <a:ext cx="30961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 TEMP tables for large result sets reused across multiple statements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81151" y="2428646"/>
            <a:ext cx="28291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CTEs small and focused; avoid deep nesting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81151" y="2885846"/>
            <a:ext cx="23628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clear, descriptive naming conventions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2551" y="3419856"/>
            <a:ext cx="3258007" cy="428854"/>
          </a:xfrm>
          <a:prstGeom prst="roundRect">
            <a:avLst>
              <a:gd name="adj" fmla="val 23691"/>
            </a:avLst>
          </a:prstGeom>
          <a:solidFill>
            <a:srgbClr val="282C3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6851" y="3543300"/>
            <a:ext cx="36246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Prefer this approach for reusable results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388206" y="35433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68266" y="3543300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588813" y="3543300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949440" y="35433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109460" y="35433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669987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790127" y="3543300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988406" y="35433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large_result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35433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990027" y="354330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huge_table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3543300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complex_condition;</a:t>
            </a:r>
            <a:endParaRPr lang="en-US" sz="10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rcRect l="-21172" r="-21172" t="0" b="0"/>
          <a:stretch/>
        </p:blipFill>
        <p:spPr>
          <a:xfrm>
            <a:off x="4486046" y="1209751"/>
            <a:ext cx="190195" cy="15270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677156" y="1171346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Optimization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8410651" y="1171346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Specifics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4714646" y="1514246"/>
            <a:ext cx="2724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early in the processing chain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449056" y="1514246"/>
            <a:ext cx="27724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Right-size warehouses for different workloads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449056" y="1971446"/>
            <a:ext cx="23628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up for complex window functions; suspend when idle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8449056" y="2428646"/>
            <a:ext cx="28291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result caching (30-minute cache by default)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8449056" y="2885846"/>
            <a:ext cx="29910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clustering keys on large tables for partition pruning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8449056" y="3343046"/>
            <a:ext cx="26673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 automatic clustering for frequently filtered tables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486046" y="3419856"/>
            <a:ext cx="3258007" cy="428854"/>
          </a:xfrm>
          <a:prstGeom prst="roundRect">
            <a:avLst>
              <a:gd name="adj" fmla="val 23691"/>
            </a:avLst>
          </a:prstGeom>
          <a:solidFill>
            <a:srgbClr val="282C34"/>
          </a:solidFill>
          <a:ln/>
        </p:spPr>
      </p:sp>
      <p:sp>
        <p:nvSpPr>
          <p:cNvPr id="39" name="Shape 35"/>
          <p:cNvSpPr/>
          <p:nvPr/>
        </p:nvSpPr>
        <p:spPr>
          <a:xfrm>
            <a:off x="8220456" y="3877056"/>
            <a:ext cx="3258007" cy="629107"/>
          </a:xfrm>
          <a:prstGeom prst="roundRect">
            <a:avLst>
              <a:gd name="adj" fmla="val 11011"/>
            </a:avLst>
          </a:prstGeom>
          <a:solidFill>
            <a:srgbClr val="282C34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600346" y="3543300"/>
            <a:ext cx="3462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Filter on window functions with QUALIFY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8334756" y="4000500"/>
            <a:ext cx="2824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Check query performance metrics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4284757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15644470" y="35433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1055096" y="40005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1615623" y="42007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1935663" y="4200754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14604797" y="3543300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product_sales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6204997" y="3543300"/>
            <a:ext cx="6620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&lt;=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6845077" y="35433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8334756" y="4000500"/>
            <a:ext cx="50630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query_id, query_text,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execution_time, partitions_scanned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12336170" y="42007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14976958" y="4200754"/>
            <a:ext cx="3483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12415723" y="4200754"/>
            <a:ext cx="2662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information_schema.query_history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16765524" y="35433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rcRect l="-21172" r="-21172" t="0" b="0"/>
          <a:stretch/>
        </p:blipFill>
        <p:spPr>
          <a:xfrm>
            <a:off x="8220456" y="1209751"/>
            <a:ext cx="190195" cy="152705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7961681" y="3543300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10362895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10762488" y="3543300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12363602" y="35433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60" name="Text 55"/>
          <p:cNvSpPr txBox="1"/>
          <p:nvPr/>
        </p:nvSpPr>
        <p:spPr>
          <a:xfrm>
            <a:off x="13404190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61" name="Text 56"/>
          <p:cNvSpPr txBox="1"/>
          <p:nvPr/>
        </p:nvSpPr>
        <p:spPr>
          <a:xfrm>
            <a:off x="13803782" y="35433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5216530" y="4200754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16657625" y="4200754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16977665" y="4200754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8441741" y="3543300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product_id, sales,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10202875" y="35433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10682935" y="35433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11723522" y="3543300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13003682" y="3543300"/>
            <a:ext cx="5102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13724230" y="3543300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13963802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15856610" y="4200754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7538192" y="4200754"/>
            <a:ext cx="1865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3E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74" name="Text 69"/>
          <p:cNvSpPr txBox="1"/>
          <p:nvPr/>
        </p:nvSpPr>
        <p:spPr>
          <a:xfrm>
            <a:off x="4714646" y="1742846"/>
            <a:ext cx="28483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only needed columns (avoid SELECT *)</a:t>
            </a:r>
            <a:endParaRPr lang="en-US" sz="1200" dirty="0"/>
          </a:p>
        </p:txBody>
      </p:sp>
      <p:sp>
        <p:nvSpPr>
          <p:cNvPr id="75" name="Text 70"/>
          <p:cNvSpPr txBox="1"/>
          <p:nvPr/>
        </p:nvSpPr>
        <p:spPr>
          <a:xfrm>
            <a:off x="4714646" y="2200046"/>
            <a:ext cx="3029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tie-breakers in ORDER BY clauses</a:t>
            </a:r>
            <a:endParaRPr lang="en-US" sz="1200" dirty="0"/>
          </a:p>
        </p:txBody>
      </p:sp>
      <p:sp>
        <p:nvSpPr>
          <p:cNvPr id="76" name="Text 71"/>
          <p:cNvSpPr txBox="1"/>
          <p:nvPr/>
        </p:nvSpPr>
        <p:spPr>
          <a:xfrm>
            <a:off x="4714646" y="2428646"/>
            <a:ext cx="28959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QUALIFY for filtering on window results</a:t>
            </a:r>
            <a:endParaRPr lang="en-US" sz="1200" dirty="0"/>
          </a:p>
        </p:txBody>
      </p:sp>
      <p:sp>
        <p:nvSpPr>
          <p:cNvPr id="77" name="Text 72"/>
          <p:cNvSpPr txBox="1"/>
          <p:nvPr/>
        </p:nvSpPr>
        <p:spPr>
          <a:xfrm>
            <a:off x="4714646" y="2885846"/>
            <a:ext cx="28200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window frames (ROWS vs RANGE)</a:t>
            </a:r>
            <a:endParaRPr lang="en-US" sz="1200" dirty="0"/>
          </a:p>
        </p:txBody>
      </p:sp>
      <p:sp>
        <p:nvSpPr>
          <p:cNvPr id="78" name="Text 73"/>
          <p:cNvSpPr txBox="1"/>
          <p:nvPr/>
        </p:nvSpPr>
        <p:spPr>
          <a:xfrm>
            <a:off x="9881921" y="35433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000" dirty="0"/>
          </a:p>
        </p:txBody>
      </p:sp>
      <p:sp>
        <p:nvSpPr>
          <p:cNvPr id="79" name="Text 74"/>
          <p:cNvSpPr txBox="1"/>
          <p:nvPr/>
        </p:nvSpPr>
        <p:spPr>
          <a:xfrm>
            <a:off x="17377258" y="4200754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80" name="Shape 75"/>
          <p:cNvSpPr/>
          <p:nvPr/>
        </p:nvSpPr>
        <p:spPr>
          <a:xfrm>
            <a:off x="571500" y="5038344"/>
            <a:ext cx="5447995" cy="22101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1" name="Shape 76"/>
          <p:cNvSpPr/>
          <p:nvPr/>
        </p:nvSpPr>
        <p:spPr>
          <a:xfrm>
            <a:off x="571500" y="5038344"/>
            <a:ext cx="38405" cy="2210105"/>
          </a:xfrm>
          <a:prstGeom prst="rect">
            <a:avLst/>
          </a:prstGeom>
          <a:solidFill>
            <a:srgbClr val="0747A6"/>
          </a:solidFill>
          <a:ln/>
        </p:spPr>
      </p:sp>
      <p:pic>
        <p:nvPicPr>
          <p:cNvPr id="82" name="Image 3" descr="preencoded.png">    </p:cNvPr>
          <p:cNvPicPr>
            <a:picLocks noChangeAspect="1"/>
          </p:cNvPicPr>
          <p:nvPr/>
        </p:nvPicPr>
        <p:blipFill>
          <a:blip r:embed="rId4"/>
          <a:srcRect l="-12275" r="-12275" t="0" b="0"/>
          <a:stretch/>
        </p:blipFill>
        <p:spPr>
          <a:xfrm>
            <a:off x="752551" y="5219395"/>
            <a:ext cx="190195" cy="152705"/>
          </a:xfrm>
          <a:prstGeom prst="rect">
            <a:avLst/>
          </a:prstGeom>
        </p:spPr>
      </p:pic>
      <p:sp>
        <p:nvSpPr>
          <p:cNvPr id="83" name="Shape 77"/>
          <p:cNvSpPr/>
          <p:nvPr/>
        </p:nvSpPr>
        <p:spPr>
          <a:xfrm>
            <a:off x="6172200" y="5038344"/>
            <a:ext cx="5447995" cy="221010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4" name="Shape 78"/>
          <p:cNvSpPr/>
          <p:nvPr/>
        </p:nvSpPr>
        <p:spPr>
          <a:xfrm>
            <a:off x="6172200" y="5038344"/>
            <a:ext cx="38405" cy="22101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85" name="Text 79"/>
          <p:cNvSpPr txBox="1"/>
          <p:nvPr/>
        </p:nvSpPr>
        <p:spPr>
          <a:xfrm>
            <a:off x="942746" y="5181905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Pitfalls</a:t>
            </a:r>
            <a:endParaRPr lang="en-US" sz="1200" dirty="0"/>
          </a:p>
        </p:txBody>
      </p:sp>
      <p:sp>
        <p:nvSpPr>
          <p:cNvPr id="86" name="Text 80"/>
          <p:cNvSpPr txBox="1"/>
          <p:nvPr/>
        </p:nvSpPr>
        <p:spPr>
          <a:xfrm>
            <a:off x="6543446" y="5181905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Coming in Day 4</a:t>
            </a:r>
            <a:endParaRPr lang="en-US" sz="1200" dirty="0"/>
          </a:p>
        </p:txBody>
      </p:sp>
      <p:sp>
        <p:nvSpPr>
          <p:cNvPr id="87" name="Text 81"/>
          <p:cNvSpPr txBox="1"/>
          <p:nvPr/>
        </p:nvSpPr>
        <p:spPr>
          <a:xfrm>
            <a:off x="981151" y="5524805"/>
            <a:ext cx="20199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Cartesian product due to missing join conditions</a:t>
            </a:r>
            <a:endParaRPr lang="en-US" sz="1200" dirty="0"/>
          </a:p>
        </p:txBody>
      </p:sp>
      <p:sp>
        <p:nvSpPr>
          <p:cNvPr id="88" name="Text 82"/>
          <p:cNvSpPr txBox="1"/>
          <p:nvPr/>
        </p:nvSpPr>
        <p:spPr>
          <a:xfrm>
            <a:off x="981151" y="5982005"/>
            <a:ext cx="22860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Improper window frame definitions causing incorrect calculations</a:t>
            </a:r>
            <a:endParaRPr lang="en-US" sz="1200" dirty="0"/>
          </a:p>
        </p:txBody>
      </p:sp>
      <p:sp>
        <p:nvSpPr>
          <p:cNvPr id="89" name="Text 83"/>
          <p:cNvSpPr txBox="1"/>
          <p:nvPr/>
        </p:nvSpPr>
        <p:spPr>
          <a:xfrm>
            <a:off x="981151" y="6667805"/>
            <a:ext cx="21534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Ignoring NULL handling in window functions</a:t>
            </a:r>
            <a:endParaRPr lang="en-US" sz="1200" dirty="0"/>
          </a:p>
        </p:txBody>
      </p:sp>
      <p:sp>
        <p:nvSpPr>
          <p:cNvPr id="90" name="Text 84"/>
          <p:cNvSpPr txBox="1"/>
          <p:nvPr/>
        </p:nvSpPr>
        <p:spPr>
          <a:xfrm>
            <a:off x="3581705" y="5524805"/>
            <a:ext cx="21342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Overusing recursive CTEs when iterative approaches are better</a:t>
            </a:r>
            <a:endParaRPr lang="en-US" sz="1200" dirty="0"/>
          </a:p>
        </p:txBody>
      </p:sp>
      <p:sp>
        <p:nvSpPr>
          <p:cNvPr id="91" name="Text 85"/>
          <p:cNvSpPr txBox="1"/>
          <p:nvPr/>
        </p:nvSpPr>
        <p:spPr>
          <a:xfrm>
            <a:off x="3581705" y="6210605"/>
            <a:ext cx="2190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Unnecessary duplication of large CTEs</a:t>
            </a:r>
            <a:endParaRPr lang="en-US" sz="1200" dirty="0"/>
          </a:p>
        </p:txBody>
      </p:sp>
      <p:sp>
        <p:nvSpPr>
          <p:cNvPr id="92" name="Text 86"/>
          <p:cNvSpPr txBox="1"/>
          <p:nvPr/>
        </p:nvSpPr>
        <p:spPr>
          <a:xfrm>
            <a:off x="3581705" y="6667805"/>
            <a:ext cx="20674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Forgetting tie-breakers in ranking functions</a:t>
            </a:r>
            <a:endParaRPr lang="en-US" sz="1200" dirty="0"/>
          </a:p>
        </p:txBody>
      </p:sp>
      <p:pic>
        <p:nvPicPr>
          <p:cNvPr id="93" name="Image 4" descr="preencoded.png">    </p:cNvPr>
          <p:cNvPicPr>
            <a:picLocks noChangeAspect="1"/>
          </p:cNvPicPr>
          <p:nvPr/>
        </p:nvPicPr>
        <p:blipFill>
          <a:blip r:embed="rId5"/>
          <a:srcRect l="-21172" r="-21172" t="0" b="0"/>
          <a:stretch/>
        </p:blipFill>
        <p:spPr>
          <a:xfrm>
            <a:off x="6353251" y="5219395"/>
            <a:ext cx="190195" cy="152705"/>
          </a:xfrm>
          <a:prstGeom prst="rect">
            <a:avLst/>
          </a:prstGeom>
        </p:spPr>
      </p:pic>
      <p:sp>
        <p:nvSpPr>
          <p:cNvPr id="94" name="Text 87"/>
          <p:cNvSpPr txBox="1"/>
          <p:nvPr/>
        </p:nvSpPr>
        <p:spPr>
          <a:xfrm>
            <a:off x="6581851" y="5524805"/>
            <a:ext cx="3534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window frames (ROWS vs RANGE)</a:t>
            </a:r>
            <a:endParaRPr lang="en-US" sz="1200" dirty="0"/>
          </a:p>
        </p:txBody>
      </p:sp>
      <p:sp>
        <p:nvSpPr>
          <p:cNvPr id="95" name="Text 88"/>
          <p:cNvSpPr txBox="1"/>
          <p:nvPr/>
        </p:nvSpPr>
        <p:spPr>
          <a:xfrm>
            <a:off x="6581851" y="5753405"/>
            <a:ext cx="2753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Percentile and statistical functions</a:t>
            </a:r>
            <a:endParaRPr lang="en-US" sz="1200" dirty="0"/>
          </a:p>
        </p:txBody>
      </p:sp>
      <p:sp>
        <p:nvSpPr>
          <p:cNvPr id="96" name="Text 89"/>
          <p:cNvSpPr txBox="1"/>
          <p:nvPr/>
        </p:nvSpPr>
        <p:spPr>
          <a:xfrm>
            <a:off x="6581851" y="5982005"/>
            <a:ext cx="4191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pattern matching with MATCH_RECOGNIZE</a:t>
            </a:r>
            <a:endParaRPr lang="en-US" sz="1200" dirty="0"/>
          </a:p>
        </p:txBody>
      </p:sp>
      <p:sp>
        <p:nvSpPr>
          <p:cNvPr id="97" name="Text 90"/>
          <p:cNvSpPr txBox="1"/>
          <p:nvPr/>
        </p:nvSpPr>
        <p:spPr>
          <a:xfrm>
            <a:off x="6581851" y="6210605"/>
            <a:ext cx="34957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operations (UNION, INTERSECT, EXCEPT)</a:t>
            </a:r>
            <a:endParaRPr lang="en-US" sz="1200" dirty="0"/>
          </a:p>
        </p:txBody>
      </p:sp>
      <p:sp>
        <p:nvSpPr>
          <p:cNvPr id="98" name="Text 91"/>
          <p:cNvSpPr txBox="1"/>
          <p:nvPr/>
        </p:nvSpPr>
        <p:spPr>
          <a:xfrm>
            <a:off x="6581851" y="6439205"/>
            <a:ext cx="3020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Optimizing queries at enterprise scale</a:t>
            </a:r>
            <a:endParaRPr lang="en-US" sz="1200" dirty="0"/>
          </a:p>
        </p:txBody>
      </p:sp>
      <p:sp>
        <p:nvSpPr>
          <p:cNvPr id="99" name="Shape 92"/>
          <p:cNvSpPr/>
          <p:nvPr/>
        </p:nvSpPr>
        <p:spPr>
          <a:xfrm>
            <a:off x="0" y="7582205"/>
            <a:ext cx="12191695" cy="41879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0" name="Text 93"/>
          <p:cNvSpPr txBox="1"/>
          <p:nvPr/>
        </p:nvSpPr>
        <p:spPr>
          <a:xfrm>
            <a:off x="571500" y="7696505"/>
            <a:ext cx="2400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&amp; Snowflake Foundations</a:t>
            </a:r>
            <a:endParaRPr lang="en-US" sz="1200" dirty="0"/>
          </a:p>
        </p:txBody>
      </p:sp>
      <p:sp>
        <p:nvSpPr>
          <p:cNvPr id="101" name="Text 94"/>
          <p:cNvSpPr txBox="1"/>
          <p:nvPr/>
        </p:nvSpPr>
        <p:spPr>
          <a:xfrm>
            <a:off x="10885932" y="7696505"/>
            <a:ext cx="857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of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2025-11-16T19:59:50Z</dcterms:created>
  <dcterms:modified xsi:type="dcterms:W3CDTF">2025-11-16T19:59:50Z</dcterms:modified>
</cp:coreProperties>
</file>